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 opening frame</a:t>
            </a:r>
          </a:p>
          <a:p>
            <a:r>
              <a:t>• Open with the one-line thesis: this is a study of how to teach a mid-size (14B) open model to solve a hard engineering task — iterative truss design — and the headline finding is that the BOTTLENECK was the training environment, not the model's reasoning or the RL math.</a:t>
            </a:r>
          </a:p>
          <a:p>
            <a:r>
              <a:t>• Anchor the audience on the single number that matters: 0% feasible after supervised warmstart → 68% feasible after the full framework. Everything else explains how and why.</a:t>
            </a:r>
          </a:p>
          <a:p>
            <a:r>
              <a:t>• Set scope: Qwen3-14B with LoRA, a multi-turn grammar-action policy, trained with GRPO under a potential-based reward. Mention every claim is backed by a logged audit trail.</a:t>
            </a:r>
          </a:p>
          <a:p>
            <a:r>
              <a:t>• Promise the structure: task → framework architecture → the two training stages → grounded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Executive summary</a:t>
            </a:r>
          </a:p>
          <a:p>
            <a:r>
              <a:t>• This slide is the whole talk compressed — use it to give the audience a map before any detail.</a:t>
            </a:r>
          </a:p>
          <a:p>
            <a:r>
              <a:t>• What we built: a clean two-stage pipeline (SFT then GRPO) wrapped around a multi-turn environment where the model edits the truss one grammar action at a time and a physics solver scores each edit.</a:t>
            </a:r>
          </a:p>
          <a:p>
            <a:r>
              <a:t>• What it achieved: 0%→68% held-out feasibility; and critically, a strong zero-shot reasoner inside the SAME loop solves 4/6 with no training — foreshadowing the punchline.</a:t>
            </a:r>
          </a:p>
          <a:p>
            <a:r>
              <a:t>• The one idea: don't frame the gains as bug fixes. The reasoning was always there; the wins came from designing the environment well — train/test protocol fidelity and a complete observation.</a:t>
            </a:r>
          </a:p>
          <a:p>
            <a:r>
              <a:t>• Right rail gives four numbers you'll return to: 0%, 68%, 4/6, and α=5 (the single reward hyperparameter).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Agenda</a:t>
            </a:r>
          </a:p>
          <a:p>
            <a:r>
              <a:t>• Four parts. Stress that the order is deliberate: the framework is presented as a designed system BEFORE any results, so the results read as validation rather than a debugging diary.</a:t>
            </a:r>
          </a:p>
          <a:p>
            <a:r>
              <a:t>• Part 1 frames the problem (an MDP) and shows the architecture on one diagram.</a:t>
            </a:r>
          </a:p>
          <a:p>
            <a:r>
              <a:t>• Parts 2–3 are the two training stages, each with its unique design decision (loss masking for SFT; rollout structure + reward for GRPO).</a:t>
            </a:r>
          </a:p>
          <a:p>
            <a:r>
              <a:t>• Part 4 is the evidence: the progression, training dynamics, ablations, and the experiment that reframes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Divider — Part 1</a:t>
            </a:r>
          </a:p>
          <a:p>
            <a:r>
              <a:t>• Transition: 'Before any results, here is the problem and the machine that solves it.'</a:t>
            </a:r>
          </a:p>
          <a:p>
            <a:r>
              <a:t>• Goal of this section: by the end the audience should be able to draw the architecture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The optimization task</a:t>
            </a:r>
          </a:p>
          <a:p>
            <a:r>
              <a:t>• Define the task concretely: take an infeasible pin-jointed truss and edit it until it satisfies all constraints. This is DesignBench's iterative truss-optimization benchmark (20 problems).</a:t>
            </a:r>
          </a:p>
          <a:p>
            <a:r>
              <a:t>• State = the full structure (joints, members, materials, pipe r/t cross-sections) plus the FEA verdict. Show the truss; point out member M4 (J6–J7) is the buckling-critical member under load P — we'll return to it.</a:t>
            </a:r>
          </a:p>
          <a:p>
            <a:r>
              <a:t>• Feasible means THREE constraints hold simultaneously: FOS_buckling ≥ 1.5 (usually the binding one), FOS_yielding ≥ 1.5, and mass ≤ limit. A design that fixes buckling but blows the mass budget is still a failure — this tension drives later results.</a:t>
            </a:r>
          </a:p>
          <a:p>
            <a:r>
              <a:t>• Action space: exactly one grammar edit per turn, e.g. SCALE_PARAM(4, r, 1.36). Six action types total. After each action the FEA solver re-scores — that is the environment.</a:t>
            </a:r>
          </a:p>
          <a:p>
            <a:r>
              <a:t>• Why one-edit-per-turn matters: it turns design into a sequential decision problem (an MDP), which is what makes RL the natural tool — set up Part 1's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Framework architecture</a:t>
            </a:r>
          </a:p>
          <a:p>
            <a:r>
              <a:t>• This is the slide the audience should remember. Walk it left to right: 5,000 DesignBench expert traces → SFT warmstart (format) → GRPO (policy) → a deployed 14B grammar-action agent.</a:t>
            </a:r>
          </a:p>
          <a:p>
            <a:r>
              <a:t>• Emphasize the division of labour: SFT teaches the model HOW to speak (format/grammar), GRPO teaches it WHAT to do (the policy). They are not redundant — covered in Parts 2 and 3.</a:t>
            </a:r>
          </a:p>
          <a:p>
            <a:r>
              <a:t>• The red chevron between SFT and GRPO marks where capability is actually acquired.</a:t>
            </a:r>
          </a:p>
          <a:p>
            <a:r>
              <a:t>• The navy band is the key design principle: ONE multi-turn FEA environment, used identically during GRPO rollouts and during evaluation. think → act → simulate → observe.</a:t>
            </a:r>
          </a:p>
          <a:p>
            <a:r>
              <a:t>• Foreshadow two environment-design choices that recur in results: (1) the loop is multi-turn at both train and test (protocol fidelity), and (2) the observation in 'observe' names the critical member. We do NOT call these 'fixes' — they are properties of a correct environment.</a:t>
            </a:r>
          </a:p>
          <a:p>
            <a:r>
              <a:t>• Code anchors for Q&amp;A: rollout loop multiturn_rollout.py:182–242; feedback string designbench_prompt.py:73–82.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The multi-turn environment</a:t>
            </a:r>
          </a:p>
          <a:p>
            <a:r>
              <a:t>• Walk the left column as one turn of the loop: state s_t (infeasible) → the model writes &lt;think&gt; then exactly one &lt;action&gt; → the FEA solver executes and re-scores → a [Simulation Result] turn returns the verdict, which becomes s_{t+1}. Loop up to 5 turns or until feasible.</a:t>
            </a:r>
          </a:p>
          <a:p>
            <a:r>
              <a:t>• Frame the two boxes on the right as DESIGN PRINCIPLES, not patches. Principle 1 — protocol fidelity: the model is trained with the same one-action-per-turn loop it runs at test time, so the learning signal targets the real behaviour. (Contrast briefly: an earlier single-turn protocol asked for the whole trajectory at once and the policy could not learn — but present this as 'why fidelity matters', not as a bug story.)</a:t>
            </a:r>
          </a:p>
          <a:p>
            <a:r>
              <a:t>• Principle 2 — complete observation: the solver knows which member is about to buckle; the observation must include it ('worst member(s): M4'). This is the single most consequential design choice for accuracy.</a:t>
            </a:r>
          </a:p>
          <a:p>
            <a:r>
              <a:t>• These two principles are exactly what the results section will quantify, so plant them firmly here.</a:t>
            </a:r>
          </a:p>
          <a:p>
            <a:r>
              <a:t>• Code anchors: max_turns=5 / multi_turn=true in grpo_mt_01b.yaml; feedback construction designbench_prompt.py:73–82.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A real trace (replaces the old 'what is a single turn' slide)</a:t>
            </a:r>
          </a:p>
          <a:p>
            <a:r>
              <a:t>• This is the slide the feedback explicitly asked for: an ACTUAL trajectory as a flowchart, not an abstract explanation of a conversation.</a:t>
            </a:r>
          </a:p>
          <a:p>
            <a:r>
              <a:t>• Read the top row left→right: start infeasible (FOS_b 0.44, worst member M4) → think (locate M4) → action SCALE_PARAM(4,r,1.36) → FEA returns 0.48, still M4 → next action grows member 7 → turns 3–6 keep growing the critical members → FEASIBLE at FOS_b 1.69 in 7 turns.</a:t>
            </a:r>
          </a:p>
          <a:p>
            <a:r>
              <a:t>• The 'what to notice' band is the takeaway: each turn the policy targets the member NAMED in the feedback. The competence is grounding, not raw cleverness.</a:t>
            </a:r>
          </a:p>
          <a:p>
            <a:r>
              <a:t>• The code block shows the real turn-0 generation so the audience sees genuine CoT + a single grammar action — concrete, not schematic.</a:t>
            </a:r>
          </a:p>
          <a:p>
            <a:r>
              <a:t>• Transition to Part 2: 'For any of this to work, the model first has to speak this format perfectly — that is what SFT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Divider — Part 2</a:t>
            </a:r>
          </a:p>
          <a:p>
            <a:r>
              <a:t>• Transition: the policy can only be learned if the model reliably emits the format. SFT is a lightweight warmstart for exactly that.</a:t>
            </a:r>
          </a:p>
          <a:p>
            <a:r>
              <a:t>• Key message to set up: SFT teaches FORMAT, not strategy. The unique design decision is selective loss masking.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SFT data transform + purpose</a:t>
            </a:r>
          </a:p>
          <a:p>
            <a:r>
              <a:t>• Explain the data first: 5,000 DesignBench expert traces (multi-turn, with &lt;think&gt; and step-level FEA feedback) at DesignBench/data/sft/train.jsonl.</a:t>
            </a:r>
          </a:p>
          <a:p>
            <a:r>
              <a:t>• The WarmstartReasoningTarget reformats each raw trace into the exact inference-time conversation: (1) merge the problem spec + initial-state analysis into one user turn; (2) remap every FEA system message to a user turn prefixed '[Simulation Result]'; (3) extract the grammar action from inside &lt;think&gt; into its own &lt;action&gt; tag. (warmstart_transform.py)</a:t>
            </a:r>
          </a:p>
          <a:p>
            <a:r>
              <a:t>• Why: training data must be token-for-token the shape the model will see at rollout. Same shape ⇒ the format learned transfers to deployment.</a:t>
            </a:r>
          </a:p>
          <a:p>
            <a:r>
              <a:t>• State the division of labour explicitly: SFT teaches format/grammar/turn-taking; it does NOT teach which member to fix or how much — that is the policy, learned by GRPO. Keep SFT lightweight (low lr) so RL retains plasticity.</a:t>
            </a:r>
          </a:p>
          <a:p>
            <a:r>
              <a:t>• This motivates the next slide: if SFT only supervises format, exactly which tokens get loss?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Selective loss masking — the SFT centerpiece</a:t>
            </a:r>
          </a:p>
          <a:p>
            <a:r>
              <a:t>• This answers the feedback's explicit ask: 'what token is masked, what is not.'</a:t>
            </a:r>
          </a:p>
          <a:p>
            <a:r>
              <a:t>• Show the token row: everything the model READS — the system prompt, the problem, the initial state, every [Simulation Result] — is masked to labels = −100 (grey, no gradient). Everything the model WRITES — &lt;think&gt;…&lt;/think&gt; and &lt;action&gt;…&lt;/action&gt; (and &lt;answer&gt; at the end) — is supervised with cross-entropy (green).</a:t>
            </a:r>
          </a:p>
          <a:p>
            <a:r>
              <a:t>• The principle in one line: 'supervise what the model must generate; mask what it only reads.' This is implemented in get_loss_mask via regex spans over &lt;think&gt;/&lt;action&gt;/&lt;answer&gt; (targets.py).</a:t>
            </a:r>
          </a:p>
          <a:p>
            <a:r>
              <a:t>• Why it matters: if you supervise the prompt/feedback (the naive full_sequence target, ~82% of tokens), the model overfits to reproducing the simulator's text and loses RL plasticity. Selective masking (~64%) keeps loss on the model's own tokens.</a:t>
            </a:r>
          </a:p>
          <a:p>
            <a:r>
              <a:t>• Mention the research hook: the supervision target is pluggable (data.target_fn); default gold_curriculum_warmstart tightens supervision to the final turn for a curriculum. No training-infra change to swap.</a:t>
            </a:r>
          </a:p>
          <a:p>
            <a:r>
              <a:t>• Note the ratios (64% vs 82%) are illustrative of the two targets from the loss-mask analysis figure.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SFT result — sets up GRPO</a:t>
            </a:r>
          </a:p>
          <a:p>
            <a:r>
              <a:t>• Three numbers from the warmstart eval: grammar success 1.00, feasibility 0%, mean FOS_buckling 0.41 (results/eval/sft_warmstart_mt25).</a:t>
            </a:r>
          </a:p>
          <a:p>
            <a:r>
              <a:t>• Reframe 0% as success: SFT's job was format, and grammar is perfect. The model can produce any valid action; it just lacks the policy for WHICH action. Don't let the audience read 0% as the framework failing.</a:t>
            </a:r>
          </a:p>
          <a:p>
            <a:r>
              <a:t>• This is the clean hand-off to GRPO: a reliable grammar gives RL a well-formed action space and a stable reference policy to regularize against (the KL anchor). Capacity is there; RL supplies direction.</a:t>
            </a:r>
          </a:p>
          <a:p>
            <a:r>
              <a:t>• Transition to Part 3: 'Now the interesting part — how GRPO turns perfect form into a working policy.'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Divider — Part 3</a:t>
            </a:r>
          </a:p>
          <a:p>
            <a:r>
              <a:t>• Transition: GRPO is where the policy is actually learned. Three design pieces: how rollouts are sampled (group + tree), and how they are scored (potential reward).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GRPO group rollout</a:t>
            </a:r>
          </a:p>
          <a:p>
            <a:r>
              <a:t>• Explain GRPO simply: for each problem, sample a GROUP of K=8 rollouts; the advantage of each is its reward minus the group mean, divided by the group std. No separate value network — the group is its own baseline.</a:t>
            </a:r>
          </a:p>
          <a:p>
            <a:r>
              <a:t>• Walk the diagram: one problem → 8 rollouts, each gets a scalar reward → advantage A=(r−μ)/σ → policy-gradient update, regularized by a KL term (β=0.04) back to the SFT warmstart.</a:t>
            </a:r>
          </a:p>
          <a:p>
            <a:r>
              <a:t>• Three reasons GRPO fits this setting: (1) no critic to train — cheaper and more stable for a 14B LLM; (2) ÷σ self-normalizes across problems whose FEA reward magnitudes differ a lot; (3) the KL anchor protects the grammar earned in Stage 1.</a:t>
            </a:r>
          </a:p>
          <a:p>
            <a:r>
              <a:t>• Config anchors (grpo_base.yaml / grpo_mt_01b.yaml): group_size=8, kl_coef=0.04, lr 5e-6, 100 steps. grpo_trainer.py:159 sets num_generations=group_size.</a:t>
            </a:r>
          </a:p>
          <a:p>
            <a:r>
              <a:t>• Next: a richer way to sample the group — tree expansion.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Tree-expanded / multi-branch rollout</a:t>
            </a:r>
          </a:p>
          <a:p>
            <a:r>
              <a:t>• This answers the feedback's 'multi-branch rollout' ask. Beyond the flat group of 8, GRPO can expand each state into a shallow action TREE.</a:t>
            </a:r>
          </a:p>
          <a:p>
            <a:r>
              <a:t>• Depth D=1, branching b=5: sample one candidate per action class (SCALE, ADD, MODIFY, REMOVE, MOVE) — stratified so the branches are genuinely different moves rather than near-duplicates.</a:t>
            </a:r>
          </a:p>
          <a:p>
            <a:r>
              <a:t>• Each branch is scored by the same potential Φ; the advantage of branch k is γΦ(s_H^k) minus the MEAN potential over its sibling branches — a tighter, lookahead baseline (grpo_trainer.py:278–342; posterior/tree_expansion.py).</a:t>
            </a:r>
          </a:p>
          <a:p>
            <a:r>
              <a:t>• Benefits: stratified coverage of the action space, lower-variance advantages, and bounded cost (~20 FEA calls/state, validated in verify_tree_expansion.py).</a:t>
            </a:r>
          </a:p>
          <a:p>
            <a:r>
              <a:t>• Be honest: the 68% champion has tree expansion OFF (use_tree_expansion=false). Present it as an available variance-reduction mechanism in the framework, not as the source of the headline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Potential-based reward</a:t>
            </a:r>
          </a:p>
          <a:p>
            <a:r>
              <a:t>• The framework deliberately avoids a 'reward zoo'. The champion uses ONE term: a potential-based per-step shaping reward r_env = γΦ(s′) − Φ(s).</a:t>
            </a:r>
          </a:p>
          <a:p>
            <a:r>
              <a:t>• The potential Φ(s) = log(m₀/m) − α·V(s): a mass-utility term minus α times a smooth violation score V (softplus deficits on buckling FOS, yielding FOS, and deflection). (potential.py:47–68; rewards.py:388–420.)</a:t>
            </a:r>
          </a:p>
          <a:p>
            <a:r>
              <a:t>• Two properties make it well-behaved: DENSE — every turn gets a gradient, no sparse terminal-only signal; and POLICY-INVARIANT — by Ng/Harada/Russell 1999, potential shaping telescopes to γᴴΦ(s_H) − Φ(s₀), so it cannot change which policy is optimal, only speed learning.</a:t>
            </a:r>
          </a:p>
          <a:p>
            <a:r>
              <a:t>• It is physics-grounded (computed from the FEA state) and has effectively ONE hyperparameter: α=5 (constraint price), γ=0.99. We'll show α is non-monotone in the ablations.</a:t>
            </a:r>
          </a:p>
          <a:p>
            <a:r>
              <a:t>• Config: reward_fn=composite with reward_weights.lagrangian_potential=1.0, cost_fn=null (grpo_mt_01b.yaml).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Engineering / systems</a:t>
            </a:r>
          </a:p>
          <a:p>
            <a:r>
              <a:t>• Set expectations: multi-turn RL is expensive because the cost is in the rollout loop (generation + FEA), not the loss. ~511 s/step on 8×H100, 4–6k tokens/rollout, ~14 h for 100 steps (under the 24 h wall).</a:t>
            </a:r>
          </a:p>
          <a:p>
            <a:r>
              <a:t>• The enabling trick: a turn-major BATCHED rollout. At each turn, all still-active rollouts are batched into one generate() call (left-padded, KV-cached, chunked by memory). Finished rollouts drop out so the batch shrinks. (multiturn_rollout.py:13–15, 58–117.)</a:t>
            </a:r>
          </a:p>
          <a:p>
            <a:r>
              <a:t>• Why vLLM is disabled here: vLLM emits a whole completion in one shot, but the multi-turn contract is stateful — each turn's prompt depends on the prior FEA reply — so per-turn HF generate() is required. vLLM still serves the single-turn path. (grpo_trainer.py:211–215.)</a:t>
            </a:r>
          </a:p>
          <a:p>
            <a:r>
              <a:t>• Frame the trade-off as principled: we give up generation throughput to keep train/test protocol fidelity — and fidelity is exactly what made the policy learnable.</a:t>
            </a:r>
          </a:p>
          <a:p>
            <a:r>
              <a:t>• This closes the framework half of the talk; next is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Divider — Part 4</a:t>
            </a:r>
          </a:p>
          <a:p>
            <a:r>
              <a:t>• Transition: with the framework defined, the results read as validation of the two environment-design principles from Part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The 0%→68% progression</a:t>
            </a:r>
          </a:p>
          <a:p>
            <a:r>
              <a:t>• This is the headline chart (real eval data, results/report/deck/eval_feas.png). Five configurations of ONE framework, GRPO and reward held fixed throughout.</a:t>
            </a:r>
          </a:p>
          <a:p>
            <a:r>
              <a:t>• Read the steps on the right as an ablation of environment design, NOT as a list of bug fixes: (1) making the rollout multi-turn unfreezes learning, 0%→12%; (2) adding the critical-member to the observation is the decisive lever, 12%→68%; (3) adding a HARD mass rule over-corrects, 68%→52%.</a:t>
            </a:r>
          </a:p>
          <a:p>
            <a:r>
              <a:t>• Hammer the structural point: the model, the optimizer, and the reward did not change between these bars. Only the environment did. That is the evidence for 'the bottleneck was the environment.'</a:t>
            </a:r>
          </a:p>
          <a:p>
            <a:r>
              <a:t>• The +grammar bar (4%) is a preview of the ablations slide — adding a grammar reward actually hurt.</a:t>
            </a:r>
          </a:p>
          <a:p>
            <a:r>
              <a:t>• Numbers are 25-problem evals (±~8%) except the champion, which has a 50-problem confirmation at 68%.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Training dynamics — KL</a:t>
            </a:r>
          </a:p>
          <a:p>
            <a:r>
              <a:t>• Explain why KL, not reward: r_env magnitude is problem-dependent and each batch samples different problems, so the reward curve (middle of the original fig) is too noisy to read step-to-step. KL from the reference policy is the clean 'is it moving?' signal.</a:t>
            </a:r>
          </a:p>
          <a:p>
            <a:r>
              <a:t>• Real data (kl_curves.png from logs/*/metrics.jsonl). Single-turn run is frozen at ~0.003 for all 200 steps — a flat policy. Multi-turn no-feedback is learnable but slow. The champion climbs to ~0.035 and crosses the 0.01 'is it learning?' bar by ~step 35.</a:t>
            </a:r>
          </a:p>
          <a:p>
            <a:r>
              <a:t>• ≈10× more movement once the observation is complete — the point is that better information yields a SHARPER gradient, not merely a higher endpoint.</a:t>
            </a:r>
          </a:p>
          <a:p>
            <a:r>
              <a:t>• The grammar-reward run spikes (clipped at top) — unstable; ties to the next slide's ablation.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Reward ablations</a:t>
            </a:r>
          </a:p>
          <a:p>
            <a:r>
              <a:t>• Methodology: change exactly one thing per run (clean ablations logged in docs/ablation_ledger.md).</a:t>
            </a:r>
          </a:p>
          <a:p>
            <a:r>
              <a:t>• α sweep (no feedback): feasibility is NON-monotone — 8% at α=2, 12% at α=5, 4% at α=10. This refutes the design-doc prediction that higher α is always better; α=10 over-weights the constraint and destabilizes the FOS landscape. Peak at α=5.</a:t>
            </a:r>
          </a:p>
          <a:p>
            <a:r>
              <a:t>• Adding a grammar-compliance reward did NOT recover format and slightly hurt feasibility — grammar drift is fragility-induced (tiny policy moves destroy the thin r=32 warmstart format), not something a reward can fix.</a:t>
            </a:r>
          </a:p>
          <a:p>
            <a:r>
              <a:t>• Adding an explicit 'mass exceeds limit, reduce material' rule made the policy over-conservative: it hugged FOS=1.5 and traded mass-overshoot fails for FOS-undershoot fails, 68%→52%.</a:t>
            </a:r>
          </a:p>
          <a:p>
            <a:r>
              <a:t>• Verdict: the clean single-term reward at α=5 is best. Combined with the progression slide, the message is consistent — the leverage was the environment, not reward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Held-out evaluation detail</a:t>
            </a:r>
          </a:p>
          <a:p>
            <a:r>
              <a:t>• Define the metrics precisely (eval_checkpoint.py:340–350): feasibility_rate = fraction of problems where all three constraints pass (is_feasible); grammar_success = fraction of turns whose action parses &amp; executes; mean FOS_buckling.</a:t>
            </a:r>
          </a:p>
          <a:p>
            <a:r>
              <a:t>• The grouped bars (real data) show the trade: warmstart has grammar 1.00 but FOS far below the line; training pushes FOS up while grammar drifts to ~0.45–0.67.</a:t>
            </a:r>
          </a:p>
          <a:p>
            <a:r>
              <a:t>• Table contrasts warmstart vs champion directly: 0%→68% feasibility, 1.00→0.67 grammar, 0.41→1.38–1.63 FOS.</a:t>
            </a:r>
          </a:p>
          <a:p>
            <a:r>
              <a:t>• Key nuance: the grammar–strength trade is a KNOB, not a law. ~33% of turns are wasted on grammar drift — that's recoverable headroom (KL-to-warmstart tuning), not a fundamental ceiling.</a:t>
            </a:r>
          </a:p>
          <a:p>
            <a:r>
              <a:t>• Caveat: 25-problem cells carry ±~8%; champion confirmed at 68% on a 50-problem eval.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The information bottleneck — the punchline</a:t>
            </a:r>
          </a:p>
          <a:p>
            <a:r>
              <a:t>• This is the intellectual climax. Run as a controlled experiment: take a strong 30B reasoner zero-shot in the same multi-turn loop. With the critical member named in the observation it solves 4/6; remove ONLY that field and it solves 0/6.</a:t>
            </a:r>
          </a:p>
          <a:p>
            <a:r>
              <a:t>• The only variable is one field in the observation. A frozen, untrained model swings from 0/6 to 4/6. That isolates the cause: the limit was an incomplete observation, not reasoning ability or the RL algorithm.</a:t>
            </a:r>
          </a:p>
          <a:p>
            <a:r>
              <a:t>• This is the justification for the talk's thesis and for framing the gains as environment design. RL's role is to amplify and stabilize this same competence into the trained 14B policy (68%).</a:t>
            </a:r>
          </a:p>
          <a:p>
            <a:r>
              <a:t>• Tree-search corollary: a short search over edits reaches FOS 2.12 — the action space is rich enough; the policy just needs the right signal.</a:t>
            </a:r>
          </a:p>
          <a:p>
            <a:r>
              <a:t>• Land the line: 'We didn't make the model smarter. We let it see what it needed to see.'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 solved trajectory</a:t>
            </a:r>
          </a:p>
          <a:p>
            <a:r>
              <a:t>• Concrete close to the results: the champion solving auto_problem_000 in 7 turns, FOS_buckling 0.44 → 1.69, crossing the 1.5 line monotonically (status_report §3).</a:t>
            </a:r>
          </a:p>
          <a:p>
            <a:r>
              <a:t>• Each step targets a critical member named by the feedback: step 0 grows M4, step 1 grows M7, and so on. No wasted edits on irrelevant members.</a:t>
            </a:r>
          </a:p>
          <a:p>
            <a:r>
              <a:t>• This is the behaviour the whole study was chasing: grounded reasoning that acts on the right member every turn.</a:t>
            </a:r>
          </a:p>
          <a:p>
            <a:r>
              <a:t>• Use it to transition from 'what works' to 'what still breaks' — 68% means ~32% still fail.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The remaining 32%</a:t>
            </a:r>
          </a:p>
          <a:p>
            <a:r>
              <a:t>• Be candid about the ceiling: the 'add missing information to the observation' lever produced 12%→68% but has saturated (the mass tweak regressed).</a:t>
            </a:r>
          </a:p>
          <a:p>
            <a:r>
              <a:t>• The remaining failures split three ways: (1) mass over-shoot on 3 problems — FOS fixed but mass exceeded; needs SOFT reward-side balancing, not a hard rule; (2) degenerate FEA on 4 — structurally broken or very heavy intermediate states; needs robust state handling; (3) grammar drift wastes ~33% of turns — the policy forgets the warmstart format; needs a format-protecting KL constraint.</a:t>
            </a:r>
          </a:p>
          <a:p>
            <a:r>
              <a:t>• The unifying lesson from the ablations: hard prompt imperatives over-correct (mass), so the next gains are softer/structural changes — sets up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Roadmap</a:t>
            </a:r>
          </a:p>
          <a:p>
            <a:r>
              <a:t>• Three priorities on the main path, each mapped to a failure mode from the previous slide: (1) soft FOS↔mass reward balancing; (2) a format-protecting KL constraint to stop grammar drift; (3) robust handling of degenerate FEA states.</a:t>
            </a:r>
          </a:p>
          <a:p>
            <a:r>
              <a:t>• One reserve: distillation. The 30B teacher already produces trajectories that solve ~67%, so distilling those into the 14B is the fallback if the reward-side and KL changes plateau.</a:t>
            </a:r>
          </a:p>
          <a:p>
            <a:r>
              <a:t>• Message: the path to &gt;90% is concrete and prioritized — a list of named fixes, not open-ended research.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Key takeaways</a:t>
            </a:r>
          </a:p>
          <a:p>
            <a:r>
              <a:t>• Close on the four lessons, in the order the talk built them.</a:t>
            </a:r>
          </a:p>
          <a:p>
            <a:r>
              <a:t>• 1 — The bottleneck was the environment: with GRPO and the reward held fixed, protocol fidelity then a complete observation drove 0%→68%.</a:t>
            </a:r>
          </a:p>
          <a:p>
            <a:r>
              <a:t>• 2 — SFT's contribution is form, achieved by selective loss masking (supervise written tokens, mask read tokens) — perfect grammar without sacrificing RL plasticity.</a:t>
            </a:r>
          </a:p>
          <a:p>
            <a:r>
              <a:t>• 3 — Simplicity won on the algorithm side: GRPO with group/tree-relative advantages and one policy-invariant potential (α=5) beat every reward add-on.</a:t>
            </a:r>
          </a:p>
          <a:p>
            <a:r>
              <a:t>• 4 — Information completeness beats raw reasoning capacity: the 0/6→4/6 zero-shot swing is the proof; RL amplifies that competence into the trained policy.</a:t>
            </a:r>
          </a:p>
          <a:p>
            <a:r>
              <a:t>• End with the one-liner: we didn't make the model smarter — we built an environment that let a capable model show what it already knew.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68680"/>
            <a:ext cx="9144000" cy="365760"/>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CADCFC"/>
                </a:solidFill>
                <a:latin typeface="Adobe Clean ExtraBold"/>
              </a:rPr>
              <a:t>STATUS REPORT</a:t>
            </a:r>
            <a:r>
              <a:rPr sz="1300" b="0" i="0">
                <a:solidFill>
                  <a:srgbClr val="6E7C97"/>
                </a:solidFill>
                <a:latin typeface="Adobe Clean"/>
              </a:rPr>
              <a:t>    ·    2026-06-30</a:t>
            </a:r>
          </a:p>
        </p:txBody>
      </p:sp>
      <p:sp>
        <p:nvSpPr>
          <p:cNvPr id="4" name="TextBox 3"/>
          <p:cNvSpPr txBox="1"/>
          <p:nvPr/>
        </p:nvSpPr>
        <p:spPr>
          <a:xfrm>
            <a:off x="548640" y="1417320"/>
            <a:ext cx="11064240" cy="1097280"/>
          </a:xfrm>
          <a:prstGeom prst="rect">
            <a:avLst/>
          </a:prstGeom>
          <a:noFill/>
        </p:spPr>
        <p:txBody>
          <a:bodyPr wrap="square" lIns="0" rIns="0" tIns="0" bIns="0" anchor="t">
            <a:spAutoFit/>
          </a:bodyPr>
          <a:lstStyle/>
          <a:p>
            <a:pPr algn="l">
              <a:lnSpc>
                <a:spcPct val="100000"/>
              </a:lnSpc>
              <a:spcBef>
                <a:spcPts val="0"/>
              </a:spcBef>
              <a:spcAft>
                <a:spcPts val="200"/>
              </a:spcAft>
            </a:pPr>
            <a:r>
              <a:rPr sz="5000" b="1" i="0">
                <a:solidFill>
                  <a:srgbClr val="FFFFFF"/>
                </a:solidFill>
                <a:latin typeface="Adobe Clean ExtraBold"/>
              </a:rPr>
              <a:t>DesignBench: SFT + GRPO</a:t>
            </a:r>
          </a:p>
        </p:txBody>
      </p:sp>
      <p:sp>
        <p:nvSpPr>
          <p:cNvPr id="5" name="TextBox 4"/>
          <p:cNvSpPr txBox="1"/>
          <p:nvPr/>
        </p:nvSpPr>
        <p:spPr>
          <a:xfrm>
            <a:off x="548640" y="2514600"/>
            <a:ext cx="10607040" cy="548640"/>
          </a:xfrm>
          <a:prstGeom prst="rect">
            <a:avLst/>
          </a:prstGeom>
          <a:noFill/>
        </p:spPr>
        <p:txBody>
          <a:bodyPr wrap="square" lIns="0" rIns="0" tIns="0" bIns="0" anchor="t">
            <a:spAutoFit/>
          </a:bodyPr>
          <a:lstStyle/>
          <a:p>
            <a:pPr algn="l">
              <a:lnSpc>
                <a:spcPct val="100000"/>
              </a:lnSpc>
              <a:spcBef>
                <a:spcPts val="0"/>
              </a:spcBef>
              <a:spcAft>
                <a:spcPts val="200"/>
              </a:spcAft>
            </a:pPr>
            <a:r>
              <a:rPr sz="2100" b="0" i="0">
                <a:solidFill>
                  <a:srgbClr val="DCE3F2"/>
                </a:solidFill>
                <a:latin typeface="Adobe Clean"/>
              </a:rPr>
              <a:t>Teaching a 14B model to design feasible trusses, one edit at a time</a:t>
            </a:r>
          </a:p>
        </p:txBody>
      </p:sp>
      <p:sp>
        <p:nvSpPr>
          <p:cNvPr id="6" name="TextBox 5"/>
          <p:cNvSpPr txBox="1"/>
          <p:nvPr/>
        </p:nvSpPr>
        <p:spPr>
          <a:xfrm>
            <a:off x="548640" y="3154680"/>
            <a:ext cx="10607040" cy="457200"/>
          </a:xfrm>
          <a:prstGeom prst="rect">
            <a:avLst/>
          </a:prstGeom>
          <a:noFill/>
        </p:spPr>
        <p:txBody>
          <a:bodyPr wrap="square" lIns="0" rIns="0" tIns="0" bIns="0" anchor="t">
            <a:spAutoFit/>
          </a:bodyPr>
          <a:lstStyle/>
          <a:p>
            <a:pPr algn="l">
              <a:lnSpc>
                <a:spcPct val="100000"/>
              </a:lnSpc>
              <a:spcBef>
                <a:spcPts val="0"/>
              </a:spcBef>
              <a:spcAft>
                <a:spcPts val="200"/>
              </a:spcAft>
            </a:pPr>
            <a:r>
              <a:rPr sz="1500" b="0" i="1">
                <a:solidFill>
                  <a:srgbClr val="AEB9CC"/>
                </a:solidFill>
                <a:latin typeface="Adobe Clean"/>
              </a:rPr>
              <a:t>The limiting factor was the environment — information and protocol — not reasoning capacity or the RL algorithm.</a:t>
            </a:r>
          </a:p>
        </p:txBody>
      </p:sp>
      <p:sp>
        <p:nvSpPr>
          <p:cNvPr id="7" name="TextBox 6"/>
          <p:cNvSpPr txBox="1"/>
          <p:nvPr/>
        </p:nvSpPr>
        <p:spPr>
          <a:xfrm>
            <a:off x="548640" y="4069080"/>
            <a:ext cx="1737360" cy="850392"/>
          </a:xfrm>
          <a:prstGeom prst="rect">
            <a:avLst/>
          </a:prstGeom>
          <a:noFill/>
        </p:spPr>
        <p:txBody>
          <a:bodyPr wrap="square" lIns="0" rIns="0" tIns="0" bIns="0" anchor="b">
            <a:spAutoFit/>
          </a:bodyPr>
          <a:lstStyle/>
          <a:p>
            <a:pPr algn="ctr">
              <a:lnSpc>
                <a:spcPct val="100000"/>
              </a:lnSpc>
              <a:spcBef>
                <a:spcPts val="0"/>
              </a:spcBef>
              <a:spcAft>
                <a:spcPts val="200"/>
              </a:spcAft>
            </a:pPr>
            <a:r>
              <a:rPr sz="6000" b="1" i="0">
                <a:solidFill>
                  <a:srgbClr val="AAB2C0"/>
                </a:solidFill>
                <a:latin typeface="Adobe Clean ExtraBold"/>
              </a:rPr>
              <a:t>0%</a:t>
            </a:r>
          </a:p>
        </p:txBody>
      </p:sp>
      <p:sp>
        <p:nvSpPr>
          <p:cNvPr id="8" name="TextBox 7"/>
          <p:cNvSpPr txBox="1"/>
          <p:nvPr/>
        </p:nvSpPr>
        <p:spPr>
          <a:xfrm>
            <a:off x="548640" y="4919472"/>
            <a:ext cx="1737360" cy="466344"/>
          </a:xfrm>
          <a:prstGeom prst="rect">
            <a:avLst/>
          </a:prstGeom>
          <a:noFill/>
        </p:spPr>
        <p:txBody>
          <a:bodyPr wrap="square" lIns="0" rIns="0" tIns="0" bIns="0" anchor="t">
            <a:spAutoFit/>
          </a:bodyPr>
          <a:lstStyle/>
          <a:p>
            <a:pPr algn="ctr">
              <a:lnSpc>
                <a:spcPct val="95000"/>
              </a:lnSpc>
              <a:spcBef>
                <a:spcPts val="0"/>
              </a:spcBef>
              <a:spcAft>
                <a:spcPts val="200"/>
              </a:spcAft>
            </a:pPr>
            <a:r>
              <a:rPr sz="1200" b="0" i="0">
                <a:solidFill>
                  <a:srgbClr val="AAB2C0"/>
                </a:solidFill>
                <a:latin typeface="Adobe Clean"/>
              </a:rPr>
              <a:t>warmstart (SFT only)</a:t>
            </a:r>
          </a:p>
        </p:txBody>
      </p:sp>
      <p:sp>
        <p:nvSpPr>
          <p:cNvPr id="9" name="Right Arrow 8"/>
          <p:cNvSpPr/>
          <p:nvPr/>
        </p:nvSpPr>
        <p:spPr>
          <a:xfrm>
            <a:off x="2514600" y="4526280"/>
            <a:ext cx="640080" cy="310896"/>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4069080"/>
            <a:ext cx="1920240" cy="850392"/>
          </a:xfrm>
          <a:prstGeom prst="rect">
            <a:avLst/>
          </a:prstGeom>
          <a:noFill/>
        </p:spPr>
        <p:txBody>
          <a:bodyPr wrap="square" lIns="0" rIns="0" tIns="0" bIns="0" anchor="b">
            <a:spAutoFit/>
          </a:bodyPr>
          <a:lstStyle/>
          <a:p>
            <a:pPr algn="ctr">
              <a:lnSpc>
                <a:spcPct val="100000"/>
              </a:lnSpc>
              <a:spcBef>
                <a:spcPts val="0"/>
              </a:spcBef>
              <a:spcAft>
                <a:spcPts val="200"/>
              </a:spcAft>
            </a:pPr>
            <a:r>
              <a:rPr sz="6000" b="1" i="0">
                <a:solidFill>
                  <a:srgbClr val="EB1000"/>
                </a:solidFill>
                <a:latin typeface="Adobe Clean ExtraBold"/>
              </a:rPr>
              <a:t>68%</a:t>
            </a:r>
          </a:p>
        </p:txBody>
      </p:sp>
      <p:sp>
        <p:nvSpPr>
          <p:cNvPr id="11" name="TextBox 10"/>
          <p:cNvSpPr txBox="1"/>
          <p:nvPr/>
        </p:nvSpPr>
        <p:spPr>
          <a:xfrm>
            <a:off x="3383280" y="4919472"/>
            <a:ext cx="1920240" cy="466344"/>
          </a:xfrm>
          <a:prstGeom prst="rect">
            <a:avLst/>
          </a:prstGeom>
          <a:noFill/>
        </p:spPr>
        <p:txBody>
          <a:bodyPr wrap="square" lIns="0" rIns="0" tIns="0" bIns="0" anchor="t">
            <a:spAutoFit/>
          </a:bodyPr>
          <a:lstStyle/>
          <a:p>
            <a:pPr algn="ctr">
              <a:lnSpc>
                <a:spcPct val="95000"/>
              </a:lnSpc>
              <a:spcBef>
                <a:spcPts val="0"/>
              </a:spcBef>
              <a:spcAft>
                <a:spcPts val="200"/>
              </a:spcAft>
            </a:pPr>
            <a:r>
              <a:rPr sz="1200" b="0" i="0">
                <a:solidFill>
                  <a:srgbClr val="EB1000"/>
                </a:solidFill>
                <a:latin typeface="Adobe Clean"/>
              </a:rPr>
              <a:t>champion policy</a:t>
            </a:r>
          </a:p>
        </p:txBody>
      </p:sp>
      <p:sp>
        <p:nvSpPr>
          <p:cNvPr id="12" name="TextBox 11"/>
          <p:cNvSpPr txBox="1"/>
          <p:nvPr/>
        </p:nvSpPr>
        <p:spPr>
          <a:xfrm>
            <a:off x="5577840" y="4434840"/>
            <a:ext cx="5120640" cy="548640"/>
          </a:xfrm>
          <a:prstGeom prst="rect">
            <a:avLst/>
          </a:prstGeom>
          <a:noFill/>
        </p:spPr>
        <p:txBody>
          <a:bodyPr wrap="square" lIns="0" rIns="0" tIns="0" bIns="0" anchor="ctr">
            <a:spAutoFit/>
          </a:bodyPr>
          <a:lstStyle/>
          <a:p>
            <a:pPr algn="l">
              <a:lnSpc>
                <a:spcPct val="100000"/>
              </a:lnSpc>
              <a:spcBef>
                <a:spcPts val="0"/>
              </a:spcBef>
              <a:spcAft>
                <a:spcPts val="200"/>
              </a:spcAft>
            </a:pPr>
            <a:r>
              <a:rPr sz="1400" b="0" i="0">
                <a:solidFill>
                  <a:srgbClr val="AEB9CC"/>
                </a:solidFill>
                <a:latin typeface="Adobe Clean"/>
              </a:rPr>
              <a:t>held-out feasibility on truss design problems</a:t>
            </a:r>
          </a:p>
        </p:txBody>
      </p:sp>
      <p:cxnSp>
        <p:nvCxnSpPr>
          <p:cNvPr id="13" name="Connector 12"/>
          <p:cNvCxnSpPr/>
          <p:nvPr/>
        </p:nvCxnSpPr>
        <p:spPr>
          <a:xfrm>
            <a:off x="548640" y="6263640"/>
            <a:ext cx="11094415" cy="0"/>
          </a:xfrm>
          <a:prstGeom prst="bentConnector3">
            <a:avLst/>
          </a:prstGeom>
          <a:ln w="12700">
            <a:solidFill>
              <a:srgbClr val="2C3C5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6355080"/>
            <a:ext cx="11064240" cy="274320"/>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6E7C97"/>
                </a:solidFill>
                <a:latin typeface="Adobe Clean"/>
              </a:rPr>
              <a:t>Qwen3-14B · LoRA r=32 · multi-turn grammar-action policy · potential-based shaping reward · audit trail in docs/ablation_ledger.md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Story in One Slide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What we built, what it achieved, and the one idea worth remembering.</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6903720" cy="13258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01368"/>
            <a:ext cx="73152" cy="110642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6492240" cy="365760"/>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EB1000"/>
                </a:solidFill>
                <a:latin typeface="Adobe Clean ExtraBold"/>
              </a:rPr>
              <a:t>What we built</a:t>
            </a:r>
          </a:p>
        </p:txBody>
      </p:sp>
      <p:sp>
        <p:nvSpPr>
          <p:cNvPr id="8" name="TextBox 7"/>
          <p:cNvSpPr txBox="1"/>
          <p:nvPr/>
        </p:nvSpPr>
        <p:spPr>
          <a:xfrm>
            <a:off x="868680" y="2157984"/>
            <a:ext cx="6492240" cy="822960"/>
          </a:xfrm>
          <a:prstGeom prst="rect">
            <a:avLst/>
          </a:prstGeom>
          <a:noFill/>
        </p:spPr>
        <p:txBody>
          <a:bodyPr wrap="square" lIns="0" rIns="0" tIns="0" bIns="0" anchor="t">
            <a:spAutoFit/>
          </a:bodyPr>
          <a:lstStyle/>
          <a:p>
            <a:pPr algn="l">
              <a:lnSpc>
                <a:spcPct val="102000"/>
              </a:lnSpc>
              <a:spcBef>
                <a:spcPts val="0"/>
              </a:spcBef>
              <a:spcAft>
                <a:spcPts val="200"/>
              </a:spcAft>
            </a:pPr>
            <a:r>
              <a:rPr sz="1400" b="0" i="0">
                <a:solidFill>
                  <a:srgbClr val="2C2C2C"/>
                </a:solidFill>
                <a:latin typeface="Adobe Clean"/>
              </a:rPr>
              <a:t>A two-stage framework — </a:t>
            </a:r>
            <a:r>
              <a:rPr sz="1400" b="1" i="0">
                <a:solidFill>
                  <a:srgbClr val="21304A"/>
                </a:solidFill>
                <a:latin typeface="Adobe Clean ExtraBold"/>
              </a:rPr>
              <a:t>SFT warmstart</a:t>
            </a:r>
            <a:r>
              <a:rPr sz="1400" b="0" i="0">
                <a:solidFill>
                  <a:srgbClr val="2C2C2C"/>
                </a:solidFill>
                <a:latin typeface="Adobe Clean"/>
              </a:rPr>
              <a:t> for grammar, then </a:t>
            </a:r>
            <a:r>
              <a:rPr sz="1400" b="1" i="0">
                <a:solidFill>
                  <a:srgbClr val="21304A"/>
                </a:solidFill>
                <a:latin typeface="Adobe Clean ExtraBold"/>
              </a:rPr>
              <a:t>GRPO</a:t>
            </a:r>
            <a:r>
              <a:rPr sz="1400" b="0" i="0">
                <a:solidFill>
                  <a:srgbClr val="2C2C2C"/>
                </a:solidFill>
                <a:latin typeface="Adobe Clean"/>
              </a:rPr>
              <a:t> for policy — that drives a 14B model through a </a:t>
            </a:r>
            <a:r>
              <a:rPr sz="1400" b="1" i="0">
                <a:solidFill>
                  <a:srgbClr val="21304A"/>
                </a:solidFill>
                <a:latin typeface="Adobe Clean ExtraBold"/>
              </a:rPr>
              <a:t>multi-turn FEA environment</a:t>
            </a:r>
            <a:r>
              <a:rPr sz="1400" b="0" i="0">
                <a:solidFill>
                  <a:srgbClr val="2C2C2C"/>
                </a:solidFill>
                <a:latin typeface="Adobe Clean"/>
              </a:rPr>
              <a:t>, repairing a truss one grammar action per turn.</a:t>
            </a:r>
          </a:p>
        </p:txBody>
      </p:sp>
      <p:sp>
        <p:nvSpPr>
          <p:cNvPr id="9" name="Rounded Rectangle 8"/>
          <p:cNvSpPr/>
          <p:nvPr/>
        </p:nvSpPr>
        <p:spPr>
          <a:xfrm>
            <a:off x="548640" y="3154680"/>
            <a:ext cx="6903720" cy="13258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264408"/>
            <a:ext cx="73152" cy="110642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73552"/>
            <a:ext cx="6492240" cy="365760"/>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1E8449"/>
                </a:solidFill>
                <a:latin typeface="Adobe Clean ExtraBold"/>
              </a:rPr>
              <a:t>What it achieved</a:t>
            </a:r>
          </a:p>
        </p:txBody>
      </p:sp>
      <p:sp>
        <p:nvSpPr>
          <p:cNvPr id="12" name="TextBox 11"/>
          <p:cNvSpPr txBox="1"/>
          <p:nvPr/>
        </p:nvSpPr>
        <p:spPr>
          <a:xfrm>
            <a:off x="868680" y="3621024"/>
            <a:ext cx="6492240" cy="822960"/>
          </a:xfrm>
          <a:prstGeom prst="rect">
            <a:avLst/>
          </a:prstGeom>
          <a:noFill/>
        </p:spPr>
        <p:txBody>
          <a:bodyPr wrap="square" lIns="0" rIns="0" tIns="0" bIns="0" anchor="t">
            <a:spAutoFit/>
          </a:bodyPr>
          <a:lstStyle/>
          <a:p>
            <a:pPr algn="l">
              <a:lnSpc>
                <a:spcPct val="102000"/>
              </a:lnSpc>
              <a:spcBef>
                <a:spcPts val="0"/>
              </a:spcBef>
              <a:spcAft>
                <a:spcPts val="200"/>
              </a:spcAft>
            </a:pPr>
            <a:r>
              <a:rPr sz="1400" b="0" i="0">
                <a:solidFill>
                  <a:srgbClr val="2C2C2C"/>
                </a:solidFill>
                <a:latin typeface="Adobe Clean"/>
              </a:rPr>
              <a:t>From </a:t>
            </a:r>
            <a:r>
              <a:rPr sz="1400" b="1" i="0">
                <a:solidFill>
                  <a:srgbClr val="1E8449"/>
                </a:solidFill>
                <a:latin typeface="Adobe Clean ExtraBold"/>
              </a:rPr>
              <a:t>0% → 68%</a:t>
            </a:r>
            <a:r>
              <a:rPr sz="1400" b="0" i="0">
                <a:solidFill>
                  <a:srgbClr val="2C2C2C"/>
                </a:solidFill>
                <a:latin typeface="Adobe Clean"/>
              </a:rPr>
              <a:t> held-out feasibility. The same multi-turn loop with a strong zero-shot reasoner solves </a:t>
            </a:r>
            <a:r>
              <a:rPr sz="1400" b="1" i="0">
                <a:solidFill>
                  <a:srgbClr val="1E8449"/>
                </a:solidFill>
                <a:latin typeface="Adobe Clean ExtraBold"/>
              </a:rPr>
              <a:t>4 of 6</a:t>
            </a:r>
            <a:r>
              <a:rPr sz="1400" b="0" i="0">
                <a:solidFill>
                  <a:srgbClr val="2C2C2C"/>
                </a:solidFill>
                <a:latin typeface="Adobe Clean"/>
              </a:rPr>
              <a:t> problems with no RL at all.</a:t>
            </a:r>
          </a:p>
        </p:txBody>
      </p:sp>
      <p:sp>
        <p:nvSpPr>
          <p:cNvPr id="13" name="Rounded Rectangle 12"/>
          <p:cNvSpPr/>
          <p:nvPr/>
        </p:nvSpPr>
        <p:spPr>
          <a:xfrm>
            <a:off x="548640" y="4617720"/>
            <a:ext cx="6903720" cy="14173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727448"/>
            <a:ext cx="73152" cy="119786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736592"/>
            <a:ext cx="6492240" cy="365760"/>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The one idea</a:t>
            </a:r>
          </a:p>
        </p:txBody>
      </p:sp>
      <p:sp>
        <p:nvSpPr>
          <p:cNvPr id="16" name="TextBox 15"/>
          <p:cNvSpPr txBox="1"/>
          <p:nvPr/>
        </p:nvSpPr>
        <p:spPr>
          <a:xfrm>
            <a:off x="868680" y="5084064"/>
            <a:ext cx="6492240" cy="914400"/>
          </a:xfrm>
          <a:prstGeom prst="rect">
            <a:avLst/>
          </a:prstGeom>
          <a:noFill/>
        </p:spPr>
        <p:txBody>
          <a:bodyPr wrap="square" lIns="0" rIns="0" tIns="0" bIns="0" anchor="t">
            <a:spAutoFit/>
          </a:bodyPr>
          <a:lstStyle/>
          <a:p>
            <a:pPr algn="l">
              <a:lnSpc>
                <a:spcPct val="102000"/>
              </a:lnSpc>
              <a:spcBef>
                <a:spcPts val="0"/>
              </a:spcBef>
              <a:spcAft>
                <a:spcPts val="200"/>
              </a:spcAft>
            </a:pPr>
            <a:r>
              <a:rPr sz="1400" b="0" i="0">
                <a:solidFill>
                  <a:srgbClr val="2C2C2C"/>
                </a:solidFill>
                <a:latin typeface="Adobe Clean"/>
              </a:rPr>
              <a:t>Reasoning capacity was never the limit. The leverage was </a:t>
            </a:r>
            <a:r>
              <a:rPr sz="1400" b="1" i="0">
                <a:solidFill>
                  <a:srgbClr val="EB1000"/>
                </a:solidFill>
                <a:latin typeface="Adobe Clean ExtraBold"/>
              </a:rPr>
              <a:t>environment design</a:t>
            </a:r>
            <a:r>
              <a:rPr sz="1400" b="0" i="0">
                <a:solidFill>
                  <a:srgbClr val="2C2C2C"/>
                </a:solidFill>
                <a:latin typeface="Adobe Clean"/>
              </a:rPr>
              <a:t>: make training match deployment, and make the observation contain the one fact the policy needs.</a:t>
            </a:r>
          </a:p>
        </p:txBody>
      </p:sp>
      <p:sp>
        <p:nvSpPr>
          <p:cNvPr id="17" name="Rounded Rectangle 16"/>
          <p:cNvSpPr/>
          <p:nvPr/>
        </p:nvSpPr>
        <p:spPr>
          <a:xfrm>
            <a:off x="7726679" y="1783080"/>
            <a:ext cx="3886200" cy="91440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1874519"/>
            <a:ext cx="1554480" cy="731520"/>
          </a:xfrm>
          <a:prstGeom prst="rect">
            <a:avLst/>
          </a:prstGeom>
          <a:noFill/>
        </p:spPr>
        <p:txBody>
          <a:bodyPr wrap="square" lIns="0" rIns="0" tIns="0" bIns="0" anchor="ctr">
            <a:spAutoFit/>
          </a:bodyPr>
          <a:lstStyle/>
          <a:p>
            <a:pPr algn="l">
              <a:lnSpc>
                <a:spcPct val="100000"/>
              </a:lnSpc>
              <a:spcBef>
                <a:spcPts val="0"/>
              </a:spcBef>
              <a:spcAft>
                <a:spcPts val="200"/>
              </a:spcAft>
            </a:pPr>
            <a:r>
              <a:rPr sz="3000" b="1" i="0">
                <a:solidFill>
                  <a:srgbClr val="AAB2C0"/>
                </a:solidFill>
                <a:latin typeface="Adobe Clean ExtraBold"/>
              </a:rPr>
              <a:t>0%</a:t>
            </a:r>
          </a:p>
        </p:txBody>
      </p:sp>
      <p:sp>
        <p:nvSpPr>
          <p:cNvPr id="19" name="TextBox 18"/>
          <p:cNvSpPr txBox="1"/>
          <p:nvPr/>
        </p:nvSpPr>
        <p:spPr>
          <a:xfrm>
            <a:off x="9464040" y="1874519"/>
            <a:ext cx="2011680" cy="731520"/>
          </a:xfrm>
          <a:prstGeom prst="rect">
            <a:avLst/>
          </a:prstGeom>
          <a:noFill/>
        </p:spPr>
        <p:txBody>
          <a:bodyPr wrap="square" lIns="0" rIns="0" tIns="0" bIns="0" anchor="ctr">
            <a:spAutoFit/>
          </a:bodyPr>
          <a:lstStyle/>
          <a:p>
            <a:pPr algn="l">
              <a:lnSpc>
                <a:spcPct val="95000"/>
              </a:lnSpc>
              <a:spcBef>
                <a:spcPts val="0"/>
              </a:spcBef>
              <a:spcAft>
                <a:spcPts val="200"/>
              </a:spcAft>
            </a:pPr>
            <a:r>
              <a:rPr sz="1300" b="0" i="0">
                <a:solidFill>
                  <a:srgbClr val="5A6473"/>
                </a:solidFill>
                <a:latin typeface="Adobe Clean"/>
              </a:rPr>
              <a:t>SFT warmstart</a:t>
            </a:r>
          </a:p>
        </p:txBody>
      </p:sp>
      <p:sp>
        <p:nvSpPr>
          <p:cNvPr id="20" name="Rounded Rectangle 19"/>
          <p:cNvSpPr/>
          <p:nvPr/>
        </p:nvSpPr>
        <p:spPr>
          <a:xfrm>
            <a:off x="7726679" y="2834640"/>
            <a:ext cx="3886200" cy="91440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2926080"/>
            <a:ext cx="1554480" cy="731520"/>
          </a:xfrm>
          <a:prstGeom prst="rect">
            <a:avLst/>
          </a:prstGeom>
          <a:noFill/>
        </p:spPr>
        <p:txBody>
          <a:bodyPr wrap="square" lIns="0" rIns="0" tIns="0" bIns="0" anchor="ctr">
            <a:spAutoFit/>
          </a:bodyPr>
          <a:lstStyle/>
          <a:p>
            <a:pPr algn="l">
              <a:lnSpc>
                <a:spcPct val="100000"/>
              </a:lnSpc>
              <a:spcBef>
                <a:spcPts val="0"/>
              </a:spcBef>
              <a:spcAft>
                <a:spcPts val="200"/>
              </a:spcAft>
            </a:pPr>
            <a:r>
              <a:rPr sz="3000" b="1" i="0">
                <a:solidFill>
                  <a:srgbClr val="EB1000"/>
                </a:solidFill>
                <a:latin typeface="Adobe Clean ExtraBold"/>
              </a:rPr>
              <a:t>68%</a:t>
            </a:r>
          </a:p>
        </p:txBody>
      </p:sp>
      <p:sp>
        <p:nvSpPr>
          <p:cNvPr id="22" name="TextBox 21"/>
          <p:cNvSpPr txBox="1"/>
          <p:nvPr/>
        </p:nvSpPr>
        <p:spPr>
          <a:xfrm>
            <a:off x="9464040" y="2926080"/>
            <a:ext cx="2011680" cy="731520"/>
          </a:xfrm>
          <a:prstGeom prst="rect">
            <a:avLst/>
          </a:prstGeom>
          <a:noFill/>
        </p:spPr>
        <p:txBody>
          <a:bodyPr wrap="square" lIns="0" rIns="0" tIns="0" bIns="0" anchor="ctr">
            <a:spAutoFit/>
          </a:bodyPr>
          <a:lstStyle/>
          <a:p>
            <a:pPr algn="l">
              <a:lnSpc>
                <a:spcPct val="95000"/>
              </a:lnSpc>
              <a:spcBef>
                <a:spcPts val="0"/>
              </a:spcBef>
              <a:spcAft>
                <a:spcPts val="200"/>
              </a:spcAft>
            </a:pPr>
            <a:r>
              <a:rPr sz="1300" b="0" i="0">
                <a:solidFill>
                  <a:srgbClr val="5A6473"/>
                </a:solidFill>
                <a:latin typeface="Adobe Clean"/>
              </a:rPr>
              <a:t>champion policy</a:t>
            </a:r>
          </a:p>
        </p:txBody>
      </p:sp>
      <p:sp>
        <p:nvSpPr>
          <p:cNvPr id="23" name="Rounded Rectangle 22"/>
          <p:cNvSpPr/>
          <p:nvPr/>
        </p:nvSpPr>
        <p:spPr>
          <a:xfrm>
            <a:off x="7726679" y="3886200"/>
            <a:ext cx="3886200" cy="91440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3977639"/>
            <a:ext cx="1554480" cy="731520"/>
          </a:xfrm>
          <a:prstGeom prst="rect">
            <a:avLst/>
          </a:prstGeom>
          <a:noFill/>
        </p:spPr>
        <p:txBody>
          <a:bodyPr wrap="square" lIns="0" rIns="0" tIns="0" bIns="0" anchor="ctr">
            <a:spAutoFit/>
          </a:bodyPr>
          <a:lstStyle/>
          <a:p>
            <a:pPr algn="l">
              <a:lnSpc>
                <a:spcPct val="100000"/>
              </a:lnSpc>
              <a:spcBef>
                <a:spcPts val="0"/>
              </a:spcBef>
              <a:spcAft>
                <a:spcPts val="200"/>
              </a:spcAft>
            </a:pPr>
            <a:r>
              <a:rPr sz="3000" b="1" i="0">
                <a:solidFill>
                  <a:srgbClr val="1E8449"/>
                </a:solidFill>
                <a:latin typeface="Adobe Clean ExtraBold"/>
              </a:rPr>
              <a:t>4/6</a:t>
            </a:r>
          </a:p>
        </p:txBody>
      </p:sp>
      <p:sp>
        <p:nvSpPr>
          <p:cNvPr id="25" name="TextBox 24"/>
          <p:cNvSpPr txBox="1"/>
          <p:nvPr/>
        </p:nvSpPr>
        <p:spPr>
          <a:xfrm>
            <a:off x="9464040" y="3977639"/>
            <a:ext cx="2011680" cy="731520"/>
          </a:xfrm>
          <a:prstGeom prst="rect">
            <a:avLst/>
          </a:prstGeom>
          <a:noFill/>
        </p:spPr>
        <p:txBody>
          <a:bodyPr wrap="square" lIns="0" rIns="0" tIns="0" bIns="0" anchor="ctr">
            <a:spAutoFit/>
          </a:bodyPr>
          <a:lstStyle/>
          <a:p>
            <a:pPr algn="l">
              <a:lnSpc>
                <a:spcPct val="95000"/>
              </a:lnSpc>
              <a:spcBef>
                <a:spcPts val="0"/>
              </a:spcBef>
              <a:spcAft>
                <a:spcPts val="200"/>
              </a:spcAft>
            </a:pPr>
            <a:r>
              <a:rPr sz="1300" b="0" i="0">
                <a:solidFill>
                  <a:srgbClr val="5A6473"/>
                </a:solidFill>
                <a:latin typeface="Adobe Clean"/>
              </a:rPr>
              <a:t>zero-shot, no RL</a:t>
            </a:r>
          </a:p>
        </p:txBody>
      </p:sp>
      <p:sp>
        <p:nvSpPr>
          <p:cNvPr id="26" name="Rounded Rectangle 25"/>
          <p:cNvSpPr/>
          <p:nvPr/>
        </p:nvSpPr>
        <p:spPr>
          <a:xfrm>
            <a:off x="7726679" y="4937760"/>
            <a:ext cx="3886200" cy="91440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5029200"/>
            <a:ext cx="1554480" cy="731520"/>
          </a:xfrm>
          <a:prstGeom prst="rect">
            <a:avLst/>
          </a:prstGeom>
          <a:noFill/>
        </p:spPr>
        <p:txBody>
          <a:bodyPr wrap="square" lIns="0" rIns="0" tIns="0" bIns="0" anchor="ctr">
            <a:spAutoFit/>
          </a:bodyPr>
          <a:lstStyle/>
          <a:p>
            <a:pPr algn="l">
              <a:lnSpc>
                <a:spcPct val="100000"/>
              </a:lnSpc>
              <a:spcBef>
                <a:spcPts val="0"/>
              </a:spcBef>
              <a:spcAft>
                <a:spcPts val="200"/>
              </a:spcAft>
            </a:pPr>
            <a:r>
              <a:rPr sz="3000" b="1" i="0">
                <a:solidFill>
                  <a:srgbClr val="21304A"/>
                </a:solidFill>
                <a:latin typeface="Adobe Clean ExtraBold"/>
              </a:rPr>
              <a:t>α=5</a:t>
            </a:r>
          </a:p>
        </p:txBody>
      </p:sp>
      <p:sp>
        <p:nvSpPr>
          <p:cNvPr id="28" name="TextBox 27"/>
          <p:cNvSpPr txBox="1"/>
          <p:nvPr/>
        </p:nvSpPr>
        <p:spPr>
          <a:xfrm>
            <a:off x="9464040" y="5029200"/>
            <a:ext cx="2011680" cy="731520"/>
          </a:xfrm>
          <a:prstGeom prst="rect">
            <a:avLst/>
          </a:prstGeom>
          <a:noFill/>
        </p:spPr>
        <p:txBody>
          <a:bodyPr wrap="square" lIns="0" rIns="0" tIns="0" bIns="0" anchor="ctr">
            <a:spAutoFit/>
          </a:bodyPr>
          <a:lstStyle/>
          <a:p>
            <a:pPr algn="l">
              <a:lnSpc>
                <a:spcPct val="95000"/>
              </a:lnSpc>
              <a:spcBef>
                <a:spcPts val="0"/>
              </a:spcBef>
              <a:spcAft>
                <a:spcPts val="200"/>
              </a:spcAft>
            </a:pPr>
            <a:r>
              <a:rPr sz="1300" b="0" i="0">
                <a:solidFill>
                  <a:srgbClr val="5A6473"/>
                </a:solidFill>
                <a:latin typeface="Adobe Clean"/>
              </a:rPr>
              <a:t>single reward knob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Agenda</a:t>
            </a:r>
          </a:p>
        </p:txBody>
      </p:sp>
      <p:cxnSp>
        <p:nvCxnSpPr>
          <p:cNvPr id="3" name="Connector 2"/>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48640" y="1783080"/>
            <a:ext cx="11064240" cy="1024128"/>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4672" y="1984248"/>
            <a:ext cx="640080" cy="621792"/>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47672"/>
            <a:ext cx="640080" cy="621792"/>
          </a:xfrm>
          <a:prstGeom prst="rect">
            <a:avLst/>
          </a:prstGeom>
          <a:noFill/>
        </p:spPr>
        <p:txBody>
          <a:bodyPr wrap="square" lIns="0" rIns="0" tIns="0" bIns="0" anchor="ctr">
            <a:spAutoFit/>
          </a:bodyPr>
          <a:lstStyle/>
          <a:p>
            <a:pPr algn="ctr">
              <a:lnSpc>
                <a:spcPct val="100000"/>
              </a:lnSpc>
              <a:spcBef>
                <a:spcPts val="0"/>
              </a:spcBef>
              <a:spcAft>
                <a:spcPts val="200"/>
              </a:spcAft>
            </a:pPr>
            <a:r>
              <a:rPr sz="2200" b="1" i="0">
                <a:solidFill>
                  <a:srgbClr val="FFFFFF"/>
                </a:solidFill>
                <a:latin typeface="Adobe Clean ExtraBold"/>
              </a:rPr>
              <a:t>01</a:t>
            </a:r>
          </a:p>
        </p:txBody>
      </p:sp>
      <p:sp>
        <p:nvSpPr>
          <p:cNvPr id="7" name="TextBox 6"/>
          <p:cNvSpPr txBox="1"/>
          <p:nvPr/>
        </p:nvSpPr>
        <p:spPr>
          <a:xfrm>
            <a:off x="1691640" y="1965960"/>
            <a:ext cx="9601200" cy="411480"/>
          </a:xfrm>
          <a:prstGeom prst="rect">
            <a:avLst/>
          </a:prstGeom>
          <a:noFill/>
        </p:spPr>
        <p:txBody>
          <a:bodyPr wrap="square" lIns="0" rIns="0" tIns="0" bIns="0" anchor="t">
            <a:spAutoFit/>
          </a:bodyPr>
          <a:lstStyle/>
          <a:p>
            <a:pPr algn="l">
              <a:lnSpc>
                <a:spcPct val="100000"/>
              </a:lnSpc>
              <a:spcBef>
                <a:spcPts val="0"/>
              </a:spcBef>
              <a:spcAft>
                <a:spcPts val="200"/>
              </a:spcAft>
            </a:pPr>
            <a:r>
              <a:rPr sz="1800" b="1" i="0">
                <a:solidFill>
                  <a:srgbClr val="21304A"/>
                </a:solidFill>
                <a:latin typeface="Adobe Clean ExtraBold"/>
              </a:rPr>
              <a:t>The task &amp; the framework</a:t>
            </a:r>
          </a:p>
        </p:txBody>
      </p:sp>
      <p:sp>
        <p:nvSpPr>
          <p:cNvPr id="8" name="TextBox 7"/>
          <p:cNvSpPr txBox="1"/>
          <p:nvPr/>
        </p:nvSpPr>
        <p:spPr>
          <a:xfrm>
            <a:off x="1691640" y="2386584"/>
            <a:ext cx="9601200" cy="365760"/>
          </a:xfrm>
          <a:prstGeom prst="rect">
            <a:avLst/>
          </a:prstGeom>
          <a:noFill/>
        </p:spPr>
        <p:txBody>
          <a:bodyPr wrap="square" lIns="0" rIns="0" tIns="0" bIns="0" anchor="t">
            <a:spAutoFit/>
          </a:bodyPr>
          <a:lstStyle/>
          <a:p>
            <a:pPr algn="l">
              <a:lnSpc>
                <a:spcPct val="100000"/>
              </a:lnSpc>
              <a:spcBef>
                <a:spcPts val="0"/>
              </a:spcBef>
              <a:spcAft>
                <a:spcPts val="200"/>
              </a:spcAft>
            </a:pPr>
            <a:r>
              <a:rPr sz="1250" b="0" i="0">
                <a:solidFill>
                  <a:srgbClr val="5A6473"/>
                </a:solidFill>
                <a:latin typeface="Adobe Clean"/>
              </a:rPr>
              <a:t>Truss design as an MDP, and the end-to-end architecture</a:t>
            </a:r>
          </a:p>
        </p:txBody>
      </p:sp>
      <p:sp>
        <p:nvSpPr>
          <p:cNvPr id="9" name="Rounded Rectangle 8"/>
          <p:cNvSpPr/>
          <p:nvPr/>
        </p:nvSpPr>
        <p:spPr>
          <a:xfrm>
            <a:off x="548640" y="2916936"/>
            <a:ext cx="11064240" cy="1024128"/>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3118104"/>
            <a:ext cx="640080" cy="621792"/>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081528"/>
            <a:ext cx="640080" cy="621792"/>
          </a:xfrm>
          <a:prstGeom prst="rect">
            <a:avLst/>
          </a:prstGeom>
          <a:noFill/>
        </p:spPr>
        <p:txBody>
          <a:bodyPr wrap="square" lIns="0" rIns="0" tIns="0" bIns="0" anchor="ctr">
            <a:spAutoFit/>
          </a:bodyPr>
          <a:lstStyle/>
          <a:p>
            <a:pPr algn="ctr">
              <a:lnSpc>
                <a:spcPct val="100000"/>
              </a:lnSpc>
              <a:spcBef>
                <a:spcPts val="0"/>
              </a:spcBef>
              <a:spcAft>
                <a:spcPts val="200"/>
              </a:spcAft>
            </a:pPr>
            <a:r>
              <a:rPr sz="2200" b="1" i="0">
                <a:solidFill>
                  <a:srgbClr val="FFFFFF"/>
                </a:solidFill>
                <a:latin typeface="Adobe Clean ExtraBold"/>
              </a:rPr>
              <a:t>02</a:t>
            </a:r>
          </a:p>
        </p:txBody>
      </p:sp>
      <p:sp>
        <p:nvSpPr>
          <p:cNvPr id="12" name="TextBox 11"/>
          <p:cNvSpPr txBox="1"/>
          <p:nvPr/>
        </p:nvSpPr>
        <p:spPr>
          <a:xfrm>
            <a:off x="1691640" y="3099816"/>
            <a:ext cx="9601200" cy="411480"/>
          </a:xfrm>
          <a:prstGeom prst="rect">
            <a:avLst/>
          </a:prstGeom>
          <a:noFill/>
        </p:spPr>
        <p:txBody>
          <a:bodyPr wrap="square" lIns="0" rIns="0" tIns="0" bIns="0" anchor="t">
            <a:spAutoFit/>
          </a:bodyPr>
          <a:lstStyle/>
          <a:p>
            <a:pPr algn="l">
              <a:lnSpc>
                <a:spcPct val="100000"/>
              </a:lnSpc>
              <a:spcBef>
                <a:spcPts val="0"/>
              </a:spcBef>
              <a:spcAft>
                <a:spcPts val="200"/>
              </a:spcAft>
            </a:pPr>
            <a:r>
              <a:rPr sz="1800" b="1" i="0">
                <a:solidFill>
                  <a:srgbClr val="21304A"/>
                </a:solidFill>
                <a:latin typeface="Adobe Clean ExtraBold"/>
              </a:rPr>
              <a:t>Stage 1 — SFT warmstart</a:t>
            </a:r>
          </a:p>
        </p:txBody>
      </p:sp>
      <p:sp>
        <p:nvSpPr>
          <p:cNvPr id="13" name="TextBox 12"/>
          <p:cNvSpPr txBox="1"/>
          <p:nvPr/>
        </p:nvSpPr>
        <p:spPr>
          <a:xfrm>
            <a:off x="1691640" y="3520440"/>
            <a:ext cx="9601200" cy="365760"/>
          </a:xfrm>
          <a:prstGeom prst="rect">
            <a:avLst/>
          </a:prstGeom>
          <a:noFill/>
        </p:spPr>
        <p:txBody>
          <a:bodyPr wrap="square" lIns="0" rIns="0" tIns="0" bIns="0" anchor="t">
            <a:spAutoFit/>
          </a:bodyPr>
          <a:lstStyle/>
          <a:p>
            <a:pPr algn="l">
              <a:lnSpc>
                <a:spcPct val="100000"/>
              </a:lnSpc>
              <a:spcBef>
                <a:spcPts val="0"/>
              </a:spcBef>
              <a:spcAft>
                <a:spcPts val="200"/>
              </a:spcAft>
            </a:pPr>
            <a:r>
              <a:rPr sz="1250" b="0" i="0">
                <a:solidFill>
                  <a:srgbClr val="5A6473"/>
                </a:solidFill>
                <a:latin typeface="Adobe Clean"/>
              </a:rPr>
              <a:t>Grammar compliance via selective loss masking</a:t>
            </a:r>
          </a:p>
        </p:txBody>
      </p:sp>
      <p:sp>
        <p:nvSpPr>
          <p:cNvPr id="14" name="Rounded Rectangle 13"/>
          <p:cNvSpPr/>
          <p:nvPr/>
        </p:nvSpPr>
        <p:spPr>
          <a:xfrm>
            <a:off x="548640" y="4050791"/>
            <a:ext cx="11064240" cy="1024128"/>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4251959"/>
            <a:ext cx="640080" cy="621792"/>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215383"/>
            <a:ext cx="640080" cy="621792"/>
          </a:xfrm>
          <a:prstGeom prst="rect">
            <a:avLst/>
          </a:prstGeom>
          <a:noFill/>
        </p:spPr>
        <p:txBody>
          <a:bodyPr wrap="square" lIns="0" rIns="0" tIns="0" bIns="0" anchor="ctr">
            <a:spAutoFit/>
          </a:bodyPr>
          <a:lstStyle/>
          <a:p>
            <a:pPr algn="ctr">
              <a:lnSpc>
                <a:spcPct val="100000"/>
              </a:lnSpc>
              <a:spcBef>
                <a:spcPts val="0"/>
              </a:spcBef>
              <a:spcAft>
                <a:spcPts val="200"/>
              </a:spcAft>
            </a:pPr>
            <a:r>
              <a:rPr sz="2200" b="1" i="0">
                <a:solidFill>
                  <a:srgbClr val="FFFFFF"/>
                </a:solidFill>
                <a:latin typeface="Adobe Clean ExtraBold"/>
              </a:rPr>
              <a:t>03</a:t>
            </a:r>
          </a:p>
        </p:txBody>
      </p:sp>
      <p:sp>
        <p:nvSpPr>
          <p:cNvPr id="17" name="TextBox 16"/>
          <p:cNvSpPr txBox="1"/>
          <p:nvPr/>
        </p:nvSpPr>
        <p:spPr>
          <a:xfrm>
            <a:off x="1691640" y="4233672"/>
            <a:ext cx="9601200" cy="411480"/>
          </a:xfrm>
          <a:prstGeom prst="rect">
            <a:avLst/>
          </a:prstGeom>
          <a:noFill/>
        </p:spPr>
        <p:txBody>
          <a:bodyPr wrap="square" lIns="0" rIns="0" tIns="0" bIns="0" anchor="t">
            <a:spAutoFit/>
          </a:bodyPr>
          <a:lstStyle/>
          <a:p>
            <a:pPr algn="l">
              <a:lnSpc>
                <a:spcPct val="100000"/>
              </a:lnSpc>
              <a:spcBef>
                <a:spcPts val="0"/>
              </a:spcBef>
              <a:spcAft>
                <a:spcPts val="200"/>
              </a:spcAft>
            </a:pPr>
            <a:r>
              <a:rPr sz="1800" b="1" i="0">
                <a:solidFill>
                  <a:srgbClr val="21304A"/>
                </a:solidFill>
                <a:latin typeface="Adobe Clean ExtraBold"/>
              </a:rPr>
              <a:t>Stage 2 — GRPO</a:t>
            </a:r>
          </a:p>
        </p:txBody>
      </p:sp>
      <p:sp>
        <p:nvSpPr>
          <p:cNvPr id="18" name="TextBox 17"/>
          <p:cNvSpPr txBox="1"/>
          <p:nvPr/>
        </p:nvSpPr>
        <p:spPr>
          <a:xfrm>
            <a:off x="1691640" y="4654296"/>
            <a:ext cx="9601200" cy="365760"/>
          </a:xfrm>
          <a:prstGeom prst="rect">
            <a:avLst/>
          </a:prstGeom>
          <a:noFill/>
        </p:spPr>
        <p:txBody>
          <a:bodyPr wrap="square" lIns="0" rIns="0" tIns="0" bIns="0" anchor="t">
            <a:spAutoFit/>
          </a:bodyPr>
          <a:lstStyle/>
          <a:p>
            <a:pPr algn="l">
              <a:lnSpc>
                <a:spcPct val="100000"/>
              </a:lnSpc>
              <a:spcBef>
                <a:spcPts val="0"/>
              </a:spcBef>
              <a:spcAft>
                <a:spcPts val="200"/>
              </a:spcAft>
            </a:pPr>
            <a:r>
              <a:rPr sz="1250" b="0" i="0">
                <a:solidFill>
                  <a:srgbClr val="5A6473"/>
                </a:solidFill>
                <a:latin typeface="Adobe Clean"/>
              </a:rPr>
              <a:t>Policy learning: group + tree rollout, potential reward</a:t>
            </a:r>
          </a:p>
        </p:txBody>
      </p:sp>
      <p:sp>
        <p:nvSpPr>
          <p:cNvPr id="19" name="Rounded Rectangle 18"/>
          <p:cNvSpPr/>
          <p:nvPr/>
        </p:nvSpPr>
        <p:spPr>
          <a:xfrm>
            <a:off x="548640" y="5184648"/>
            <a:ext cx="11064240" cy="1024128"/>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 y="5385816"/>
            <a:ext cx="640080" cy="621792"/>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349240"/>
            <a:ext cx="640080" cy="621792"/>
          </a:xfrm>
          <a:prstGeom prst="rect">
            <a:avLst/>
          </a:prstGeom>
          <a:noFill/>
        </p:spPr>
        <p:txBody>
          <a:bodyPr wrap="square" lIns="0" rIns="0" tIns="0" bIns="0" anchor="ctr">
            <a:spAutoFit/>
          </a:bodyPr>
          <a:lstStyle/>
          <a:p>
            <a:pPr algn="ctr">
              <a:lnSpc>
                <a:spcPct val="100000"/>
              </a:lnSpc>
              <a:spcBef>
                <a:spcPts val="0"/>
              </a:spcBef>
              <a:spcAft>
                <a:spcPts val="200"/>
              </a:spcAft>
            </a:pPr>
            <a:r>
              <a:rPr sz="2200" b="1" i="0">
                <a:solidFill>
                  <a:srgbClr val="FFFFFF"/>
                </a:solidFill>
                <a:latin typeface="Adobe Clean ExtraBold"/>
              </a:rPr>
              <a:t>04</a:t>
            </a:r>
          </a:p>
        </p:txBody>
      </p:sp>
      <p:sp>
        <p:nvSpPr>
          <p:cNvPr id="22" name="TextBox 21"/>
          <p:cNvSpPr txBox="1"/>
          <p:nvPr/>
        </p:nvSpPr>
        <p:spPr>
          <a:xfrm>
            <a:off x="1691640" y="5367528"/>
            <a:ext cx="9601200" cy="411480"/>
          </a:xfrm>
          <a:prstGeom prst="rect">
            <a:avLst/>
          </a:prstGeom>
          <a:noFill/>
        </p:spPr>
        <p:txBody>
          <a:bodyPr wrap="square" lIns="0" rIns="0" tIns="0" bIns="0" anchor="t">
            <a:spAutoFit/>
          </a:bodyPr>
          <a:lstStyle/>
          <a:p>
            <a:pPr algn="l">
              <a:lnSpc>
                <a:spcPct val="100000"/>
              </a:lnSpc>
              <a:spcBef>
                <a:spcPts val="0"/>
              </a:spcBef>
              <a:spcAft>
                <a:spcPts val="200"/>
              </a:spcAft>
            </a:pPr>
            <a:r>
              <a:rPr sz="1800" b="1" i="0">
                <a:solidFill>
                  <a:srgbClr val="21304A"/>
                </a:solidFill>
                <a:latin typeface="Adobe Clean ExtraBold"/>
              </a:rPr>
              <a:t>Results &amp; analysis</a:t>
            </a:r>
          </a:p>
        </p:txBody>
      </p:sp>
      <p:sp>
        <p:nvSpPr>
          <p:cNvPr id="23" name="TextBox 22"/>
          <p:cNvSpPr txBox="1"/>
          <p:nvPr/>
        </p:nvSpPr>
        <p:spPr>
          <a:xfrm>
            <a:off x="1691640" y="5788152"/>
            <a:ext cx="9601200" cy="365760"/>
          </a:xfrm>
          <a:prstGeom prst="rect">
            <a:avLst/>
          </a:prstGeom>
          <a:noFill/>
        </p:spPr>
        <p:txBody>
          <a:bodyPr wrap="square" lIns="0" rIns="0" tIns="0" bIns="0" anchor="t">
            <a:spAutoFit/>
          </a:bodyPr>
          <a:lstStyle/>
          <a:p>
            <a:pPr algn="l">
              <a:lnSpc>
                <a:spcPct val="100000"/>
              </a:lnSpc>
              <a:spcBef>
                <a:spcPts val="0"/>
              </a:spcBef>
              <a:spcAft>
                <a:spcPts val="200"/>
              </a:spcAft>
            </a:pPr>
            <a:r>
              <a:rPr sz="1250" b="0" i="0">
                <a:solidFill>
                  <a:srgbClr val="5A6473"/>
                </a:solidFill>
                <a:latin typeface="Adobe Clean"/>
              </a:rPr>
              <a:t>0%→68%, training dynamics, ablations, the real bottleneck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2286000"/>
            <a:ext cx="2011680" cy="1280160"/>
          </a:xfrm>
          <a:prstGeom prst="rect">
            <a:avLst/>
          </a:prstGeom>
          <a:noFill/>
        </p:spPr>
        <p:txBody>
          <a:bodyPr wrap="square" lIns="0" rIns="0" tIns="0" bIns="0" anchor="ctr">
            <a:spAutoFit/>
          </a:bodyPr>
          <a:lstStyle/>
          <a:p>
            <a:pPr algn="l">
              <a:lnSpc>
                <a:spcPct val="100000"/>
              </a:lnSpc>
              <a:spcBef>
                <a:spcPts val="0"/>
              </a:spcBef>
              <a:spcAft>
                <a:spcPts val="200"/>
              </a:spcAft>
            </a:pPr>
            <a:r>
              <a:rPr sz="9600" b="1" i="0">
                <a:solidFill>
                  <a:srgbClr val="2C3C58"/>
                </a:solidFill>
                <a:latin typeface="Adobe Clean ExtraBold"/>
              </a:rPr>
              <a:t>01</a:t>
            </a:r>
          </a:p>
        </p:txBody>
      </p:sp>
      <p:sp>
        <p:nvSpPr>
          <p:cNvPr id="4" name="TextBox 3"/>
          <p:cNvSpPr txBox="1"/>
          <p:nvPr/>
        </p:nvSpPr>
        <p:spPr>
          <a:xfrm>
            <a:off x="822959" y="3611880"/>
            <a:ext cx="10515600" cy="822960"/>
          </a:xfrm>
          <a:prstGeom prst="rect">
            <a:avLst/>
          </a:prstGeom>
          <a:noFill/>
        </p:spPr>
        <p:txBody>
          <a:bodyPr wrap="square" lIns="0" rIns="0" tIns="0" bIns="0" anchor="t">
            <a:spAutoFit/>
          </a:bodyPr>
          <a:lstStyle/>
          <a:p>
            <a:pPr algn="l">
              <a:lnSpc>
                <a:spcPct val="100000"/>
              </a:lnSpc>
              <a:spcBef>
                <a:spcPts val="0"/>
              </a:spcBef>
              <a:spcAft>
                <a:spcPts val="200"/>
              </a:spcAft>
            </a:pPr>
            <a:r>
              <a:rPr sz="3600" b="1" i="0">
                <a:solidFill>
                  <a:srgbClr val="FFFFFF"/>
                </a:solidFill>
                <a:latin typeface="Adobe Clean ExtraBold"/>
              </a:rPr>
              <a:t>The Task &amp; the Framework</a:t>
            </a:r>
          </a:p>
        </p:txBody>
      </p:sp>
      <p:cxnSp>
        <p:nvCxnSpPr>
          <p:cNvPr id="5" name="Connector 4"/>
          <p:cNvCxnSpPr/>
          <p:nvPr/>
        </p:nvCxnSpPr>
        <p:spPr>
          <a:xfrm>
            <a:off x="841247" y="4434840"/>
            <a:ext cx="2926081" cy="0"/>
          </a:xfrm>
          <a:prstGeom prst="bentConnector3">
            <a:avLst/>
          </a:prstGeom>
          <a:ln w="31750">
            <a:solidFill>
              <a:srgbClr val="EB1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7" y="4572000"/>
            <a:ext cx="9601200" cy="548640"/>
          </a:xfrm>
          <a:prstGeom prst="rect">
            <a:avLst/>
          </a:prstGeom>
          <a:noFill/>
        </p:spPr>
        <p:txBody>
          <a:bodyPr wrap="square" lIns="0" rIns="0" tIns="0" bIns="0" anchor="t">
            <a:spAutoFit/>
          </a:bodyPr>
          <a:lstStyle/>
          <a:p>
            <a:pPr algn="l">
              <a:lnSpc>
                <a:spcPct val="100000"/>
              </a:lnSpc>
              <a:spcBef>
                <a:spcPts val="0"/>
              </a:spcBef>
              <a:spcAft>
                <a:spcPts val="200"/>
              </a:spcAft>
            </a:pPr>
            <a:r>
              <a:rPr sz="1600" b="0" i="0">
                <a:solidFill>
                  <a:srgbClr val="AEB9CC"/>
                </a:solidFill>
                <a:latin typeface="Adobe Clean"/>
              </a:rPr>
              <a:t>Truss design as a sequential decision problem — and the system that learns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Optimization Task</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Reshape a pin-jointed truss until it is structurally sound — changing one member at a time.</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truss_m4.png"/>
          <p:cNvPicPr>
            <a:picLocks noChangeAspect="1"/>
          </p:cNvPicPr>
          <p:nvPr/>
        </p:nvPicPr>
        <p:blipFill>
          <a:blip r:embed="rId2"/>
          <a:stretch>
            <a:fillRect/>
          </a:stretch>
        </p:blipFill>
        <p:spPr>
          <a:xfrm>
            <a:off x="548640" y="1837806"/>
            <a:ext cx="5577840" cy="2359426"/>
          </a:xfrm>
          <a:prstGeom prst="rect">
            <a:avLst/>
          </a:prstGeom>
        </p:spPr>
      </p:pic>
      <p:sp>
        <p:nvSpPr>
          <p:cNvPr id="6" name="TextBox 5"/>
          <p:cNvSpPr txBox="1"/>
          <p:nvPr/>
        </p:nvSpPr>
        <p:spPr>
          <a:xfrm>
            <a:off x="548640" y="4343400"/>
            <a:ext cx="5577840" cy="457200"/>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Adobe Clean ExtraBold"/>
              </a:rPr>
              <a:t>State </a:t>
            </a:r>
            <a:r>
              <a:rPr sz="1250" b="1" i="1">
                <a:solidFill>
                  <a:srgbClr val="21304A"/>
                </a:solidFill>
                <a:latin typeface="Adobe Clean"/>
              </a:rPr>
              <a:t>s</a:t>
            </a:r>
            <a:r>
              <a:rPr sz="1250" b="0" i="0">
                <a:solidFill>
                  <a:srgbClr val="5A6473"/>
                </a:solidFill>
                <a:latin typeface="Adobe Clean"/>
              </a:rPr>
              <a:t> = joints, members, materials, cross-sections + the solver's verdict.</a:t>
            </a:r>
          </a:p>
        </p:txBody>
      </p:sp>
      <p:sp>
        <p:nvSpPr>
          <p:cNvPr id="7" name="TextBox 6"/>
          <p:cNvSpPr txBox="1"/>
          <p:nvPr/>
        </p:nvSpPr>
        <p:spPr>
          <a:xfrm>
            <a:off x="6446520" y="1691640"/>
            <a:ext cx="5212080" cy="365760"/>
          </a:xfrm>
          <a:prstGeom prst="rect">
            <a:avLst/>
          </a:prstGeom>
          <a:noFill/>
        </p:spPr>
        <p:txBody>
          <a:bodyPr wrap="square" lIns="0" rIns="0" tIns="0" bIns="0" anchor="t">
            <a:spAutoFit/>
          </a:bodyPr>
          <a:lstStyle/>
          <a:p>
            <a:pPr algn="l">
              <a:lnSpc>
                <a:spcPct val="100000"/>
              </a:lnSpc>
              <a:spcBef>
                <a:spcPts val="0"/>
              </a:spcBef>
              <a:spcAft>
                <a:spcPts val="200"/>
              </a:spcAft>
            </a:pPr>
            <a:r>
              <a:rPr sz="1500" b="1" i="0">
                <a:solidFill>
                  <a:srgbClr val="21304A"/>
                </a:solidFill>
                <a:latin typeface="Adobe Clean ExtraBold"/>
              </a:rPr>
              <a:t>Feasible = three checks pass at once</a:t>
            </a:r>
          </a:p>
        </p:txBody>
      </p:sp>
      <p:sp>
        <p:nvSpPr>
          <p:cNvPr id="8" name="Rounded Rectangle 7"/>
          <p:cNvSpPr/>
          <p:nvPr/>
        </p:nvSpPr>
        <p:spPr>
          <a:xfrm>
            <a:off x="6446520" y="2148840"/>
            <a:ext cx="5166360" cy="676656"/>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2258568"/>
            <a:ext cx="73152" cy="4572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93408" y="2240280"/>
            <a:ext cx="4846320" cy="292608"/>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21304A"/>
                </a:solidFill>
                <a:latin typeface="Adobe Clean ExtraBold"/>
              </a:rPr>
              <a:t>FOS_buckling ≥ 1.5</a:t>
            </a:r>
          </a:p>
        </p:txBody>
      </p:sp>
      <p:sp>
        <p:nvSpPr>
          <p:cNvPr id="11" name="TextBox 10"/>
          <p:cNvSpPr txBox="1"/>
          <p:nvPr/>
        </p:nvSpPr>
        <p:spPr>
          <a:xfrm>
            <a:off x="6693408" y="2542032"/>
            <a:ext cx="4846320" cy="256032"/>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the binding check — slender members buckle first</a:t>
            </a:r>
          </a:p>
        </p:txBody>
      </p:sp>
      <p:sp>
        <p:nvSpPr>
          <p:cNvPr id="12" name="Rounded Rectangle 11"/>
          <p:cNvSpPr/>
          <p:nvPr/>
        </p:nvSpPr>
        <p:spPr>
          <a:xfrm>
            <a:off x="6446520" y="2907792"/>
            <a:ext cx="5166360" cy="676656"/>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3017520"/>
            <a:ext cx="73152" cy="4572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93408" y="2999232"/>
            <a:ext cx="4846320" cy="292608"/>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21304A"/>
                </a:solidFill>
                <a:latin typeface="Adobe Clean ExtraBold"/>
              </a:rPr>
              <a:t>FOS_yielding ≥ 1.5</a:t>
            </a:r>
          </a:p>
        </p:txBody>
      </p:sp>
      <p:sp>
        <p:nvSpPr>
          <p:cNvPr id="15" name="TextBox 14"/>
          <p:cNvSpPr txBox="1"/>
          <p:nvPr/>
        </p:nvSpPr>
        <p:spPr>
          <a:xfrm>
            <a:off x="6693408" y="3300984"/>
            <a:ext cx="4846320" cy="256032"/>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the material must not yield under load</a:t>
            </a:r>
          </a:p>
        </p:txBody>
      </p:sp>
      <p:sp>
        <p:nvSpPr>
          <p:cNvPr id="16" name="Rounded Rectangle 15"/>
          <p:cNvSpPr/>
          <p:nvPr/>
        </p:nvSpPr>
        <p:spPr>
          <a:xfrm>
            <a:off x="6446520" y="3666744"/>
            <a:ext cx="5166360" cy="676656"/>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3776472"/>
            <a:ext cx="73152" cy="457200"/>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3408" y="3758183"/>
            <a:ext cx="4846320" cy="292608"/>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21304A"/>
                </a:solidFill>
                <a:latin typeface="Adobe Clean ExtraBold"/>
              </a:rPr>
              <a:t>mass ≤ limit</a:t>
            </a:r>
          </a:p>
        </p:txBody>
      </p:sp>
      <p:sp>
        <p:nvSpPr>
          <p:cNvPr id="19" name="TextBox 18"/>
          <p:cNvSpPr txBox="1"/>
          <p:nvPr/>
        </p:nvSpPr>
        <p:spPr>
          <a:xfrm>
            <a:off x="6693408" y="4059935"/>
            <a:ext cx="4846320" cy="256032"/>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and it must stay light — strength alone is not enough</a:t>
            </a:r>
          </a:p>
        </p:txBody>
      </p:sp>
      <p:sp>
        <p:nvSpPr>
          <p:cNvPr id="20" name="Rounded Rectangle 19"/>
          <p:cNvSpPr/>
          <p:nvPr/>
        </p:nvSpPr>
        <p:spPr>
          <a:xfrm>
            <a:off x="6446520" y="4526280"/>
            <a:ext cx="5166360" cy="1417320"/>
          </a:xfrm>
          <a:prstGeom prst="roundRect">
            <a:avLst>
              <a:gd name="adj" fmla="val 4500"/>
            </a:avLst>
          </a:prstGeom>
          <a:solidFill>
            <a:srgbClr val="EEF1F6"/>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4636008"/>
            <a:ext cx="73152" cy="1197864"/>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8" y="4645152"/>
            <a:ext cx="475488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The only move: one grammar edit per turn</a:t>
            </a:r>
          </a:p>
        </p:txBody>
      </p:sp>
      <p:sp>
        <p:nvSpPr>
          <p:cNvPr id="23" name="TextBox 22"/>
          <p:cNvSpPr txBox="1"/>
          <p:nvPr/>
        </p:nvSpPr>
        <p:spPr>
          <a:xfrm>
            <a:off x="6693408" y="4992624"/>
            <a:ext cx="4754880" cy="457200"/>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EB1000"/>
                </a:solidFill>
                <a:latin typeface="Courier New"/>
              </a:rPr>
              <a:t>SCALE_PARAM(4, r, 1.36)</a:t>
            </a:r>
          </a:p>
        </p:txBody>
      </p:sp>
      <p:sp>
        <p:nvSpPr>
          <p:cNvPr id="24" name="TextBox 23"/>
          <p:cNvSpPr txBox="1"/>
          <p:nvPr/>
        </p:nvSpPr>
        <p:spPr>
          <a:xfrm>
            <a:off x="6693408" y="5358384"/>
            <a:ext cx="4754880" cy="548640"/>
          </a:xfrm>
          <a:prstGeom prst="rect">
            <a:avLst/>
          </a:prstGeom>
          <a:noFill/>
        </p:spPr>
        <p:txBody>
          <a:bodyPr wrap="square" lIns="0" rIns="0" tIns="0" bIns="0" anchor="t">
            <a:spAutoFit/>
          </a:bodyPr>
          <a:lstStyle/>
          <a:p>
            <a:pPr algn="l">
              <a:lnSpc>
                <a:spcPct val="98000"/>
              </a:lnSpc>
              <a:spcBef>
                <a:spcPts val="0"/>
              </a:spcBef>
              <a:spcAft>
                <a:spcPts val="200"/>
              </a:spcAft>
            </a:pPr>
            <a:r>
              <a:rPr sz="1100" b="0" i="0">
                <a:solidFill>
                  <a:srgbClr val="5A6473"/>
                </a:solidFill>
                <a:latin typeface="Adobe Clean"/>
              </a:rPr>
              <a:t>— scale member 4's radius ×1.36. A physics solver (FEA) then re-scores the design. Six action types: SCALE, ADD, REMOVE, MODIFY, MOVE, SCALE_MULTI.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Framework at a Glance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One pipeline: data becomes format, format becomes policy — and the policy lives in a multi-turn FEA loop.</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783080"/>
            <a:ext cx="2542032" cy="15544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92807"/>
            <a:ext cx="73152" cy="13350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29384"/>
            <a:ext cx="2176272"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21304A"/>
                </a:solidFill>
                <a:latin typeface="Adobe Clean ExtraBold"/>
              </a:rPr>
              <a:t>Data</a:t>
            </a:r>
          </a:p>
        </p:txBody>
      </p:sp>
      <p:sp>
        <p:nvSpPr>
          <p:cNvPr id="8" name="TextBox 7"/>
          <p:cNvSpPr txBox="1"/>
          <p:nvPr/>
        </p:nvSpPr>
        <p:spPr>
          <a:xfrm>
            <a:off x="786384" y="2331720"/>
            <a:ext cx="2176272" cy="64008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5A6473"/>
                </a:solidFill>
                <a:latin typeface="Adobe Clean"/>
              </a:rPr>
              <a:t>5,000 DesignBench
expert traces</a:t>
            </a:r>
          </a:p>
        </p:txBody>
      </p:sp>
      <p:sp>
        <p:nvSpPr>
          <p:cNvPr id="9" name="TextBox 8"/>
          <p:cNvSpPr txBox="1"/>
          <p:nvPr/>
        </p:nvSpPr>
        <p:spPr>
          <a:xfrm>
            <a:off x="786384" y="2916936"/>
            <a:ext cx="2176272" cy="365760"/>
          </a:xfrm>
          <a:prstGeom prst="rect">
            <a:avLst/>
          </a:prstGeom>
          <a:noFill/>
        </p:spPr>
        <p:txBody>
          <a:bodyPr wrap="square" lIns="0" rIns="0" tIns="0" bIns="0" anchor="t">
            <a:spAutoFit/>
          </a:bodyPr>
          <a:lstStyle/>
          <a:p>
            <a:pPr algn="l">
              <a:lnSpc>
                <a:spcPct val="90000"/>
              </a:lnSpc>
              <a:spcBef>
                <a:spcPts val="0"/>
              </a:spcBef>
              <a:spcAft>
                <a:spcPts val="200"/>
              </a:spcAft>
            </a:pPr>
            <a:r>
              <a:rPr sz="950" b="0" i="1">
                <a:solidFill>
                  <a:srgbClr val="6E7C97"/>
                </a:solidFill>
                <a:latin typeface="Adobe Clean"/>
              </a:rPr>
              <a:t>multi-turn &lt;think&gt; +
action + FEA feedback</a:t>
            </a:r>
          </a:p>
        </p:txBody>
      </p:sp>
      <p:sp>
        <p:nvSpPr>
          <p:cNvPr id="10" name="Chevron 9"/>
          <p:cNvSpPr/>
          <p:nvPr/>
        </p:nvSpPr>
        <p:spPr>
          <a:xfrm>
            <a:off x="3145536" y="2441448"/>
            <a:ext cx="301752" cy="274320"/>
          </a:xfrm>
          <a:prstGeom prst="chevron">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1783080"/>
            <a:ext cx="2542032" cy="15544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892807"/>
            <a:ext cx="73152" cy="1335024"/>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1929384"/>
            <a:ext cx="2176272"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21304A"/>
                </a:solidFill>
                <a:latin typeface="Adobe Clean ExtraBold"/>
              </a:rPr>
              <a:t>SFT warmstart</a:t>
            </a:r>
          </a:p>
        </p:txBody>
      </p:sp>
      <p:sp>
        <p:nvSpPr>
          <p:cNvPr id="14" name="TextBox 13"/>
          <p:cNvSpPr txBox="1"/>
          <p:nvPr/>
        </p:nvSpPr>
        <p:spPr>
          <a:xfrm>
            <a:off x="3712463" y="2331720"/>
            <a:ext cx="2176272" cy="64008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5A6473"/>
                </a:solidFill>
                <a:latin typeface="Adobe Clean"/>
              </a:rPr>
              <a:t>teach the response
format &amp; grammar</a:t>
            </a:r>
          </a:p>
        </p:txBody>
      </p:sp>
      <p:sp>
        <p:nvSpPr>
          <p:cNvPr id="15" name="TextBox 14"/>
          <p:cNvSpPr txBox="1"/>
          <p:nvPr/>
        </p:nvSpPr>
        <p:spPr>
          <a:xfrm>
            <a:off x="3712463" y="2916936"/>
            <a:ext cx="2176272" cy="365760"/>
          </a:xfrm>
          <a:prstGeom prst="rect">
            <a:avLst/>
          </a:prstGeom>
          <a:noFill/>
        </p:spPr>
        <p:txBody>
          <a:bodyPr wrap="square" lIns="0" rIns="0" tIns="0" bIns="0" anchor="t">
            <a:spAutoFit/>
          </a:bodyPr>
          <a:lstStyle/>
          <a:p>
            <a:pPr algn="l">
              <a:lnSpc>
                <a:spcPct val="90000"/>
              </a:lnSpc>
              <a:spcBef>
                <a:spcPts val="0"/>
              </a:spcBef>
              <a:spcAft>
                <a:spcPts val="200"/>
              </a:spcAft>
            </a:pPr>
            <a:r>
              <a:rPr sz="950" b="0" i="1">
                <a:solidFill>
                  <a:srgbClr val="6E7C97"/>
                </a:solidFill>
                <a:latin typeface="Adobe Clean"/>
              </a:rPr>
              <a:t>selective loss masking
(Stage 2 of talk)</a:t>
            </a:r>
          </a:p>
        </p:txBody>
      </p:sp>
      <p:sp>
        <p:nvSpPr>
          <p:cNvPr id="16" name="Chevron 15"/>
          <p:cNvSpPr/>
          <p:nvPr/>
        </p:nvSpPr>
        <p:spPr>
          <a:xfrm>
            <a:off x="6071616" y="2441448"/>
            <a:ext cx="301752" cy="274320"/>
          </a:xfrm>
          <a:prstGeom prst="chevron">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0" y="1783080"/>
            <a:ext cx="2542032" cy="15544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1892807"/>
            <a:ext cx="73152" cy="133502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1929384"/>
            <a:ext cx="2176272"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21304A"/>
                </a:solidFill>
                <a:latin typeface="Adobe Clean ExtraBold"/>
              </a:rPr>
              <a:t>GRPO</a:t>
            </a:r>
          </a:p>
        </p:txBody>
      </p:sp>
      <p:sp>
        <p:nvSpPr>
          <p:cNvPr id="20" name="TextBox 19"/>
          <p:cNvSpPr txBox="1"/>
          <p:nvPr/>
        </p:nvSpPr>
        <p:spPr>
          <a:xfrm>
            <a:off x="6638544" y="2331720"/>
            <a:ext cx="2176272" cy="64008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5A6473"/>
                </a:solidFill>
                <a:latin typeface="Adobe Clean"/>
              </a:rPr>
              <a:t>learn the design
policy</a:t>
            </a:r>
          </a:p>
        </p:txBody>
      </p:sp>
      <p:sp>
        <p:nvSpPr>
          <p:cNvPr id="21" name="TextBox 20"/>
          <p:cNvSpPr txBox="1"/>
          <p:nvPr/>
        </p:nvSpPr>
        <p:spPr>
          <a:xfrm>
            <a:off x="6638544" y="2916936"/>
            <a:ext cx="2176272" cy="365760"/>
          </a:xfrm>
          <a:prstGeom prst="rect">
            <a:avLst/>
          </a:prstGeom>
          <a:noFill/>
        </p:spPr>
        <p:txBody>
          <a:bodyPr wrap="square" lIns="0" rIns="0" tIns="0" bIns="0" anchor="t">
            <a:spAutoFit/>
          </a:bodyPr>
          <a:lstStyle/>
          <a:p>
            <a:pPr algn="l">
              <a:lnSpc>
                <a:spcPct val="90000"/>
              </a:lnSpc>
              <a:spcBef>
                <a:spcPts val="0"/>
              </a:spcBef>
              <a:spcAft>
                <a:spcPts val="200"/>
              </a:spcAft>
            </a:pPr>
            <a:r>
              <a:rPr sz="950" b="0" i="1">
                <a:solidFill>
                  <a:srgbClr val="6E7C97"/>
                </a:solidFill>
                <a:latin typeface="Adobe Clean"/>
              </a:rPr>
              <a:t>group + tree rollout,
potential reward</a:t>
            </a:r>
          </a:p>
        </p:txBody>
      </p:sp>
      <p:sp>
        <p:nvSpPr>
          <p:cNvPr id="22" name="Chevron 21"/>
          <p:cNvSpPr/>
          <p:nvPr/>
        </p:nvSpPr>
        <p:spPr>
          <a:xfrm>
            <a:off x="8997696" y="2441448"/>
            <a:ext cx="301752" cy="274320"/>
          </a:xfrm>
          <a:prstGeom prst="chevron">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326880" y="1783080"/>
            <a:ext cx="2542032" cy="15544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26880" y="1892807"/>
            <a:ext cx="73152" cy="133502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64624" y="1929384"/>
            <a:ext cx="2176272"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21304A"/>
                </a:solidFill>
                <a:latin typeface="Adobe Clean ExtraBold"/>
              </a:rPr>
              <a:t>Policy</a:t>
            </a:r>
          </a:p>
        </p:txBody>
      </p:sp>
      <p:sp>
        <p:nvSpPr>
          <p:cNvPr id="26" name="TextBox 25"/>
          <p:cNvSpPr txBox="1"/>
          <p:nvPr/>
        </p:nvSpPr>
        <p:spPr>
          <a:xfrm>
            <a:off x="9564624" y="2331720"/>
            <a:ext cx="2176272" cy="64008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5A6473"/>
                </a:solidFill>
                <a:latin typeface="Adobe Clean"/>
              </a:rPr>
              <a:t>14B grammar-action
agent</a:t>
            </a:r>
          </a:p>
        </p:txBody>
      </p:sp>
      <p:sp>
        <p:nvSpPr>
          <p:cNvPr id="27" name="TextBox 26"/>
          <p:cNvSpPr txBox="1"/>
          <p:nvPr/>
        </p:nvSpPr>
        <p:spPr>
          <a:xfrm>
            <a:off x="9564624" y="2916936"/>
            <a:ext cx="2176272" cy="365760"/>
          </a:xfrm>
          <a:prstGeom prst="rect">
            <a:avLst/>
          </a:prstGeom>
          <a:noFill/>
        </p:spPr>
        <p:txBody>
          <a:bodyPr wrap="square" lIns="0" rIns="0" tIns="0" bIns="0" anchor="t">
            <a:spAutoFit/>
          </a:bodyPr>
          <a:lstStyle/>
          <a:p>
            <a:pPr algn="l">
              <a:lnSpc>
                <a:spcPct val="90000"/>
              </a:lnSpc>
              <a:spcBef>
                <a:spcPts val="0"/>
              </a:spcBef>
              <a:spcAft>
                <a:spcPts val="200"/>
              </a:spcAft>
            </a:pPr>
            <a:r>
              <a:rPr sz="950" b="0" i="1">
                <a:solidFill>
                  <a:srgbClr val="6E7C97"/>
                </a:solidFill>
                <a:latin typeface="Adobe Clean"/>
              </a:rPr>
              <a:t>deployed in the same
multi-turn loop</a:t>
            </a:r>
          </a:p>
        </p:txBody>
      </p:sp>
      <p:sp>
        <p:nvSpPr>
          <p:cNvPr id="28" name="Rounded Rectangle 27"/>
          <p:cNvSpPr/>
          <p:nvPr/>
        </p:nvSpPr>
        <p:spPr>
          <a:xfrm>
            <a:off x="548640" y="3703320"/>
            <a:ext cx="11064240" cy="1874519"/>
          </a:xfrm>
          <a:prstGeom prst="roundRect">
            <a:avLst>
              <a:gd name="adj" fmla="val 3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3849624"/>
            <a:ext cx="10424160" cy="365760"/>
          </a:xfrm>
          <a:prstGeom prst="rect">
            <a:avLst/>
          </a:prstGeom>
          <a:noFill/>
        </p:spPr>
        <p:txBody>
          <a:bodyPr wrap="square" lIns="0" rIns="0" tIns="0" bIns="0" anchor="t">
            <a:spAutoFit/>
          </a:bodyPr>
          <a:lstStyle/>
          <a:p>
            <a:pPr algn="l">
              <a:lnSpc>
                <a:spcPct val="100000"/>
              </a:lnSpc>
              <a:spcBef>
                <a:spcPts val="0"/>
              </a:spcBef>
              <a:spcAft>
                <a:spcPts val="200"/>
              </a:spcAft>
            </a:pPr>
            <a:r>
              <a:rPr sz="1500" b="1" i="0">
                <a:solidFill>
                  <a:srgbClr val="FFFFFF"/>
                </a:solidFill>
                <a:latin typeface="Adobe Clean ExtraBold"/>
              </a:rPr>
              <a:t>The multi-turn FEA environment</a:t>
            </a:r>
            <a:r>
              <a:rPr sz="1250" b="0" i="0">
                <a:solidFill>
                  <a:srgbClr val="AEB9CC"/>
                </a:solidFill>
                <a:latin typeface="Adobe Clean"/>
              </a:rPr>
              <a:t>    — identical at training (GRPO rollout) and at test (eval)</a:t>
            </a:r>
          </a:p>
        </p:txBody>
      </p:sp>
      <p:sp>
        <p:nvSpPr>
          <p:cNvPr id="30" name="Rounded Rectangle 29"/>
          <p:cNvSpPr/>
          <p:nvPr/>
        </p:nvSpPr>
        <p:spPr>
          <a:xfrm>
            <a:off x="868680" y="4361688"/>
            <a:ext cx="2487168" cy="868680"/>
          </a:xfrm>
          <a:prstGeom prst="roundRect">
            <a:avLst>
              <a:gd name="adj" fmla="val 6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1" y="4480559"/>
            <a:ext cx="2212848"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8FA0BE"/>
                </a:solidFill>
                <a:latin typeface="Adobe Clean ExtraBold"/>
              </a:rPr>
              <a:t>think</a:t>
            </a:r>
          </a:p>
        </p:txBody>
      </p:sp>
      <p:sp>
        <p:nvSpPr>
          <p:cNvPr id="32" name="TextBox 31"/>
          <p:cNvSpPr txBox="1"/>
          <p:nvPr/>
        </p:nvSpPr>
        <p:spPr>
          <a:xfrm>
            <a:off x="1033271" y="4791455"/>
            <a:ext cx="2212848" cy="384048"/>
          </a:xfrm>
          <a:prstGeom prst="rect">
            <a:avLst/>
          </a:prstGeom>
          <a:noFill/>
        </p:spPr>
        <p:txBody>
          <a:bodyPr wrap="square" lIns="0" rIns="0" tIns="0" bIns="0" anchor="t">
            <a:spAutoFit/>
          </a:bodyPr>
          <a:lstStyle/>
          <a:p>
            <a:pPr algn="l">
              <a:lnSpc>
                <a:spcPct val="92000"/>
              </a:lnSpc>
              <a:spcBef>
                <a:spcPts val="0"/>
              </a:spcBef>
              <a:spcAft>
                <a:spcPts val="200"/>
              </a:spcAft>
            </a:pPr>
            <a:r>
              <a:rPr sz="1050" b="0" i="0">
                <a:solidFill>
                  <a:srgbClr val="D7DEEC"/>
                </a:solidFill>
                <a:latin typeface="Adobe Clean"/>
              </a:rPr>
              <a:t>read the verdict, locate the fault</a:t>
            </a:r>
          </a:p>
        </p:txBody>
      </p:sp>
      <p:sp>
        <p:nvSpPr>
          <p:cNvPr id="33" name="TextBox 32"/>
          <p:cNvSpPr txBox="1"/>
          <p:nvPr/>
        </p:nvSpPr>
        <p:spPr>
          <a:xfrm>
            <a:off x="3337560" y="4526279"/>
            <a:ext cx="310896" cy="457200"/>
          </a:xfrm>
          <a:prstGeom prst="rect">
            <a:avLst/>
          </a:prstGeom>
          <a:noFill/>
        </p:spPr>
        <p:txBody>
          <a:bodyPr wrap="square" lIns="0" rIns="0" tIns="0" bIns="0" anchor="t">
            <a:spAutoFit/>
          </a:bodyPr>
          <a:lstStyle/>
          <a:p>
            <a:pPr algn="ctr">
              <a:lnSpc>
                <a:spcPct val="100000"/>
              </a:lnSpc>
              <a:spcBef>
                <a:spcPts val="0"/>
              </a:spcBef>
              <a:spcAft>
                <a:spcPts val="200"/>
              </a:spcAft>
            </a:pPr>
            <a:r>
              <a:rPr sz="2000" b="1" i="0">
                <a:solidFill>
                  <a:srgbClr val="7C8AA6"/>
                </a:solidFill>
                <a:latin typeface="Adobe Clean ExtraBold"/>
              </a:rPr>
              <a:t>→</a:t>
            </a:r>
          </a:p>
        </p:txBody>
      </p:sp>
      <p:sp>
        <p:nvSpPr>
          <p:cNvPr id="34" name="Rounded Rectangle 33"/>
          <p:cNvSpPr/>
          <p:nvPr/>
        </p:nvSpPr>
        <p:spPr>
          <a:xfrm>
            <a:off x="3630168" y="4361688"/>
            <a:ext cx="2487168" cy="868680"/>
          </a:xfrm>
          <a:prstGeom prst="roundRect">
            <a:avLst>
              <a:gd name="adj" fmla="val 6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94759" y="4480559"/>
            <a:ext cx="2212848"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9BE6C9"/>
                </a:solidFill>
                <a:latin typeface="Adobe Clean ExtraBold"/>
              </a:rPr>
              <a:t>act</a:t>
            </a:r>
          </a:p>
        </p:txBody>
      </p:sp>
      <p:sp>
        <p:nvSpPr>
          <p:cNvPr id="36" name="TextBox 35"/>
          <p:cNvSpPr txBox="1"/>
          <p:nvPr/>
        </p:nvSpPr>
        <p:spPr>
          <a:xfrm>
            <a:off x="3794759" y="4791455"/>
            <a:ext cx="2212848" cy="384048"/>
          </a:xfrm>
          <a:prstGeom prst="rect">
            <a:avLst/>
          </a:prstGeom>
          <a:noFill/>
        </p:spPr>
        <p:txBody>
          <a:bodyPr wrap="square" lIns="0" rIns="0" tIns="0" bIns="0" anchor="t">
            <a:spAutoFit/>
          </a:bodyPr>
          <a:lstStyle/>
          <a:p>
            <a:pPr algn="l">
              <a:lnSpc>
                <a:spcPct val="92000"/>
              </a:lnSpc>
              <a:spcBef>
                <a:spcPts val="0"/>
              </a:spcBef>
              <a:spcAft>
                <a:spcPts val="200"/>
              </a:spcAft>
            </a:pPr>
            <a:r>
              <a:rPr sz="1050" b="0" i="0">
                <a:solidFill>
                  <a:srgbClr val="D7DEEC"/>
                </a:solidFill>
                <a:latin typeface="Adobe Clean"/>
              </a:rPr>
              <a:t>emit one grammar action</a:t>
            </a:r>
          </a:p>
        </p:txBody>
      </p:sp>
      <p:sp>
        <p:nvSpPr>
          <p:cNvPr id="37" name="TextBox 36"/>
          <p:cNvSpPr txBox="1"/>
          <p:nvPr/>
        </p:nvSpPr>
        <p:spPr>
          <a:xfrm>
            <a:off x="6099048" y="4526279"/>
            <a:ext cx="310896" cy="457200"/>
          </a:xfrm>
          <a:prstGeom prst="rect">
            <a:avLst/>
          </a:prstGeom>
          <a:noFill/>
        </p:spPr>
        <p:txBody>
          <a:bodyPr wrap="square" lIns="0" rIns="0" tIns="0" bIns="0" anchor="t">
            <a:spAutoFit/>
          </a:bodyPr>
          <a:lstStyle/>
          <a:p>
            <a:pPr algn="ctr">
              <a:lnSpc>
                <a:spcPct val="100000"/>
              </a:lnSpc>
              <a:spcBef>
                <a:spcPts val="0"/>
              </a:spcBef>
              <a:spcAft>
                <a:spcPts val="200"/>
              </a:spcAft>
            </a:pPr>
            <a:r>
              <a:rPr sz="2000" b="1" i="0">
                <a:solidFill>
                  <a:srgbClr val="7C8AA6"/>
                </a:solidFill>
                <a:latin typeface="Adobe Clean ExtraBold"/>
              </a:rPr>
              <a:t>→</a:t>
            </a:r>
          </a:p>
        </p:txBody>
      </p:sp>
      <p:sp>
        <p:nvSpPr>
          <p:cNvPr id="38" name="Rounded Rectangle 37"/>
          <p:cNvSpPr/>
          <p:nvPr/>
        </p:nvSpPr>
        <p:spPr>
          <a:xfrm>
            <a:off x="6391656" y="4361688"/>
            <a:ext cx="2487168" cy="868680"/>
          </a:xfrm>
          <a:prstGeom prst="roundRect">
            <a:avLst>
              <a:gd name="adj" fmla="val 6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56248" y="4480559"/>
            <a:ext cx="2212848"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9BD2E6"/>
                </a:solidFill>
                <a:latin typeface="Adobe Clean ExtraBold"/>
              </a:rPr>
              <a:t>simulate</a:t>
            </a:r>
          </a:p>
        </p:txBody>
      </p:sp>
      <p:sp>
        <p:nvSpPr>
          <p:cNvPr id="40" name="TextBox 39"/>
          <p:cNvSpPr txBox="1"/>
          <p:nvPr/>
        </p:nvSpPr>
        <p:spPr>
          <a:xfrm>
            <a:off x="6556248" y="4791455"/>
            <a:ext cx="2212848" cy="384048"/>
          </a:xfrm>
          <a:prstGeom prst="rect">
            <a:avLst/>
          </a:prstGeom>
          <a:noFill/>
        </p:spPr>
        <p:txBody>
          <a:bodyPr wrap="square" lIns="0" rIns="0" tIns="0" bIns="0" anchor="t">
            <a:spAutoFit/>
          </a:bodyPr>
          <a:lstStyle/>
          <a:p>
            <a:pPr algn="l">
              <a:lnSpc>
                <a:spcPct val="92000"/>
              </a:lnSpc>
              <a:spcBef>
                <a:spcPts val="0"/>
              </a:spcBef>
              <a:spcAft>
                <a:spcPts val="200"/>
              </a:spcAft>
            </a:pPr>
            <a:r>
              <a:rPr sz="1050" b="0" i="0">
                <a:solidFill>
                  <a:srgbClr val="D7DEEC"/>
                </a:solidFill>
                <a:latin typeface="Adobe Clean"/>
              </a:rPr>
              <a:t>FEA re-scores the design</a:t>
            </a:r>
          </a:p>
        </p:txBody>
      </p:sp>
      <p:sp>
        <p:nvSpPr>
          <p:cNvPr id="41" name="TextBox 40"/>
          <p:cNvSpPr txBox="1"/>
          <p:nvPr/>
        </p:nvSpPr>
        <p:spPr>
          <a:xfrm>
            <a:off x="8860536" y="4526279"/>
            <a:ext cx="310896" cy="457200"/>
          </a:xfrm>
          <a:prstGeom prst="rect">
            <a:avLst/>
          </a:prstGeom>
          <a:noFill/>
        </p:spPr>
        <p:txBody>
          <a:bodyPr wrap="square" lIns="0" rIns="0" tIns="0" bIns="0" anchor="t">
            <a:spAutoFit/>
          </a:bodyPr>
          <a:lstStyle/>
          <a:p>
            <a:pPr algn="ctr">
              <a:lnSpc>
                <a:spcPct val="100000"/>
              </a:lnSpc>
              <a:spcBef>
                <a:spcPts val="0"/>
              </a:spcBef>
              <a:spcAft>
                <a:spcPts val="200"/>
              </a:spcAft>
            </a:pPr>
            <a:r>
              <a:rPr sz="2000" b="1" i="0">
                <a:solidFill>
                  <a:srgbClr val="7C8AA6"/>
                </a:solidFill>
                <a:latin typeface="Adobe Clean ExtraBold"/>
              </a:rPr>
              <a:t>→</a:t>
            </a:r>
          </a:p>
        </p:txBody>
      </p:sp>
      <p:sp>
        <p:nvSpPr>
          <p:cNvPr id="42" name="Rounded Rectangle 41"/>
          <p:cNvSpPr/>
          <p:nvPr/>
        </p:nvSpPr>
        <p:spPr>
          <a:xfrm>
            <a:off x="9153144" y="4361688"/>
            <a:ext cx="2487168" cy="868680"/>
          </a:xfrm>
          <a:prstGeom prst="roundRect">
            <a:avLst>
              <a:gd name="adj" fmla="val 6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17736" y="4480559"/>
            <a:ext cx="2212848"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FF8A7A"/>
                </a:solidFill>
                <a:latin typeface="Adobe Clean ExtraBold"/>
              </a:rPr>
              <a:t>observe</a:t>
            </a:r>
          </a:p>
        </p:txBody>
      </p:sp>
      <p:sp>
        <p:nvSpPr>
          <p:cNvPr id="44" name="TextBox 43"/>
          <p:cNvSpPr txBox="1"/>
          <p:nvPr/>
        </p:nvSpPr>
        <p:spPr>
          <a:xfrm>
            <a:off x="9317736" y="4791455"/>
            <a:ext cx="2212848" cy="384048"/>
          </a:xfrm>
          <a:prstGeom prst="rect">
            <a:avLst/>
          </a:prstGeom>
          <a:noFill/>
        </p:spPr>
        <p:txBody>
          <a:bodyPr wrap="square" lIns="0" rIns="0" tIns="0" bIns="0" anchor="t">
            <a:spAutoFit/>
          </a:bodyPr>
          <a:lstStyle/>
          <a:p>
            <a:pPr algn="l">
              <a:lnSpc>
                <a:spcPct val="92000"/>
              </a:lnSpc>
              <a:spcBef>
                <a:spcPts val="0"/>
              </a:spcBef>
              <a:spcAft>
                <a:spcPts val="200"/>
              </a:spcAft>
            </a:pPr>
            <a:r>
              <a:rPr sz="1050" b="0" i="0">
                <a:solidFill>
                  <a:srgbClr val="D7DEEC"/>
                </a:solidFill>
                <a:latin typeface="Adobe Clean"/>
              </a:rPr>
              <a:t>feedback names the critical member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Environment: A Faithful Multi-Turn Loop</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The model is trained exactly the way it is deployed — and it observes the one fact it needs.</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5303520" cy="32004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One turn of the rollout</a:t>
            </a:r>
          </a:p>
        </p:txBody>
      </p:sp>
      <p:sp>
        <p:nvSpPr>
          <p:cNvPr id="6" name="Rounded Rectangle 5"/>
          <p:cNvSpPr/>
          <p:nvPr/>
        </p:nvSpPr>
        <p:spPr>
          <a:xfrm>
            <a:off x="548640" y="2011680"/>
            <a:ext cx="5257800" cy="640080"/>
          </a:xfrm>
          <a:prstGeom prst="roundRect">
            <a:avLst>
              <a:gd name="adj" fmla="val 4500"/>
            </a:avLst>
          </a:prstGeom>
          <a:solidFill>
            <a:srgbClr val="EEF1F6"/>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21408"/>
            <a:ext cx="73152" cy="420623"/>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084832"/>
            <a:ext cx="493776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a:rPr>
              <a:t>s_t  state</a:t>
            </a:r>
          </a:p>
        </p:txBody>
      </p:sp>
      <p:sp>
        <p:nvSpPr>
          <p:cNvPr id="9" name="TextBox 8"/>
          <p:cNvSpPr txBox="1"/>
          <p:nvPr/>
        </p:nvSpPr>
        <p:spPr>
          <a:xfrm>
            <a:off x="786384" y="2377440"/>
            <a:ext cx="4937760" cy="256032"/>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truss + FEA verdict (infeasible)</a:t>
            </a:r>
          </a:p>
        </p:txBody>
      </p:sp>
      <p:sp>
        <p:nvSpPr>
          <p:cNvPr id="10" name="Down Arrow 9"/>
          <p:cNvSpPr/>
          <p:nvPr/>
        </p:nvSpPr>
        <p:spPr>
          <a:xfrm>
            <a:off x="3035808" y="2660904"/>
            <a:ext cx="274320" cy="201168"/>
          </a:xfrm>
          <a:prstGeom prst="down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852928"/>
            <a:ext cx="5257800" cy="6400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962656"/>
            <a:ext cx="73152" cy="420623"/>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926080"/>
            <a:ext cx="493776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Courier New"/>
              </a:rPr>
              <a:t>&lt;think&gt; … &lt;/think&gt;</a:t>
            </a:r>
          </a:p>
        </p:txBody>
      </p:sp>
      <p:sp>
        <p:nvSpPr>
          <p:cNvPr id="14" name="TextBox 13"/>
          <p:cNvSpPr txBox="1"/>
          <p:nvPr/>
        </p:nvSpPr>
        <p:spPr>
          <a:xfrm>
            <a:off x="786384" y="3218688"/>
            <a:ext cx="4937760" cy="256032"/>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reason about the failing member</a:t>
            </a:r>
          </a:p>
        </p:txBody>
      </p:sp>
      <p:sp>
        <p:nvSpPr>
          <p:cNvPr id="15" name="Down Arrow 14"/>
          <p:cNvSpPr/>
          <p:nvPr/>
        </p:nvSpPr>
        <p:spPr>
          <a:xfrm>
            <a:off x="3035808" y="3502152"/>
            <a:ext cx="274320" cy="201168"/>
          </a:xfrm>
          <a:prstGeom prst="down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694176"/>
            <a:ext cx="5257800" cy="640080"/>
          </a:xfrm>
          <a:prstGeom prst="roundRect">
            <a:avLst>
              <a:gd name="adj" fmla="val 4500"/>
            </a:avLst>
          </a:prstGeom>
          <a:solidFill>
            <a:srgbClr val="FBEAE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803904"/>
            <a:ext cx="73152" cy="420623"/>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3767328"/>
            <a:ext cx="493776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Courier New"/>
              </a:rPr>
              <a:t>&lt;action&gt; … &lt;/action&gt;</a:t>
            </a:r>
          </a:p>
        </p:txBody>
      </p:sp>
      <p:sp>
        <p:nvSpPr>
          <p:cNvPr id="19" name="TextBox 18"/>
          <p:cNvSpPr txBox="1"/>
          <p:nvPr/>
        </p:nvSpPr>
        <p:spPr>
          <a:xfrm>
            <a:off x="786384" y="4059936"/>
            <a:ext cx="4937760" cy="256032"/>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one grammar edit, e.g. SCALE_PARAM(4, r, 1.36)</a:t>
            </a:r>
          </a:p>
        </p:txBody>
      </p:sp>
      <p:sp>
        <p:nvSpPr>
          <p:cNvPr id="20" name="Down Arrow 19"/>
          <p:cNvSpPr/>
          <p:nvPr/>
        </p:nvSpPr>
        <p:spPr>
          <a:xfrm>
            <a:off x="3035808" y="4343400"/>
            <a:ext cx="274320" cy="201168"/>
          </a:xfrm>
          <a:prstGeom prst="down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4535424"/>
            <a:ext cx="5257800" cy="6400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645152"/>
            <a:ext cx="73152" cy="420623"/>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608576"/>
            <a:ext cx="493776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a:rPr>
              <a:t>FEA solver</a:t>
            </a:r>
          </a:p>
        </p:txBody>
      </p:sp>
      <p:sp>
        <p:nvSpPr>
          <p:cNvPr id="24" name="TextBox 23"/>
          <p:cNvSpPr txBox="1"/>
          <p:nvPr/>
        </p:nvSpPr>
        <p:spPr>
          <a:xfrm>
            <a:off x="786384" y="4901184"/>
            <a:ext cx="4937760" cy="256032"/>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execute the edit, re-score</a:t>
            </a:r>
          </a:p>
        </p:txBody>
      </p:sp>
      <p:sp>
        <p:nvSpPr>
          <p:cNvPr id="25" name="Down Arrow 24"/>
          <p:cNvSpPr/>
          <p:nvPr/>
        </p:nvSpPr>
        <p:spPr>
          <a:xfrm>
            <a:off x="3035808" y="5184648"/>
            <a:ext cx="274320" cy="201168"/>
          </a:xfrm>
          <a:prstGeom prst="down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5376672"/>
            <a:ext cx="5257800" cy="640080"/>
          </a:xfrm>
          <a:prstGeom prst="roundRect">
            <a:avLst>
              <a:gd name="adj" fmla="val 4500"/>
            </a:avLst>
          </a:prstGeom>
          <a:solidFill>
            <a:srgbClr val="EAF6EE"/>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486400"/>
            <a:ext cx="73152" cy="420623"/>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449824"/>
            <a:ext cx="493776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Courier New"/>
              </a:rPr>
              <a:t>[Simulation Result]</a:t>
            </a:r>
          </a:p>
        </p:txBody>
      </p:sp>
      <p:sp>
        <p:nvSpPr>
          <p:cNvPr id="29" name="TextBox 28"/>
          <p:cNvSpPr txBox="1"/>
          <p:nvPr/>
        </p:nvSpPr>
        <p:spPr>
          <a:xfrm>
            <a:off x="786384" y="5742432"/>
            <a:ext cx="4937760" cy="256032"/>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verdict + worst member(s): M4  →  s_{t+1}</a:t>
            </a:r>
          </a:p>
        </p:txBody>
      </p:sp>
      <p:sp>
        <p:nvSpPr>
          <p:cNvPr id="30" name="TextBox 29"/>
          <p:cNvSpPr txBox="1"/>
          <p:nvPr/>
        </p:nvSpPr>
        <p:spPr>
          <a:xfrm>
            <a:off x="548640" y="6199632"/>
            <a:ext cx="5257800" cy="365760"/>
          </a:xfrm>
          <a:prstGeom prst="rect">
            <a:avLst/>
          </a:prstGeom>
          <a:noFill/>
        </p:spPr>
        <p:txBody>
          <a:bodyPr wrap="square" lIns="0" rIns="0" tIns="0" bIns="0" anchor="t">
            <a:spAutoFit/>
          </a:bodyPr>
          <a:lstStyle/>
          <a:p>
            <a:pPr algn="ctr">
              <a:lnSpc>
                <a:spcPct val="100000"/>
              </a:lnSpc>
              <a:spcBef>
                <a:spcPts val="0"/>
              </a:spcBef>
              <a:spcAft>
                <a:spcPts val="200"/>
              </a:spcAft>
            </a:pPr>
            <a:r>
              <a:rPr sz="1100" b="0" i="1">
                <a:solidFill>
                  <a:srgbClr val="6E7C97"/>
                </a:solidFill>
                <a:latin typeface="Adobe Clean"/>
              </a:rPr>
              <a:t>repeat ≤ 5 turns, or stop when feasible</a:t>
            </a:r>
          </a:p>
        </p:txBody>
      </p:sp>
      <p:sp>
        <p:nvSpPr>
          <p:cNvPr id="31" name="TextBox 30"/>
          <p:cNvSpPr txBox="1"/>
          <p:nvPr/>
        </p:nvSpPr>
        <p:spPr>
          <a:xfrm>
            <a:off x="6263640" y="1645920"/>
            <a:ext cx="5394960" cy="32004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Two principles behind the loop</a:t>
            </a:r>
          </a:p>
        </p:txBody>
      </p:sp>
      <p:sp>
        <p:nvSpPr>
          <p:cNvPr id="32" name="Rounded Rectangle 31"/>
          <p:cNvSpPr/>
          <p:nvPr/>
        </p:nvSpPr>
        <p:spPr>
          <a:xfrm>
            <a:off x="6263640" y="2011680"/>
            <a:ext cx="5349240" cy="17830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2121408"/>
            <a:ext cx="73152" cy="15636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10528" y="2139696"/>
            <a:ext cx="4937760"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21304A"/>
                </a:solidFill>
                <a:latin typeface="Adobe Clean ExtraBold"/>
              </a:rPr>
              <a:t>1 · Protocol fidelity</a:t>
            </a:r>
          </a:p>
        </p:txBody>
      </p:sp>
      <p:sp>
        <p:nvSpPr>
          <p:cNvPr id="35" name="TextBox 34"/>
          <p:cNvSpPr txBox="1"/>
          <p:nvPr/>
        </p:nvSpPr>
        <p:spPr>
          <a:xfrm>
            <a:off x="6510528" y="2487168"/>
            <a:ext cx="4937760" cy="1234440"/>
          </a:xfrm>
          <a:prstGeom prst="rect">
            <a:avLst/>
          </a:prstGeom>
          <a:noFill/>
        </p:spPr>
        <p:txBody>
          <a:bodyPr wrap="square" lIns="0" rIns="0" tIns="0" bIns="0" anchor="t">
            <a:spAutoFit/>
          </a:bodyPr>
          <a:lstStyle/>
          <a:p>
            <a:pPr algn="l">
              <a:lnSpc>
                <a:spcPct val="102000"/>
              </a:lnSpc>
              <a:spcBef>
                <a:spcPts val="0"/>
              </a:spcBef>
              <a:spcAft>
                <a:spcPts val="200"/>
              </a:spcAft>
            </a:pPr>
            <a:r>
              <a:rPr sz="1250" b="0" i="0">
                <a:solidFill>
                  <a:srgbClr val="2C2C2C"/>
                </a:solidFill>
                <a:latin typeface="Adobe Clean"/>
              </a:rPr>
              <a:t>The policy makes </a:t>
            </a:r>
            <a:r>
              <a:rPr sz="1250" b="1" i="0">
                <a:solidFill>
                  <a:srgbClr val="21304A"/>
                </a:solidFill>
                <a:latin typeface="Adobe Clean ExtraBold"/>
              </a:rPr>
              <a:t>one action per turn</a:t>
            </a:r>
            <a:r>
              <a:rPr sz="1250" b="0" i="0">
                <a:solidFill>
                  <a:srgbClr val="2C2C2C"/>
                </a:solidFill>
                <a:latin typeface="Adobe Clean"/>
              </a:rPr>
              <a:t> and sees the solver's reply before the next. Training uses this exact loop, so the gradient rewards the behaviour we actually deploy — not a single-shot whole-trajectory dump.</a:t>
            </a:r>
          </a:p>
        </p:txBody>
      </p:sp>
      <p:sp>
        <p:nvSpPr>
          <p:cNvPr id="36" name="Rounded Rectangle 35"/>
          <p:cNvSpPr/>
          <p:nvPr/>
        </p:nvSpPr>
        <p:spPr>
          <a:xfrm>
            <a:off x="6263640" y="3931920"/>
            <a:ext cx="5349240" cy="17830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4041648"/>
            <a:ext cx="73152" cy="156362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4059936"/>
            <a:ext cx="4937760" cy="310896"/>
          </a:xfrm>
          <a:prstGeom prst="rect">
            <a:avLst/>
          </a:prstGeom>
          <a:noFill/>
        </p:spPr>
        <p:txBody>
          <a:bodyPr wrap="square" lIns="0" rIns="0" tIns="0" bIns="0" anchor="t">
            <a:spAutoFit/>
          </a:bodyPr>
          <a:lstStyle/>
          <a:p>
            <a:pPr algn="l">
              <a:lnSpc>
                <a:spcPct val="100000"/>
              </a:lnSpc>
              <a:spcBef>
                <a:spcPts val="0"/>
              </a:spcBef>
              <a:spcAft>
                <a:spcPts val="200"/>
              </a:spcAft>
            </a:pPr>
            <a:r>
              <a:rPr sz="1450" b="1" i="0">
                <a:solidFill>
                  <a:srgbClr val="21304A"/>
                </a:solidFill>
                <a:latin typeface="Adobe Clean ExtraBold"/>
              </a:rPr>
              <a:t>2 · Complete observation</a:t>
            </a:r>
          </a:p>
        </p:txBody>
      </p:sp>
      <p:sp>
        <p:nvSpPr>
          <p:cNvPr id="39" name="TextBox 38"/>
          <p:cNvSpPr txBox="1"/>
          <p:nvPr/>
        </p:nvSpPr>
        <p:spPr>
          <a:xfrm>
            <a:off x="6510528" y="4407408"/>
            <a:ext cx="4937760" cy="1280160"/>
          </a:xfrm>
          <a:prstGeom prst="rect">
            <a:avLst/>
          </a:prstGeom>
          <a:noFill/>
        </p:spPr>
        <p:txBody>
          <a:bodyPr wrap="square" lIns="0" rIns="0" tIns="0" bIns="0" anchor="t">
            <a:spAutoFit/>
          </a:bodyPr>
          <a:lstStyle/>
          <a:p>
            <a:pPr algn="l">
              <a:lnSpc>
                <a:spcPct val="102000"/>
              </a:lnSpc>
              <a:spcBef>
                <a:spcPts val="0"/>
              </a:spcBef>
              <a:spcAft>
                <a:spcPts val="200"/>
              </a:spcAft>
            </a:pPr>
            <a:r>
              <a:rPr sz="1250" b="0" i="0">
                <a:solidFill>
                  <a:srgbClr val="2C2C2C"/>
                </a:solidFill>
                <a:latin typeface="Adobe Clean"/>
              </a:rPr>
              <a:t>The FEA verdict names the </a:t>
            </a:r>
            <a:r>
              <a:rPr sz="1250" b="1" i="0">
                <a:solidFill>
                  <a:srgbClr val="EB1000"/>
                </a:solidFill>
                <a:latin typeface="Adobe Clean ExtraBold"/>
              </a:rPr>
              <a:t>buckling-critical member</a:t>
            </a:r>
            <a:r>
              <a:rPr sz="1250" b="0" i="0">
                <a:solidFill>
                  <a:srgbClr val="2C2C2C"/>
                </a:solidFill>
                <a:latin typeface="Adobe Clean"/>
              </a:rPr>
              <a:t> (min_fos_buckling_member_id → “worst member(s): M4”). Without it the policy can reason perfectly yet edit the wrong member.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A Real Trace, End to End</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auto_problem_000, champion policy — five of seven turns, infeasible → feasible.</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828800"/>
            <a:ext cx="1426464" cy="1371600"/>
          </a:xfrm>
          <a:prstGeom prst="roundRect">
            <a:avLst>
              <a:gd name="adj" fmla="val 6000"/>
            </a:avLst>
          </a:prstGeom>
          <a:solidFill>
            <a:srgbClr val="FBEAE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73152" cy="115214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EB1000"/>
                </a:solidFill>
                <a:latin typeface="Adobe Clean"/>
              </a:rPr>
              <a:t>s0</a:t>
            </a:r>
          </a:p>
        </p:txBody>
      </p:sp>
      <p:sp>
        <p:nvSpPr>
          <p:cNvPr id="8" name="TextBox 7"/>
          <p:cNvSpPr txBox="1"/>
          <p:nvPr/>
        </p:nvSpPr>
        <p:spPr>
          <a:xfrm>
            <a:off x="676656"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Adobe Clean"/>
              </a:rPr>
              <a:t>FOS_b 0.44
worst: M4</a:t>
            </a:r>
          </a:p>
        </p:txBody>
      </p:sp>
      <p:sp>
        <p:nvSpPr>
          <p:cNvPr id="9" name="Right Arrow 8"/>
          <p:cNvSpPr/>
          <p:nvPr/>
        </p:nvSpPr>
        <p:spPr>
          <a:xfrm>
            <a:off x="1975104" y="2395728"/>
            <a:ext cx="164592" cy="201168"/>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39696" y="1828800"/>
            <a:ext cx="1426464" cy="1371600"/>
          </a:xfrm>
          <a:prstGeom prst="roundRect">
            <a:avLst>
              <a:gd name="adj" fmla="val 6000"/>
            </a:avLst>
          </a:prstGeom>
          <a:solidFill>
            <a:srgbClr val="EEF1F6"/>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39696" y="1938528"/>
            <a:ext cx="73152" cy="115214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67712"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think</a:t>
            </a:r>
          </a:p>
        </p:txBody>
      </p:sp>
      <p:sp>
        <p:nvSpPr>
          <p:cNvPr id="13" name="TextBox 12"/>
          <p:cNvSpPr txBox="1"/>
          <p:nvPr/>
        </p:nvSpPr>
        <p:spPr>
          <a:xfrm>
            <a:off x="2267712"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Adobe Clean"/>
              </a:rPr>
              <a:t>“M4 (J6–J7) is
critical → grow it”</a:t>
            </a:r>
          </a:p>
        </p:txBody>
      </p:sp>
      <p:sp>
        <p:nvSpPr>
          <p:cNvPr id="14" name="Right Arrow 13"/>
          <p:cNvSpPr/>
          <p:nvPr/>
        </p:nvSpPr>
        <p:spPr>
          <a:xfrm>
            <a:off x="3566160" y="2395728"/>
            <a:ext cx="164592" cy="201168"/>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730752" y="1828800"/>
            <a:ext cx="1426464" cy="1371600"/>
          </a:xfrm>
          <a:prstGeom prst="roundRect">
            <a:avLst>
              <a:gd name="adj" fmla="val 60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30752" y="1938528"/>
            <a:ext cx="73152" cy="115214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58768"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EB1000"/>
                </a:solidFill>
                <a:latin typeface="Courier New"/>
              </a:rPr>
              <a:t>action</a:t>
            </a:r>
          </a:p>
        </p:txBody>
      </p:sp>
      <p:sp>
        <p:nvSpPr>
          <p:cNvPr id="18" name="TextBox 17"/>
          <p:cNvSpPr txBox="1"/>
          <p:nvPr/>
        </p:nvSpPr>
        <p:spPr>
          <a:xfrm>
            <a:off x="3858768"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Courier New"/>
              </a:rPr>
              <a:t>SCALE_PARAM
(4, r, 1.36)</a:t>
            </a:r>
          </a:p>
        </p:txBody>
      </p:sp>
      <p:sp>
        <p:nvSpPr>
          <p:cNvPr id="19" name="Right Arrow 18"/>
          <p:cNvSpPr/>
          <p:nvPr/>
        </p:nvSpPr>
        <p:spPr>
          <a:xfrm>
            <a:off x="5157216" y="2395728"/>
            <a:ext cx="164592" cy="201168"/>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21808" y="1828800"/>
            <a:ext cx="1426464" cy="1371600"/>
          </a:xfrm>
          <a:prstGeom prst="roundRect">
            <a:avLst>
              <a:gd name="adj" fmla="val 6000"/>
            </a:avLst>
          </a:prstGeom>
          <a:solidFill>
            <a:srgbClr val="FBEAE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21808" y="1938528"/>
            <a:ext cx="73152" cy="115214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9824"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EB1000"/>
                </a:solidFill>
                <a:latin typeface="Courier New"/>
              </a:rPr>
              <a:t>FEA</a:t>
            </a:r>
          </a:p>
        </p:txBody>
      </p:sp>
      <p:sp>
        <p:nvSpPr>
          <p:cNvPr id="23" name="TextBox 22"/>
          <p:cNvSpPr txBox="1"/>
          <p:nvPr/>
        </p:nvSpPr>
        <p:spPr>
          <a:xfrm>
            <a:off x="5449824"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Adobe Clean"/>
              </a:rPr>
              <a:t>FOS_b 0.48
worst: M4</a:t>
            </a:r>
          </a:p>
        </p:txBody>
      </p:sp>
      <p:sp>
        <p:nvSpPr>
          <p:cNvPr id="24" name="Right Arrow 23"/>
          <p:cNvSpPr/>
          <p:nvPr/>
        </p:nvSpPr>
        <p:spPr>
          <a:xfrm>
            <a:off x="6748272" y="2395728"/>
            <a:ext cx="164592" cy="201168"/>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912864" y="1828800"/>
            <a:ext cx="1426464" cy="1371600"/>
          </a:xfrm>
          <a:prstGeom prst="roundRect">
            <a:avLst>
              <a:gd name="adj" fmla="val 60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12864" y="1938528"/>
            <a:ext cx="73152" cy="115214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EB1000"/>
                </a:solidFill>
                <a:latin typeface="Courier New"/>
              </a:rPr>
              <a:t>action</a:t>
            </a:r>
          </a:p>
        </p:txBody>
      </p:sp>
      <p:sp>
        <p:nvSpPr>
          <p:cNvPr id="28" name="TextBox 27"/>
          <p:cNvSpPr txBox="1"/>
          <p:nvPr/>
        </p:nvSpPr>
        <p:spPr>
          <a:xfrm>
            <a:off x="7040880"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Courier New"/>
              </a:rPr>
              <a:t>SCALE_PARAM
(7, r, 1.50)</a:t>
            </a:r>
          </a:p>
        </p:txBody>
      </p:sp>
      <p:sp>
        <p:nvSpPr>
          <p:cNvPr id="29" name="Right Arrow 28"/>
          <p:cNvSpPr/>
          <p:nvPr/>
        </p:nvSpPr>
        <p:spPr>
          <a:xfrm>
            <a:off x="8339328" y="2395728"/>
            <a:ext cx="164592" cy="201168"/>
          </a:xfrm>
          <a:prstGeom prst="rightArrow">
            <a:avLst/>
          </a:prstGeom>
          <a:solidFill>
            <a:srgbClr val="6E7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03920" y="1828800"/>
            <a:ext cx="1426464" cy="1371600"/>
          </a:xfrm>
          <a:prstGeom prst="roundRect">
            <a:avLst>
              <a:gd name="adj" fmla="val 6000"/>
            </a:avLst>
          </a:prstGeom>
          <a:solidFill>
            <a:srgbClr val="F4F5F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03920" y="1938528"/>
            <a:ext cx="73152" cy="1152144"/>
          </a:xfrm>
          <a:prstGeom prst="rect">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1936"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5A6473"/>
                </a:solidFill>
                <a:latin typeface="Adobe Clean"/>
              </a:rPr>
              <a:t>…</a:t>
            </a:r>
          </a:p>
        </p:txBody>
      </p:sp>
      <p:sp>
        <p:nvSpPr>
          <p:cNvPr id="33" name="TextBox 32"/>
          <p:cNvSpPr txBox="1"/>
          <p:nvPr/>
        </p:nvSpPr>
        <p:spPr>
          <a:xfrm>
            <a:off x="8631936"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Adobe Clean"/>
              </a:rPr>
              <a:t>turns 3–6
grow critical
members</a:t>
            </a:r>
          </a:p>
        </p:txBody>
      </p:sp>
      <p:sp>
        <p:nvSpPr>
          <p:cNvPr id="34" name="Right Arrow 33"/>
          <p:cNvSpPr/>
          <p:nvPr/>
        </p:nvSpPr>
        <p:spPr>
          <a:xfrm>
            <a:off x="9930384" y="2395728"/>
            <a:ext cx="164592" cy="201168"/>
          </a:xfrm>
          <a:prstGeom prst="rightArrow">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094976" y="1828800"/>
            <a:ext cx="1426464" cy="1371600"/>
          </a:xfrm>
          <a:prstGeom prst="roundRect">
            <a:avLst>
              <a:gd name="adj" fmla="val 6000"/>
            </a:avLst>
          </a:prstGeom>
          <a:solidFill>
            <a:srgbClr val="EAF6EE"/>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94976" y="1938528"/>
            <a:ext cx="73152" cy="115214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22992" y="1938528"/>
            <a:ext cx="1207008"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1E8449"/>
                </a:solidFill>
                <a:latin typeface="Adobe Clean"/>
              </a:rPr>
              <a:t>FEASIBLE</a:t>
            </a:r>
          </a:p>
        </p:txBody>
      </p:sp>
      <p:sp>
        <p:nvSpPr>
          <p:cNvPr id="38" name="TextBox 37"/>
          <p:cNvSpPr txBox="1"/>
          <p:nvPr/>
        </p:nvSpPr>
        <p:spPr>
          <a:xfrm>
            <a:off x="10222992" y="2304288"/>
            <a:ext cx="1207008" cy="822960"/>
          </a:xfrm>
          <a:prstGeom prst="rect">
            <a:avLst/>
          </a:prstGeom>
          <a:noFill/>
        </p:spPr>
        <p:txBody>
          <a:bodyPr wrap="square" lIns="0" rIns="0" tIns="0" bIns="0" anchor="t">
            <a:spAutoFit/>
          </a:bodyPr>
          <a:lstStyle/>
          <a:p>
            <a:pPr algn="l">
              <a:lnSpc>
                <a:spcPct val="95000"/>
              </a:lnSpc>
              <a:spcBef>
                <a:spcPts val="0"/>
              </a:spcBef>
              <a:spcAft>
                <a:spcPts val="200"/>
              </a:spcAft>
            </a:pPr>
            <a:r>
              <a:rPr sz="1000" b="0" i="0">
                <a:solidFill>
                  <a:srgbClr val="2C2C2C"/>
                </a:solidFill>
                <a:latin typeface="Adobe Clean"/>
              </a:rPr>
              <a:t>FOS_b 1.69
in 7 turns</a:t>
            </a:r>
          </a:p>
        </p:txBody>
      </p:sp>
      <p:sp>
        <p:nvSpPr>
          <p:cNvPr id="39" name="Rounded Rectangle 38"/>
          <p:cNvSpPr/>
          <p:nvPr/>
        </p:nvSpPr>
        <p:spPr>
          <a:xfrm>
            <a:off x="548640" y="3611880"/>
            <a:ext cx="11064240" cy="1005840"/>
          </a:xfrm>
          <a:prstGeom prst="roundRect">
            <a:avLst>
              <a:gd name="adj" fmla="val 4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59" y="3730752"/>
            <a:ext cx="10515600" cy="365760"/>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EB1000"/>
                </a:solidFill>
                <a:latin typeface="Adobe Clean ExtraBold"/>
              </a:rPr>
              <a:t>What to notice</a:t>
            </a:r>
          </a:p>
        </p:txBody>
      </p:sp>
      <p:sp>
        <p:nvSpPr>
          <p:cNvPr id="41" name="TextBox 40"/>
          <p:cNvSpPr txBox="1"/>
          <p:nvPr/>
        </p:nvSpPr>
        <p:spPr>
          <a:xfrm>
            <a:off x="822959" y="4078224"/>
            <a:ext cx="10515600" cy="548640"/>
          </a:xfrm>
          <a:prstGeom prst="rect">
            <a:avLst/>
          </a:prstGeom>
          <a:noFill/>
        </p:spPr>
        <p:txBody>
          <a:bodyPr wrap="square" lIns="0" rIns="0" tIns="0" bIns="0" anchor="t">
            <a:spAutoFit/>
          </a:bodyPr>
          <a:lstStyle/>
          <a:p>
            <a:pPr algn="l">
              <a:lnSpc>
                <a:spcPct val="102000"/>
              </a:lnSpc>
              <a:spcBef>
                <a:spcPts val="0"/>
              </a:spcBef>
              <a:spcAft>
                <a:spcPts val="200"/>
              </a:spcAft>
            </a:pPr>
            <a:r>
              <a:rPr sz="1300" b="0" i="0">
                <a:solidFill>
                  <a:srgbClr val="2C2C2C"/>
                </a:solidFill>
                <a:latin typeface="Adobe Clean"/>
              </a:rPr>
              <a:t>Every turn the policy reads the named worst member from the feedback and edits </a:t>
            </a:r>
            <a:r>
              <a:rPr sz="1300" b="1" i="0">
                <a:solidFill>
                  <a:srgbClr val="21304A"/>
                </a:solidFill>
                <a:latin typeface="Adobe Clean ExtraBold"/>
              </a:rPr>
              <a:t>that exact member</a:t>
            </a:r>
            <a:r>
              <a:rPr sz="1300" b="0" i="0">
                <a:solidFill>
                  <a:srgbClr val="2C2C2C"/>
                </a:solidFill>
                <a:latin typeface="Adobe Clean"/>
              </a:rPr>
              <a:t>. FOS_buckling climbs monotonically past the 1.5 line. The reasoning was never exotic — it was correctly grounded by one fact in the observation.</a:t>
            </a:r>
          </a:p>
        </p:txBody>
      </p:sp>
      <p:sp>
        <p:nvSpPr>
          <p:cNvPr id="42" name="Rounded Rectangle 41"/>
          <p:cNvSpPr/>
          <p:nvPr/>
        </p:nvSpPr>
        <p:spPr>
          <a:xfrm>
            <a:off x="548640" y="4800600"/>
            <a:ext cx="11064240" cy="1417320"/>
          </a:xfrm>
          <a:prstGeom prst="roundRect">
            <a:avLst>
              <a:gd name="adj" fmla="val 3000"/>
            </a:avLst>
          </a:prstGeom>
          <a:solidFill>
            <a:srgbClr val="1B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4965192"/>
            <a:ext cx="1060704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8FA0BE"/>
                </a:solidFill>
                <a:latin typeface="Adobe Clean ExtraBold"/>
              </a:rPr>
              <a:t>champion · auto_problem_000 · turn 0</a:t>
            </a:r>
          </a:p>
        </p:txBody>
      </p:sp>
      <p:sp>
        <p:nvSpPr>
          <p:cNvPr id="44" name="TextBox 43"/>
          <p:cNvSpPr txBox="1"/>
          <p:nvPr/>
        </p:nvSpPr>
        <p:spPr>
          <a:xfrm>
            <a:off x="804672" y="5312664"/>
            <a:ext cx="10607040" cy="768096"/>
          </a:xfrm>
          <a:prstGeom prst="rect">
            <a:avLst/>
          </a:prstGeom>
          <a:noFill/>
        </p:spPr>
        <p:txBody>
          <a:bodyPr wrap="square" lIns="0" rIns="0" tIns="0" bIns="0" anchor="t">
            <a:spAutoFit/>
          </a:bodyPr>
          <a:lstStyle/>
          <a:p>
            <a:pPr algn="l">
              <a:lnSpc>
                <a:spcPct val="106000"/>
              </a:lnSpc>
              <a:spcBef>
                <a:spcPts val="0"/>
              </a:spcBef>
              <a:spcAft>
                <a:spcPts val="150"/>
              </a:spcAft>
            </a:pPr>
            <a:r>
              <a:rPr sz="1250" b="0" i="0">
                <a:solidFill>
                  <a:srgbClr val="8FA0BE"/>
                </a:solidFill>
                <a:latin typeface="Courier New"/>
              </a:rPr>
              <a:t>&lt;think&gt; </a:t>
            </a:r>
            <a:r>
              <a:rPr sz="1250" b="0" i="0">
                <a:solidFill>
                  <a:srgbClr val="E7ECF5"/>
                </a:solidFill>
                <a:latin typeface="Courier New"/>
              </a:rPr>
              <a:t>The buckling FOS is 0.44, far below 1.5. The worst member is </a:t>
            </a:r>
            <a:r>
              <a:rPr sz="1250" b="0" i="0">
                <a:solidFill>
                  <a:srgbClr val="FF8A7A"/>
                </a:solidFill>
                <a:latin typeface="Courier New"/>
              </a:rPr>
              <a:t>M4 (J6–J7)</a:t>
            </a:r>
            <a:r>
              <a:rPr sz="1250" b="0" i="0">
                <a:solidFill>
                  <a:srgbClr val="E7ECF5"/>
                </a:solidFill>
                <a:latin typeface="Courier New"/>
              </a:rPr>
              <a:t>. Since it is critical,</a:t>
            </a:r>
          </a:p>
          <a:p>
            <a:pPr algn="l">
              <a:lnSpc>
                <a:spcPct val="106000"/>
              </a:lnSpc>
              <a:spcBef>
                <a:spcPts val="0"/>
              </a:spcBef>
              <a:spcAft>
                <a:spcPts val="150"/>
              </a:spcAft>
            </a:pPr>
            <a:r>
              <a:rPr sz="1250" b="0" i="0">
                <a:solidFill>
                  <a:srgbClr val="E7ECF5"/>
                </a:solidFill>
                <a:latin typeface="Courier New"/>
              </a:rPr>
              <a:t>increasing its cross-sectional area should help most. Current r = 0.0380 m … grow the radius. </a:t>
            </a:r>
            <a:r>
              <a:rPr sz="1250" b="0" i="0">
                <a:solidFill>
                  <a:srgbClr val="8FA0BE"/>
                </a:solidFill>
                <a:latin typeface="Courier New"/>
              </a:rPr>
              <a:t>&lt;/think&gt;</a:t>
            </a:r>
          </a:p>
          <a:p>
            <a:pPr algn="l">
              <a:lnSpc>
                <a:spcPct val="106000"/>
              </a:lnSpc>
              <a:spcBef>
                <a:spcPts val="0"/>
              </a:spcBef>
              <a:spcAft>
                <a:spcPts val="150"/>
              </a:spcAft>
            </a:pPr>
            <a:r>
              <a:rPr sz="1250" b="0" i="0">
                <a:solidFill>
                  <a:srgbClr val="8FA0BE"/>
                </a:solidFill>
                <a:latin typeface="Courier New"/>
              </a:rPr>
              <a:t>&lt;action&gt;</a:t>
            </a:r>
            <a:r>
              <a:rPr sz="1250" b="0" i="0">
                <a:solidFill>
                  <a:srgbClr val="9BE6C9"/>
                </a:solidFill>
                <a:latin typeface="Courier New"/>
              </a:rPr>
              <a:t>SCALE_PARAM(4, r, 1.36)</a:t>
            </a:r>
            <a:r>
              <a:rPr sz="1250" b="0" i="0">
                <a:solidFill>
                  <a:srgbClr val="8FA0BE"/>
                </a:solidFill>
                <a:latin typeface="Courier New"/>
              </a:rPr>
              <a:t>&lt;/action&gt;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2286000"/>
            <a:ext cx="2011680" cy="1280160"/>
          </a:xfrm>
          <a:prstGeom prst="rect">
            <a:avLst/>
          </a:prstGeom>
          <a:noFill/>
        </p:spPr>
        <p:txBody>
          <a:bodyPr wrap="square" lIns="0" rIns="0" tIns="0" bIns="0" anchor="ctr">
            <a:spAutoFit/>
          </a:bodyPr>
          <a:lstStyle/>
          <a:p>
            <a:pPr algn="l">
              <a:lnSpc>
                <a:spcPct val="100000"/>
              </a:lnSpc>
              <a:spcBef>
                <a:spcPts val="0"/>
              </a:spcBef>
              <a:spcAft>
                <a:spcPts val="200"/>
              </a:spcAft>
            </a:pPr>
            <a:r>
              <a:rPr sz="9600" b="1" i="0">
                <a:solidFill>
                  <a:srgbClr val="2C3C58"/>
                </a:solidFill>
                <a:latin typeface="Adobe Clean ExtraBold"/>
              </a:rPr>
              <a:t>02</a:t>
            </a:r>
          </a:p>
        </p:txBody>
      </p:sp>
      <p:sp>
        <p:nvSpPr>
          <p:cNvPr id="4" name="TextBox 3"/>
          <p:cNvSpPr txBox="1"/>
          <p:nvPr/>
        </p:nvSpPr>
        <p:spPr>
          <a:xfrm>
            <a:off x="822959" y="3611880"/>
            <a:ext cx="10515600" cy="822960"/>
          </a:xfrm>
          <a:prstGeom prst="rect">
            <a:avLst/>
          </a:prstGeom>
          <a:noFill/>
        </p:spPr>
        <p:txBody>
          <a:bodyPr wrap="square" lIns="0" rIns="0" tIns="0" bIns="0" anchor="t">
            <a:spAutoFit/>
          </a:bodyPr>
          <a:lstStyle/>
          <a:p>
            <a:pPr algn="l">
              <a:lnSpc>
                <a:spcPct val="100000"/>
              </a:lnSpc>
              <a:spcBef>
                <a:spcPts val="0"/>
              </a:spcBef>
              <a:spcAft>
                <a:spcPts val="200"/>
              </a:spcAft>
            </a:pPr>
            <a:r>
              <a:rPr sz="3600" b="1" i="0">
                <a:solidFill>
                  <a:srgbClr val="FFFFFF"/>
                </a:solidFill>
                <a:latin typeface="Adobe Clean ExtraBold"/>
              </a:rPr>
              <a:t>Stage 1 — SFT Warmstart</a:t>
            </a:r>
          </a:p>
        </p:txBody>
      </p:sp>
      <p:cxnSp>
        <p:nvCxnSpPr>
          <p:cNvPr id="5" name="Connector 4"/>
          <p:cNvCxnSpPr/>
          <p:nvPr/>
        </p:nvCxnSpPr>
        <p:spPr>
          <a:xfrm>
            <a:off x="841247" y="4434840"/>
            <a:ext cx="2926081" cy="0"/>
          </a:xfrm>
          <a:prstGeom prst="bentConnector3">
            <a:avLst/>
          </a:prstGeom>
          <a:ln w="31750">
            <a:solidFill>
              <a:srgbClr val="EB1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7" y="4572000"/>
            <a:ext cx="9601200" cy="548640"/>
          </a:xfrm>
          <a:prstGeom prst="rect">
            <a:avLst/>
          </a:prstGeom>
          <a:noFill/>
        </p:spPr>
        <p:txBody>
          <a:bodyPr wrap="square" lIns="0" rIns="0" tIns="0" bIns="0" anchor="t">
            <a:spAutoFit/>
          </a:bodyPr>
          <a:lstStyle/>
          <a:p>
            <a:pPr algn="l">
              <a:lnSpc>
                <a:spcPct val="100000"/>
              </a:lnSpc>
              <a:spcBef>
                <a:spcPts val="0"/>
              </a:spcBef>
              <a:spcAft>
                <a:spcPts val="200"/>
              </a:spcAft>
            </a:pPr>
            <a:r>
              <a:rPr sz="1600" b="0" i="0">
                <a:solidFill>
                  <a:srgbClr val="AEB9CC"/>
                </a:solidFill>
                <a:latin typeface="Adobe Clean"/>
              </a:rPr>
              <a:t>Teach the model to speak the grammar — supervise what it writes, mask what it only reads.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SFT Warmstart: Format, Not Strategy</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Reformat 5,000 expert traces into the exact inference-time conversation, then fine-tune on it.</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5486400" cy="32004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The data transform</a:t>
            </a:r>
          </a:p>
        </p:txBody>
      </p:sp>
      <p:sp>
        <p:nvSpPr>
          <p:cNvPr id="6" name="Rounded Rectangle 5"/>
          <p:cNvSpPr/>
          <p:nvPr/>
        </p:nvSpPr>
        <p:spPr>
          <a:xfrm>
            <a:off x="548640" y="2011680"/>
            <a:ext cx="5486400" cy="841248"/>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21408"/>
            <a:ext cx="73152" cy="621792"/>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130552"/>
            <a:ext cx="512064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Merge the setup</a:t>
            </a:r>
          </a:p>
        </p:txBody>
      </p:sp>
      <p:sp>
        <p:nvSpPr>
          <p:cNvPr id="9" name="TextBox 8"/>
          <p:cNvSpPr txBox="1"/>
          <p:nvPr/>
        </p:nvSpPr>
        <p:spPr>
          <a:xfrm>
            <a:off x="786384" y="2459736"/>
            <a:ext cx="5120640" cy="347472"/>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system[0] problem + system[1] initial state  →  one user turn</a:t>
            </a:r>
          </a:p>
        </p:txBody>
      </p:sp>
      <p:sp>
        <p:nvSpPr>
          <p:cNvPr id="10" name="Rounded Rectangle 9"/>
          <p:cNvSpPr/>
          <p:nvPr/>
        </p:nvSpPr>
        <p:spPr>
          <a:xfrm>
            <a:off x="548640" y="2962656"/>
            <a:ext cx="5486400" cy="841248"/>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072384"/>
            <a:ext cx="73152" cy="62179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081528"/>
            <a:ext cx="512064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Remap FEA feedback</a:t>
            </a:r>
          </a:p>
        </p:txBody>
      </p:sp>
      <p:sp>
        <p:nvSpPr>
          <p:cNvPr id="13" name="TextBox 12"/>
          <p:cNvSpPr txBox="1"/>
          <p:nvPr/>
        </p:nvSpPr>
        <p:spPr>
          <a:xfrm>
            <a:off x="786384" y="3410712"/>
            <a:ext cx="5120640" cy="347472"/>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every solver message  →  user role, prefixed “[Simulation Result]”</a:t>
            </a:r>
          </a:p>
        </p:txBody>
      </p:sp>
      <p:sp>
        <p:nvSpPr>
          <p:cNvPr id="14" name="Rounded Rectangle 13"/>
          <p:cNvSpPr/>
          <p:nvPr/>
        </p:nvSpPr>
        <p:spPr>
          <a:xfrm>
            <a:off x="548640" y="3913632"/>
            <a:ext cx="5486400" cy="841248"/>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23360"/>
            <a:ext cx="73152" cy="621792"/>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032504"/>
            <a:ext cx="512064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Surface the action</a:t>
            </a:r>
          </a:p>
        </p:txBody>
      </p:sp>
      <p:sp>
        <p:nvSpPr>
          <p:cNvPr id="17" name="TextBox 16"/>
          <p:cNvSpPr txBox="1"/>
          <p:nvPr/>
        </p:nvSpPr>
        <p:spPr>
          <a:xfrm>
            <a:off x="786384" y="4361688"/>
            <a:ext cx="5120640" cy="347472"/>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pull the edit out of &lt;think&gt;  →  its own &lt;action&gt;…&lt;/action&gt; tag</a:t>
            </a:r>
          </a:p>
        </p:txBody>
      </p:sp>
      <p:sp>
        <p:nvSpPr>
          <p:cNvPr id="18" name="TextBox 17"/>
          <p:cNvSpPr txBox="1"/>
          <p:nvPr/>
        </p:nvSpPr>
        <p:spPr>
          <a:xfrm>
            <a:off x="548640" y="4882896"/>
            <a:ext cx="5486400" cy="640080"/>
          </a:xfrm>
          <a:prstGeom prst="rect">
            <a:avLst/>
          </a:prstGeom>
          <a:noFill/>
        </p:spPr>
        <p:txBody>
          <a:bodyPr wrap="square" lIns="0" rIns="0" tIns="0" bIns="0" anchor="t">
            <a:spAutoFit/>
          </a:bodyPr>
          <a:lstStyle/>
          <a:p>
            <a:pPr algn="l">
              <a:lnSpc>
                <a:spcPct val="100000"/>
              </a:lnSpc>
              <a:spcBef>
                <a:spcPts val="0"/>
              </a:spcBef>
              <a:spcAft>
                <a:spcPts val="200"/>
              </a:spcAft>
            </a:pPr>
            <a:r>
              <a:rPr sz="1200" b="0" i="0">
                <a:solidFill>
                  <a:srgbClr val="2C2C2C"/>
                </a:solidFill>
                <a:latin typeface="Adobe Clean"/>
              </a:rPr>
              <a:t>Result: a clean </a:t>
            </a:r>
            <a:r>
              <a:rPr sz="1200" b="1" i="0">
                <a:solidFill>
                  <a:srgbClr val="21304A"/>
                </a:solidFill>
                <a:latin typeface="Courier New"/>
              </a:rPr>
              <a:t>system → user → assistant → user → …</a:t>
            </a:r>
            <a:r>
              <a:rPr sz="1200" b="0" i="0">
                <a:solidFill>
                  <a:srgbClr val="2C2C2C"/>
                </a:solidFill>
                <a:latin typeface="Adobe Clean"/>
              </a:rPr>
              <a:t> multi-turn chat that matches the rollout exactly.</a:t>
            </a:r>
          </a:p>
        </p:txBody>
      </p:sp>
      <p:sp>
        <p:nvSpPr>
          <p:cNvPr id="19" name="Rounded Rectangle 18"/>
          <p:cNvSpPr/>
          <p:nvPr/>
        </p:nvSpPr>
        <p:spPr>
          <a:xfrm>
            <a:off x="6355080" y="1783080"/>
            <a:ext cx="5257800" cy="1965960"/>
          </a:xfrm>
          <a:prstGeom prst="roundRect">
            <a:avLst>
              <a:gd name="adj" fmla="val 4500"/>
            </a:avLst>
          </a:prstGeom>
          <a:solidFill>
            <a:srgbClr val="EAF6EE"/>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1892807"/>
            <a:ext cx="73152" cy="174650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1901952"/>
            <a:ext cx="484632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1E8449"/>
                </a:solidFill>
                <a:latin typeface="Adobe Clean ExtraBold"/>
              </a:rPr>
              <a:t>What warmstart teaches</a:t>
            </a:r>
          </a:p>
        </p:txBody>
      </p:sp>
      <p:sp>
        <p:nvSpPr>
          <p:cNvPr id="22" name="TextBox 21"/>
          <p:cNvSpPr txBox="1"/>
          <p:nvPr/>
        </p:nvSpPr>
        <p:spPr>
          <a:xfrm>
            <a:off x="6601968" y="2286000"/>
            <a:ext cx="4846320" cy="411480"/>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1E8449"/>
                </a:solidFill>
                <a:latin typeface="Adobe Clean ExtraBold"/>
              </a:rPr>
              <a:t>✓  </a:t>
            </a:r>
            <a:r>
              <a:rPr sz="1200" b="0" i="0">
                <a:solidFill>
                  <a:srgbClr val="2C2C2C"/>
                </a:solidFill>
                <a:latin typeface="Adobe Clean"/>
              </a:rPr>
              <a:t>the output format &lt;think&gt;…&lt;/think&gt; &lt;action&gt;…&lt;/action&gt;</a:t>
            </a:r>
          </a:p>
        </p:txBody>
      </p:sp>
      <p:sp>
        <p:nvSpPr>
          <p:cNvPr id="23" name="TextBox 22"/>
          <p:cNvSpPr txBox="1"/>
          <p:nvPr/>
        </p:nvSpPr>
        <p:spPr>
          <a:xfrm>
            <a:off x="6601968" y="2743200"/>
            <a:ext cx="4846320" cy="411480"/>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1E8449"/>
                </a:solidFill>
                <a:latin typeface="Adobe Clean ExtraBold"/>
              </a:rPr>
              <a:t>✓  </a:t>
            </a:r>
            <a:r>
              <a:rPr sz="1200" b="0" i="0">
                <a:solidFill>
                  <a:srgbClr val="2C2C2C"/>
                </a:solidFill>
                <a:latin typeface="Adobe Clean"/>
              </a:rPr>
              <a:t>the six-action grammar syntax and arguments</a:t>
            </a:r>
          </a:p>
        </p:txBody>
      </p:sp>
      <p:sp>
        <p:nvSpPr>
          <p:cNvPr id="24" name="TextBox 23"/>
          <p:cNvSpPr txBox="1"/>
          <p:nvPr/>
        </p:nvSpPr>
        <p:spPr>
          <a:xfrm>
            <a:off x="6601968" y="3200400"/>
            <a:ext cx="4846320" cy="411480"/>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1E8449"/>
                </a:solidFill>
                <a:latin typeface="Adobe Clean ExtraBold"/>
              </a:rPr>
              <a:t>✓  </a:t>
            </a:r>
            <a:r>
              <a:rPr sz="1200" b="0" i="0">
                <a:solidFill>
                  <a:srgbClr val="2C2C2C"/>
                </a:solidFill>
                <a:latin typeface="Adobe Clean"/>
              </a:rPr>
              <a:t>turn-taking: read [Simulation Result], then act</a:t>
            </a:r>
          </a:p>
        </p:txBody>
      </p:sp>
      <p:sp>
        <p:nvSpPr>
          <p:cNvPr id="25" name="Rounded Rectangle 24"/>
          <p:cNvSpPr/>
          <p:nvPr/>
        </p:nvSpPr>
        <p:spPr>
          <a:xfrm>
            <a:off x="6355080" y="3931920"/>
            <a:ext cx="5257800" cy="1783080"/>
          </a:xfrm>
          <a:prstGeom prst="roundRect">
            <a:avLst>
              <a:gd name="adj" fmla="val 4500"/>
            </a:avLst>
          </a:prstGeom>
          <a:solidFill>
            <a:srgbClr val="F4F5F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55080" y="4041648"/>
            <a:ext cx="73152" cy="1563624"/>
          </a:xfrm>
          <a:prstGeom prst="rect">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1968" y="4050791"/>
            <a:ext cx="484632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5A6473"/>
                </a:solidFill>
                <a:latin typeface="Adobe Clean ExtraBold"/>
              </a:rPr>
              <a:t>What it deliberately does NOT teach</a:t>
            </a:r>
          </a:p>
        </p:txBody>
      </p:sp>
      <p:sp>
        <p:nvSpPr>
          <p:cNvPr id="28" name="TextBox 27"/>
          <p:cNvSpPr txBox="1"/>
          <p:nvPr/>
        </p:nvSpPr>
        <p:spPr>
          <a:xfrm>
            <a:off x="6601968" y="4434840"/>
            <a:ext cx="4846320" cy="411480"/>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EB1000"/>
                </a:solidFill>
                <a:latin typeface="Adobe Clean ExtraBold"/>
              </a:rPr>
              <a:t>✗  </a:t>
            </a:r>
            <a:r>
              <a:rPr sz="1200" b="0" i="0">
                <a:solidFill>
                  <a:srgbClr val="2C2C2C"/>
                </a:solidFill>
                <a:latin typeface="Adobe Clean"/>
              </a:rPr>
              <a:t>which member to fix or how much to scale</a:t>
            </a:r>
          </a:p>
        </p:txBody>
      </p:sp>
      <p:sp>
        <p:nvSpPr>
          <p:cNvPr id="29" name="TextBox 28"/>
          <p:cNvSpPr txBox="1"/>
          <p:nvPr/>
        </p:nvSpPr>
        <p:spPr>
          <a:xfrm>
            <a:off x="6601968" y="4892040"/>
            <a:ext cx="4846320" cy="411480"/>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EB1000"/>
                </a:solidFill>
                <a:latin typeface="Adobe Clean ExtraBold"/>
              </a:rPr>
              <a:t>✗  </a:t>
            </a:r>
            <a:r>
              <a:rPr sz="1200" b="0" i="0">
                <a:solidFill>
                  <a:srgbClr val="2C2C2C"/>
                </a:solidFill>
                <a:latin typeface="Adobe Clean"/>
              </a:rPr>
              <a:t>the optimization strategy or value function</a:t>
            </a:r>
          </a:p>
        </p:txBody>
      </p:sp>
      <p:sp>
        <p:nvSpPr>
          <p:cNvPr id="30" name="TextBox 29"/>
          <p:cNvSpPr txBox="1"/>
          <p:nvPr/>
        </p:nvSpPr>
        <p:spPr>
          <a:xfrm>
            <a:off x="6601968" y="5285232"/>
            <a:ext cx="4846320" cy="384048"/>
          </a:xfrm>
          <a:prstGeom prst="rect">
            <a:avLst/>
          </a:prstGeom>
          <a:noFill/>
        </p:spPr>
        <p:txBody>
          <a:bodyPr wrap="square" lIns="0" rIns="0" tIns="0" bIns="0" anchor="t">
            <a:spAutoFit/>
          </a:bodyPr>
          <a:lstStyle/>
          <a:p>
            <a:pPr algn="l">
              <a:lnSpc>
                <a:spcPct val="95000"/>
              </a:lnSpc>
              <a:spcBef>
                <a:spcPts val="0"/>
              </a:spcBef>
              <a:spcAft>
                <a:spcPts val="200"/>
              </a:spcAft>
            </a:pPr>
            <a:r>
              <a:rPr sz="1150" b="0" i="1">
                <a:solidFill>
                  <a:srgbClr val="5A6473"/>
                </a:solidFill>
                <a:latin typeface="Adobe Clean"/>
              </a:rPr>
              <a:t>That is GRPO's job. SFT is intentionally lightweight (lr 5e-6).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Key SFT Design: Selective Loss Masking</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Supervise only what the model must generate. Mask everything it merely reads.</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27632"/>
            <a:ext cx="1097280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One training turn, token by token</a:t>
            </a:r>
          </a:p>
        </p:txBody>
      </p:sp>
      <p:sp>
        <p:nvSpPr>
          <p:cNvPr id="6" name="Rounded Rectangle 5"/>
          <p:cNvSpPr/>
          <p:nvPr/>
        </p:nvSpPr>
        <p:spPr>
          <a:xfrm>
            <a:off x="548640" y="2057400"/>
            <a:ext cx="1312164" cy="384048"/>
          </a:xfrm>
          <a:prstGeom prst="roundRect">
            <a:avLst>
              <a:gd name="adj" fmla="val 18000"/>
            </a:avLst>
          </a:prstGeom>
          <a:solidFill>
            <a:srgbClr val="F4F5F7"/>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48256"/>
            <a:ext cx="1312164"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0" i="0">
                <a:solidFill>
                  <a:srgbClr val="5A6473"/>
                </a:solidFill>
                <a:latin typeface="Courier New"/>
              </a:rPr>
              <a:t>[system prompt]</a:t>
            </a:r>
          </a:p>
        </p:txBody>
      </p:sp>
      <p:sp>
        <p:nvSpPr>
          <p:cNvPr id="8" name="Rounded Rectangle 7"/>
          <p:cNvSpPr/>
          <p:nvPr/>
        </p:nvSpPr>
        <p:spPr>
          <a:xfrm>
            <a:off x="1970532" y="2057400"/>
            <a:ext cx="923544" cy="384048"/>
          </a:xfrm>
          <a:prstGeom prst="roundRect">
            <a:avLst>
              <a:gd name="adj" fmla="val 18000"/>
            </a:avLst>
          </a:prstGeom>
          <a:solidFill>
            <a:srgbClr val="F4F5F7"/>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70532" y="2048256"/>
            <a:ext cx="923544"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0" i="0">
                <a:solidFill>
                  <a:srgbClr val="5A6473"/>
                </a:solidFill>
                <a:latin typeface="Courier New"/>
              </a:rPr>
              <a:t>PROBLEM: …</a:t>
            </a:r>
          </a:p>
        </p:txBody>
      </p:sp>
      <p:sp>
        <p:nvSpPr>
          <p:cNvPr id="10" name="Rounded Rectangle 9"/>
          <p:cNvSpPr/>
          <p:nvPr/>
        </p:nvSpPr>
        <p:spPr>
          <a:xfrm>
            <a:off x="3003804" y="2057400"/>
            <a:ext cx="1389888" cy="384048"/>
          </a:xfrm>
          <a:prstGeom prst="roundRect">
            <a:avLst>
              <a:gd name="adj" fmla="val 18000"/>
            </a:avLst>
          </a:prstGeom>
          <a:solidFill>
            <a:srgbClr val="F4F5F7"/>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3804" y="2048256"/>
            <a:ext cx="1389888"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0" i="0">
                <a:solidFill>
                  <a:srgbClr val="5A6473"/>
                </a:solidFill>
                <a:latin typeface="Courier New"/>
              </a:rPr>
              <a:t>INITIAL STATE: …</a:t>
            </a:r>
          </a:p>
        </p:txBody>
      </p:sp>
      <p:sp>
        <p:nvSpPr>
          <p:cNvPr id="12" name="Rounded Rectangle 11"/>
          <p:cNvSpPr/>
          <p:nvPr/>
        </p:nvSpPr>
        <p:spPr>
          <a:xfrm>
            <a:off x="4503420" y="2057400"/>
            <a:ext cx="1778508" cy="384048"/>
          </a:xfrm>
          <a:prstGeom prst="roundRect">
            <a:avLst>
              <a:gd name="adj" fmla="val 18000"/>
            </a:avLst>
          </a:prstGeom>
          <a:solidFill>
            <a:srgbClr val="F4F5F7"/>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3420" y="2048256"/>
            <a:ext cx="1778508"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0" i="0">
                <a:solidFill>
                  <a:srgbClr val="5A6473"/>
                </a:solidFill>
                <a:latin typeface="Courier New"/>
              </a:rPr>
              <a:t>[Simulation Result] …</a:t>
            </a:r>
          </a:p>
        </p:txBody>
      </p:sp>
      <p:sp>
        <p:nvSpPr>
          <p:cNvPr id="14" name="Rounded Rectangle 13"/>
          <p:cNvSpPr/>
          <p:nvPr/>
        </p:nvSpPr>
        <p:spPr>
          <a:xfrm>
            <a:off x="6391656" y="2057400"/>
            <a:ext cx="690372"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6" y="2048256"/>
            <a:ext cx="690372"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&lt;think&gt;</a:t>
            </a:r>
          </a:p>
        </p:txBody>
      </p:sp>
      <p:sp>
        <p:nvSpPr>
          <p:cNvPr id="16" name="Rounded Rectangle 15"/>
          <p:cNvSpPr/>
          <p:nvPr/>
        </p:nvSpPr>
        <p:spPr>
          <a:xfrm>
            <a:off x="7191756" y="2057400"/>
            <a:ext cx="1001268"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91756" y="2048256"/>
            <a:ext cx="1001268"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…reasoning…</a:t>
            </a:r>
          </a:p>
        </p:txBody>
      </p:sp>
      <p:sp>
        <p:nvSpPr>
          <p:cNvPr id="18" name="Rounded Rectangle 17"/>
          <p:cNvSpPr/>
          <p:nvPr/>
        </p:nvSpPr>
        <p:spPr>
          <a:xfrm>
            <a:off x="8302752" y="2057400"/>
            <a:ext cx="768096"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048256"/>
            <a:ext cx="768096"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&lt;/think&gt;</a:t>
            </a:r>
          </a:p>
        </p:txBody>
      </p:sp>
      <p:sp>
        <p:nvSpPr>
          <p:cNvPr id="20" name="Rounded Rectangle 19"/>
          <p:cNvSpPr/>
          <p:nvPr/>
        </p:nvSpPr>
        <p:spPr>
          <a:xfrm>
            <a:off x="9180576" y="2057400"/>
            <a:ext cx="768096"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2048256"/>
            <a:ext cx="768096"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&lt;action&gt;</a:t>
            </a:r>
          </a:p>
        </p:txBody>
      </p:sp>
      <p:sp>
        <p:nvSpPr>
          <p:cNvPr id="22" name="Rounded Rectangle 21"/>
          <p:cNvSpPr/>
          <p:nvPr/>
        </p:nvSpPr>
        <p:spPr>
          <a:xfrm>
            <a:off x="10058400" y="2057400"/>
            <a:ext cx="1778508"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2048256"/>
            <a:ext cx="1778508"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SCALE_PARAM(4,r,1.36)</a:t>
            </a:r>
          </a:p>
        </p:txBody>
      </p:sp>
      <p:sp>
        <p:nvSpPr>
          <p:cNvPr id="24" name="Rounded Rectangle 23"/>
          <p:cNvSpPr/>
          <p:nvPr/>
        </p:nvSpPr>
        <p:spPr>
          <a:xfrm>
            <a:off x="548640" y="2569464"/>
            <a:ext cx="845820" cy="384048"/>
          </a:xfrm>
          <a:prstGeom prst="roundRect">
            <a:avLst>
              <a:gd name="adj" fmla="val 18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560320"/>
            <a:ext cx="845820" cy="384048"/>
          </a:xfrm>
          <a:prstGeom prst="rect">
            <a:avLst/>
          </a:prstGeom>
          <a:noFill/>
        </p:spPr>
        <p:txBody>
          <a:bodyPr wrap="square" lIns="0" rIns="0" tIns="0" bIns="0" anchor="ctr">
            <a:spAutoFit/>
          </a:bodyPr>
          <a:lstStyle/>
          <a:p>
            <a:pPr algn="ctr">
              <a:lnSpc>
                <a:spcPct val="100000"/>
              </a:lnSpc>
              <a:spcBef>
                <a:spcPts val="0"/>
              </a:spcBef>
              <a:spcAft>
                <a:spcPts val="200"/>
              </a:spcAft>
            </a:pPr>
            <a:r>
              <a:rPr sz="1050" b="1" i="0">
                <a:solidFill>
                  <a:srgbClr val="1E8449"/>
                </a:solidFill>
                <a:latin typeface="Courier New"/>
              </a:rPr>
              <a:t>&lt;/action&gt;</a:t>
            </a:r>
          </a:p>
        </p:txBody>
      </p:sp>
      <p:sp>
        <p:nvSpPr>
          <p:cNvPr id="26" name="TextBox 25"/>
          <p:cNvSpPr txBox="1"/>
          <p:nvPr/>
        </p:nvSpPr>
        <p:spPr>
          <a:xfrm>
            <a:off x="548640" y="2761488"/>
            <a:ext cx="10972800" cy="457200"/>
          </a:xfrm>
          <a:prstGeom prst="rect">
            <a:avLst/>
          </a:prstGeom>
          <a:noFill/>
        </p:spPr>
        <p:txBody>
          <a:bodyPr wrap="square" lIns="0" rIns="0" tIns="0" bIns="0" anchor="t">
            <a:spAutoFit/>
          </a:bodyPr>
          <a:lstStyle/>
          <a:p>
            <a:pPr algn="l">
              <a:lnSpc>
                <a:spcPct val="100000"/>
              </a:lnSpc>
              <a:spcBef>
                <a:spcPts val="0"/>
              </a:spcBef>
              <a:spcAft>
                <a:spcPts val="200"/>
              </a:spcAft>
            </a:pPr>
            <a:r>
              <a:rPr sz="1200" b="1" i="0">
                <a:solidFill>
                  <a:srgbClr val="5A6473"/>
                </a:solidFill>
                <a:latin typeface="Adobe Clean ExtraBold"/>
              </a:rPr>
              <a:t>■  </a:t>
            </a:r>
            <a:r>
              <a:rPr sz="1200" b="1" i="0">
                <a:solidFill>
                  <a:srgbClr val="5A6473"/>
                </a:solidFill>
                <a:latin typeface="Adobe Clean ExtraBold"/>
              </a:rPr>
              <a:t>masked</a:t>
            </a:r>
            <a:r>
              <a:rPr sz="1200" b="0" i="0">
                <a:solidFill>
                  <a:srgbClr val="5A6473"/>
                </a:solidFill>
                <a:latin typeface="Adobe Clean"/>
              </a:rPr>
              <a:t>  (labels = −100, no gradient): everything the model reads — prompt, problem, every solver reply</a:t>
            </a:r>
          </a:p>
          <a:p>
            <a:pPr algn="l">
              <a:lnSpc>
                <a:spcPct val="100000"/>
              </a:lnSpc>
              <a:spcBef>
                <a:spcPts val="0"/>
              </a:spcBef>
              <a:spcAft>
                <a:spcPts val="200"/>
              </a:spcAft>
            </a:pPr>
            <a:r>
              <a:rPr sz="1200" b="1" i="0">
                <a:solidFill>
                  <a:srgbClr val="1E8449"/>
                </a:solidFill>
                <a:latin typeface="Adobe Clean ExtraBold"/>
              </a:rPr>
              <a:t>■  </a:t>
            </a:r>
            <a:r>
              <a:rPr sz="1200" b="1" i="0">
                <a:solidFill>
                  <a:srgbClr val="1E8449"/>
                </a:solidFill>
                <a:latin typeface="Adobe Clean ExtraBold"/>
              </a:rPr>
              <a:t>supervised</a:t>
            </a:r>
            <a:r>
              <a:rPr sz="1200" b="1" i="0">
                <a:solidFill>
                  <a:srgbClr val="1E8449"/>
                </a:solidFill>
                <a:latin typeface="Adobe Clean ExtraBold"/>
              </a:rPr>
              <a:t>  (cross-entropy): everything the model writes — its own think / action / answer</a:t>
            </a:r>
          </a:p>
        </p:txBody>
      </p:sp>
      <p:sp>
        <p:nvSpPr>
          <p:cNvPr id="27" name="TextBox 26"/>
          <p:cNvSpPr txBox="1"/>
          <p:nvPr/>
        </p:nvSpPr>
        <p:spPr>
          <a:xfrm>
            <a:off x="548640" y="3337560"/>
            <a:ext cx="1097280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Share of tokens that receive loss</a:t>
            </a:r>
          </a:p>
        </p:txBody>
      </p:sp>
      <p:sp>
        <p:nvSpPr>
          <p:cNvPr id="28" name="TextBox 27"/>
          <p:cNvSpPr txBox="1"/>
          <p:nvPr/>
        </p:nvSpPr>
        <p:spPr>
          <a:xfrm>
            <a:off x="548640" y="3749039"/>
            <a:ext cx="2743200"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Adobe Clean ExtraBold"/>
              </a:rPr>
              <a:t>warmstart_reasoning
(selective)</a:t>
            </a:r>
          </a:p>
        </p:txBody>
      </p:sp>
      <p:sp>
        <p:nvSpPr>
          <p:cNvPr id="29" name="Rounded Rectangle 28"/>
          <p:cNvSpPr/>
          <p:nvPr/>
        </p:nvSpPr>
        <p:spPr>
          <a:xfrm>
            <a:off x="3383280" y="3749039"/>
            <a:ext cx="6949440" cy="310896"/>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83280" y="3749039"/>
            <a:ext cx="4447641" cy="310896"/>
          </a:xfrm>
          <a:prstGeom prst="roundRect">
            <a:avLst>
              <a:gd name="adj" fmla="val 12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56432" y="3744468"/>
            <a:ext cx="6858000" cy="310896"/>
          </a:xfrm>
          <a:prstGeom prst="rect">
            <a:avLst/>
          </a:prstGeom>
          <a:noFill/>
        </p:spPr>
        <p:txBody>
          <a:bodyPr wrap="square" lIns="0" rIns="0" tIns="0" bIns="0" anchor="ctr">
            <a:spAutoFit/>
          </a:bodyPr>
          <a:lstStyle/>
          <a:p>
            <a:pPr algn="l">
              <a:lnSpc>
                <a:spcPct val="100000"/>
              </a:lnSpc>
              <a:spcBef>
                <a:spcPts val="0"/>
              </a:spcBef>
              <a:spcAft>
                <a:spcPts val="200"/>
              </a:spcAft>
            </a:pPr>
            <a:r>
              <a:rPr sz="1100" b="1" i="0">
                <a:solidFill>
                  <a:srgbClr val="FFFFFF"/>
                </a:solidFill>
                <a:latin typeface="Adobe Clean ExtraBold"/>
              </a:rPr>
              <a:t>64% supervised</a:t>
            </a:r>
          </a:p>
        </p:txBody>
      </p:sp>
      <p:sp>
        <p:nvSpPr>
          <p:cNvPr id="32" name="TextBox 31"/>
          <p:cNvSpPr txBox="1"/>
          <p:nvPr/>
        </p:nvSpPr>
        <p:spPr>
          <a:xfrm>
            <a:off x="548640" y="4224528"/>
            <a:ext cx="2743200"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Adobe Clean ExtraBold"/>
              </a:rPr>
              <a:t>full_sequence
(naive baseline)</a:t>
            </a:r>
          </a:p>
        </p:txBody>
      </p:sp>
      <p:sp>
        <p:nvSpPr>
          <p:cNvPr id="33" name="Rounded Rectangle 32"/>
          <p:cNvSpPr/>
          <p:nvPr/>
        </p:nvSpPr>
        <p:spPr>
          <a:xfrm>
            <a:off x="3383280" y="4224528"/>
            <a:ext cx="6949440" cy="310896"/>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383280" y="4224528"/>
            <a:ext cx="5698540" cy="310896"/>
          </a:xfrm>
          <a:prstGeom prst="roundRect">
            <a:avLst>
              <a:gd name="adj" fmla="val 12000"/>
            </a:avLst>
          </a:prstGeom>
          <a:solidFill>
            <a:srgbClr val="AAB2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6432" y="4219956"/>
            <a:ext cx="6858000" cy="310896"/>
          </a:xfrm>
          <a:prstGeom prst="rect">
            <a:avLst/>
          </a:prstGeom>
          <a:noFill/>
        </p:spPr>
        <p:txBody>
          <a:bodyPr wrap="square" lIns="0" rIns="0" tIns="0" bIns="0" anchor="ctr">
            <a:spAutoFit/>
          </a:bodyPr>
          <a:lstStyle/>
          <a:p>
            <a:pPr algn="l">
              <a:lnSpc>
                <a:spcPct val="100000"/>
              </a:lnSpc>
              <a:spcBef>
                <a:spcPts val="0"/>
              </a:spcBef>
              <a:spcAft>
                <a:spcPts val="200"/>
              </a:spcAft>
            </a:pPr>
            <a:r>
              <a:rPr sz="1100" b="1" i="0">
                <a:solidFill>
                  <a:srgbClr val="FFFFFF"/>
                </a:solidFill>
                <a:latin typeface="Adobe Clean ExtraBold"/>
              </a:rPr>
              <a:t>82% supervised</a:t>
            </a:r>
          </a:p>
        </p:txBody>
      </p:sp>
      <p:sp>
        <p:nvSpPr>
          <p:cNvPr id="36" name="TextBox 35"/>
          <p:cNvSpPr txBox="1"/>
          <p:nvPr/>
        </p:nvSpPr>
        <p:spPr>
          <a:xfrm>
            <a:off x="548640" y="4754880"/>
            <a:ext cx="10789920" cy="457200"/>
          </a:xfrm>
          <a:prstGeom prst="rect">
            <a:avLst/>
          </a:prstGeom>
          <a:noFill/>
        </p:spPr>
        <p:txBody>
          <a:bodyPr wrap="square" lIns="0" rIns="0" tIns="0" bIns="0" anchor="t">
            <a:spAutoFit/>
          </a:bodyPr>
          <a:lstStyle/>
          <a:p>
            <a:pPr algn="l">
              <a:lnSpc>
                <a:spcPct val="100000"/>
              </a:lnSpc>
              <a:spcBef>
                <a:spcPts val="0"/>
              </a:spcBef>
              <a:spcAft>
                <a:spcPts val="200"/>
              </a:spcAft>
            </a:pPr>
            <a:r>
              <a:rPr sz="1150" b="0" i="1">
                <a:solidFill>
                  <a:srgbClr val="5A6473"/>
                </a:solidFill>
                <a:latin typeface="Adobe Clean"/>
              </a:rPr>
              <a:t>Selective masking keeps the loss off prompt/feedback text, so the model never overfits to reciting the simulator — it preserves RL plasticity.</a:t>
            </a:r>
          </a:p>
        </p:txBody>
      </p:sp>
      <p:sp>
        <p:nvSpPr>
          <p:cNvPr id="37" name="Rounded Rectangle 36"/>
          <p:cNvSpPr/>
          <p:nvPr/>
        </p:nvSpPr>
        <p:spPr>
          <a:xfrm>
            <a:off x="548640" y="5257800"/>
            <a:ext cx="11064240" cy="914400"/>
          </a:xfrm>
          <a:prstGeom prst="roundRect">
            <a:avLst>
              <a:gd name="adj" fmla="val 4500"/>
            </a:avLst>
          </a:prstGeom>
          <a:solidFill>
            <a:srgbClr val="EEF1F6"/>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367528"/>
            <a:ext cx="73152" cy="69494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59" y="5358384"/>
            <a:ext cx="1060704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Pluggable supervision target (research hook)</a:t>
            </a:r>
          </a:p>
        </p:txBody>
      </p:sp>
      <p:sp>
        <p:nvSpPr>
          <p:cNvPr id="40" name="TextBox 39"/>
          <p:cNvSpPr txBox="1"/>
          <p:nvPr/>
        </p:nvSpPr>
        <p:spPr>
          <a:xfrm>
            <a:off x="822959" y="5669280"/>
            <a:ext cx="10607040" cy="457200"/>
          </a:xfrm>
          <a:prstGeom prst="rect">
            <a:avLst/>
          </a:prstGeom>
          <a:noFill/>
        </p:spPr>
        <p:txBody>
          <a:bodyPr wrap="square" lIns="0" rIns="0" tIns="0" bIns="0" anchor="t">
            <a:spAutoFit/>
          </a:bodyPr>
          <a:lstStyle/>
          <a:p>
            <a:pPr algn="l">
              <a:lnSpc>
                <a:spcPct val="100000"/>
              </a:lnSpc>
              <a:spcBef>
                <a:spcPts val="0"/>
              </a:spcBef>
              <a:spcAft>
                <a:spcPts val="200"/>
              </a:spcAft>
            </a:pPr>
            <a:r>
              <a:rPr sz="1200" b="0" i="0">
                <a:solidFill>
                  <a:srgbClr val="2C2C2C"/>
                </a:solidFill>
                <a:latin typeface="Adobe Clean"/>
              </a:rPr>
              <a:t>Default is </a:t>
            </a:r>
            <a:r>
              <a:rPr sz="1200" b="1" i="0">
                <a:solidFill>
                  <a:srgbClr val="EB1000"/>
                </a:solidFill>
                <a:latin typeface="Courier New"/>
              </a:rPr>
              <a:t>gold_curriculum_warmstart</a:t>
            </a:r>
            <a:r>
              <a:rPr sz="1200" b="0" i="0">
                <a:solidFill>
                  <a:srgbClr val="2C2C2C"/>
                </a:solidFill>
                <a:latin typeface="Adobe Clean"/>
              </a:rPr>
              <a:t> — a staged curriculum that supervises only the final assistant turn's think/action/answer. Swap targets via </a:t>
            </a:r>
            <a:r>
              <a:rPr sz="1200" b="1" i="0">
                <a:solidFill>
                  <a:srgbClr val="21304A"/>
                </a:solidFill>
                <a:latin typeface="Courier New"/>
              </a:rPr>
              <a:t>data.target_fn</a:t>
            </a:r>
            <a:r>
              <a:rPr sz="1200" b="0" i="0">
                <a:solidFill>
                  <a:srgbClr val="2C2C2C"/>
                </a:solidFill>
                <a:latin typeface="Adobe Clean"/>
              </a:rPr>
              <a:t> with no infra changes.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After SFT: Perfect Form, Zero Policy</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The warmstart does exactly its job — and nothing more. That gap is what RL must close.</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828800"/>
            <a:ext cx="3566160" cy="178308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3566160" cy="822960"/>
          </a:xfrm>
          <a:prstGeom prst="rect">
            <a:avLst/>
          </a:prstGeom>
          <a:noFill/>
        </p:spPr>
        <p:txBody>
          <a:bodyPr wrap="square" lIns="0" rIns="0" tIns="0" bIns="0" anchor="ctr">
            <a:spAutoFit/>
          </a:bodyPr>
          <a:lstStyle/>
          <a:p>
            <a:pPr algn="ctr">
              <a:lnSpc>
                <a:spcPct val="100000"/>
              </a:lnSpc>
              <a:spcBef>
                <a:spcPts val="0"/>
              </a:spcBef>
              <a:spcAft>
                <a:spcPts val="200"/>
              </a:spcAft>
            </a:pPr>
            <a:r>
              <a:rPr sz="5200" b="1" i="0">
                <a:solidFill>
                  <a:srgbClr val="1E8449"/>
                </a:solidFill>
                <a:latin typeface="Adobe Clean ExtraBold"/>
              </a:rPr>
              <a:t>1.00</a:t>
            </a:r>
          </a:p>
        </p:txBody>
      </p:sp>
      <p:sp>
        <p:nvSpPr>
          <p:cNvPr id="7" name="TextBox 6"/>
          <p:cNvSpPr txBox="1"/>
          <p:nvPr/>
        </p:nvSpPr>
        <p:spPr>
          <a:xfrm>
            <a:off x="548640" y="2907792"/>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400" b="1" i="0">
                <a:solidFill>
                  <a:srgbClr val="21304A"/>
                </a:solidFill>
                <a:latin typeface="Adobe Clean ExtraBold"/>
              </a:rPr>
              <a:t>grammar success</a:t>
            </a:r>
          </a:p>
        </p:txBody>
      </p:sp>
      <p:sp>
        <p:nvSpPr>
          <p:cNvPr id="8" name="TextBox 7"/>
          <p:cNvSpPr txBox="1"/>
          <p:nvPr/>
        </p:nvSpPr>
        <p:spPr>
          <a:xfrm>
            <a:off x="548640" y="3236976"/>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100" b="0" i="0">
                <a:solidFill>
                  <a:srgbClr val="5A6473"/>
                </a:solidFill>
                <a:latin typeface="Adobe Clean"/>
              </a:rPr>
              <a:t>every action parses &amp; executes</a:t>
            </a:r>
          </a:p>
        </p:txBody>
      </p:sp>
      <p:sp>
        <p:nvSpPr>
          <p:cNvPr id="9" name="Rounded Rectangle 8"/>
          <p:cNvSpPr/>
          <p:nvPr/>
        </p:nvSpPr>
        <p:spPr>
          <a:xfrm>
            <a:off x="4297679" y="1828800"/>
            <a:ext cx="3566160" cy="178308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66160" cy="822960"/>
          </a:xfrm>
          <a:prstGeom prst="rect">
            <a:avLst/>
          </a:prstGeom>
          <a:noFill/>
        </p:spPr>
        <p:txBody>
          <a:bodyPr wrap="square" lIns="0" rIns="0" tIns="0" bIns="0" anchor="ctr">
            <a:spAutoFit/>
          </a:bodyPr>
          <a:lstStyle/>
          <a:p>
            <a:pPr algn="ctr">
              <a:lnSpc>
                <a:spcPct val="100000"/>
              </a:lnSpc>
              <a:spcBef>
                <a:spcPts val="0"/>
              </a:spcBef>
              <a:spcAft>
                <a:spcPts val="200"/>
              </a:spcAft>
            </a:pPr>
            <a:r>
              <a:rPr sz="5200" b="1" i="0">
                <a:solidFill>
                  <a:srgbClr val="EB1000"/>
                </a:solidFill>
                <a:latin typeface="Adobe Clean ExtraBold"/>
              </a:rPr>
              <a:t>0%</a:t>
            </a:r>
          </a:p>
        </p:txBody>
      </p:sp>
      <p:sp>
        <p:nvSpPr>
          <p:cNvPr id="11" name="TextBox 10"/>
          <p:cNvSpPr txBox="1"/>
          <p:nvPr/>
        </p:nvSpPr>
        <p:spPr>
          <a:xfrm>
            <a:off x="4297679" y="2907792"/>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400" b="1" i="0">
                <a:solidFill>
                  <a:srgbClr val="21304A"/>
                </a:solidFill>
                <a:latin typeface="Adobe Clean ExtraBold"/>
              </a:rPr>
              <a:t>feasibility</a:t>
            </a:r>
          </a:p>
        </p:txBody>
      </p:sp>
      <p:sp>
        <p:nvSpPr>
          <p:cNvPr id="12" name="TextBox 11"/>
          <p:cNvSpPr txBox="1"/>
          <p:nvPr/>
        </p:nvSpPr>
        <p:spPr>
          <a:xfrm>
            <a:off x="4297679" y="3236976"/>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100" b="0" i="0">
                <a:solidFill>
                  <a:srgbClr val="5A6473"/>
                </a:solidFill>
                <a:latin typeface="Adobe Clean"/>
              </a:rPr>
              <a:t>solves no held-out problem</a:t>
            </a:r>
          </a:p>
        </p:txBody>
      </p:sp>
      <p:sp>
        <p:nvSpPr>
          <p:cNvPr id="13" name="Rounded Rectangle 12"/>
          <p:cNvSpPr/>
          <p:nvPr/>
        </p:nvSpPr>
        <p:spPr>
          <a:xfrm>
            <a:off x="8046719" y="1828800"/>
            <a:ext cx="3566160" cy="178308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2011680"/>
            <a:ext cx="3566160" cy="822960"/>
          </a:xfrm>
          <a:prstGeom prst="rect">
            <a:avLst/>
          </a:prstGeom>
          <a:noFill/>
        </p:spPr>
        <p:txBody>
          <a:bodyPr wrap="square" lIns="0" rIns="0" tIns="0" bIns="0" anchor="ctr">
            <a:spAutoFit/>
          </a:bodyPr>
          <a:lstStyle/>
          <a:p>
            <a:pPr algn="ctr">
              <a:lnSpc>
                <a:spcPct val="100000"/>
              </a:lnSpc>
              <a:spcBef>
                <a:spcPts val="0"/>
              </a:spcBef>
              <a:spcAft>
                <a:spcPts val="200"/>
              </a:spcAft>
            </a:pPr>
            <a:r>
              <a:rPr sz="5200" b="1" i="0">
                <a:solidFill>
                  <a:srgbClr val="21304A"/>
                </a:solidFill>
                <a:latin typeface="Adobe Clean ExtraBold"/>
              </a:rPr>
              <a:t>0.41</a:t>
            </a:r>
          </a:p>
        </p:txBody>
      </p:sp>
      <p:sp>
        <p:nvSpPr>
          <p:cNvPr id="15" name="TextBox 14"/>
          <p:cNvSpPr txBox="1"/>
          <p:nvPr/>
        </p:nvSpPr>
        <p:spPr>
          <a:xfrm>
            <a:off x="8046719" y="2907792"/>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400" b="1" i="0">
                <a:solidFill>
                  <a:srgbClr val="21304A"/>
                </a:solidFill>
                <a:latin typeface="Adobe Clean ExtraBold"/>
              </a:rPr>
              <a:t>mean FOS_buckling</a:t>
            </a:r>
          </a:p>
        </p:txBody>
      </p:sp>
      <p:sp>
        <p:nvSpPr>
          <p:cNvPr id="16" name="TextBox 15"/>
          <p:cNvSpPr txBox="1"/>
          <p:nvPr/>
        </p:nvSpPr>
        <p:spPr>
          <a:xfrm>
            <a:off x="8046719" y="3236976"/>
            <a:ext cx="3566160" cy="310896"/>
          </a:xfrm>
          <a:prstGeom prst="rect">
            <a:avLst/>
          </a:prstGeom>
          <a:noFill/>
        </p:spPr>
        <p:txBody>
          <a:bodyPr wrap="square" lIns="0" rIns="0" tIns="0" bIns="0" anchor="t">
            <a:spAutoFit/>
          </a:bodyPr>
          <a:lstStyle/>
          <a:p>
            <a:pPr algn="ctr">
              <a:lnSpc>
                <a:spcPct val="100000"/>
              </a:lnSpc>
              <a:spcBef>
                <a:spcPts val="0"/>
              </a:spcBef>
              <a:spcAft>
                <a:spcPts val="200"/>
              </a:spcAft>
            </a:pPr>
            <a:r>
              <a:rPr sz="1100" b="0" i="0">
                <a:solidFill>
                  <a:srgbClr val="5A6473"/>
                </a:solidFill>
                <a:latin typeface="Adobe Clean"/>
              </a:rPr>
              <a:t>far below the 1.5 bar</a:t>
            </a:r>
          </a:p>
        </p:txBody>
      </p:sp>
      <p:sp>
        <p:nvSpPr>
          <p:cNvPr id="17" name="Rounded Rectangle 16"/>
          <p:cNvSpPr/>
          <p:nvPr/>
        </p:nvSpPr>
        <p:spPr>
          <a:xfrm>
            <a:off x="548640" y="3977639"/>
            <a:ext cx="11064240" cy="960120"/>
          </a:xfrm>
          <a:prstGeom prst="roundRect">
            <a:avLst>
              <a:gd name="adj" fmla="val 4500"/>
            </a:avLst>
          </a:prstGeom>
          <a:solidFill>
            <a:srgbClr val="EAF6EE"/>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087368"/>
            <a:ext cx="73152" cy="74066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4096512"/>
            <a:ext cx="10515600" cy="310896"/>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1E8449"/>
                </a:solidFill>
                <a:latin typeface="Adobe Clean ExtraBold"/>
              </a:rPr>
              <a:t>Read it correctly</a:t>
            </a:r>
          </a:p>
        </p:txBody>
      </p:sp>
      <p:sp>
        <p:nvSpPr>
          <p:cNvPr id="20" name="TextBox 19"/>
          <p:cNvSpPr txBox="1"/>
          <p:nvPr/>
        </p:nvSpPr>
        <p:spPr>
          <a:xfrm>
            <a:off x="841247" y="4425696"/>
            <a:ext cx="10515600" cy="457200"/>
          </a:xfrm>
          <a:prstGeom prst="rect">
            <a:avLst/>
          </a:prstGeom>
          <a:noFill/>
        </p:spPr>
        <p:txBody>
          <a:bodyPr wrap="square" lIns="0" rIns="0" tIns="0" bIns="0" anchor="t">
            <a:spAutoFit/>
          </a:bodyPr>
          <a:lstStyle/>
          <a:p>
            <a:pPr algn="l">
              <a:lnSpc>
                <a:spcPct val="100000"/>
              </a:lnSpc>
              <a:spcBef>
                <a:spcPts val="0"/>
              </a:spcBef>
              <a:spcAft>
                <a:spcPts val="200"/>
              </a:spcAft>
            </a:pPr>
            <a:r>
              <a:rPr sz="1300" b="0" i="0">
                <a:solidFill>
                  <a:srgbClr val="2C2C2C"/>
                </a:solidFill>
                <a:latin typeface="Adobe Clean"/>
              </a:rPr>
              <a:t>Perfect grammar with 0% feasibility is </a:t>
            </a:r>
            <a:r>
              <a:rPr sz="1300" b="1" i="0">
                <a:solidFill>
                  <a:srgbClr val="1E8449"/>
                </a:solidFill>
                <a:latin typeface="Adobe Clean ExtraBold"/>
              </a:rPr>
              <a:t>success, not failure</a:t>
            </a:r>
            <a:r>
              <a:rPr sz="1300" b="0" i="0">
                <a:solidFill>
                  <a:srgbClr val="2C2C2C"/>
                </a:solidFill>
                <a:latin typeface="Adobe Clean"/>
              </a:rPr>
              <a:t>: SFT was asked to teach form, and it did. The model can now say anything in the grammar — it just doesn't yet know what to say.</a:t>
            </a:r>
          </a:p>
        </p:txBody>
      </p:sp>
      <p:sp>
        <p:nvSpPr>
          <p:cNvPr id="21" name="Rounded Rectangle 20"/>
          <p:cNvSpPr/>
          <p:nvPr/>
        </p:nvSpPr>
        <p:spPr>
          <a:xfrm>
            <a:off x="548640" y="5074920"/>
            <a:ext cx="11064240" cy="1005840"/>
          </a:xfrm>
          <a:prstGeom prst="roundRect">
            <a:avLst>
              <a:gd name="adj" fmla="val 4500"/>
            </a:avLst>
          </a:prstGeom>
          <a:solidFill>
            <a:srgbClr val="F4F5F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184648"/>
            <a:ext cx="73152" cy="78638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5193792"/>
            <a:ext cx="10515600" cy="310896"/>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Why this is the right hand-off to GRPO</a:t>
            </a:r>
          </a:p>
        </p:txBody>
      </p:sp>
      <p:sp>
        <p:nvSpPr>
          <p:cNvPr id="24" name="TextBox 23"/>
          <p:cNvSpPr txBox="1"/>
          <p:nvPr/>
        </p:nvSpPr>
        <p:spPr>
          <a:xfrm>
            <a:off x="841247" y="5522976"/>
            <a:ext cx="10515600" cy="502920"/>
          </a:xfrm>
          <a:prstGeom prst="rect">
            <a:avLst/>
          </a:prstGeom>
          <a:noFill/>
        </p:spPr>
        <p:txBody>
          <a:bodyPr wrap="square" lIns="0" rIns="0" tIns="0" bIns="0" anchor="t">
            <a:spAutoFit/>
          </a:bodyPr>
          <a:lstStyle/>
          <a:p>
            <a:pPr algn="l">
              <a:lnSpc>
                <a:spcPct val="100000"/>
              </a:lnSpc>
              <a:spcBef>
                <a:spcPts val="0"/>
              </a:spcBef>
              <a:spcAft>
                <a:spcPts val="200"/>
              </a:spcAft>
            </a:pPr>
            <a:r>
              <a:rPr sz="1300" b="0" i="0">
                <a:solidFill>
                  <a:srgbClr val="2C2C2C"/>
                </a:solidFill>
                <a:latin typeface="Adobe Clean"/>
              </a:rPr>
              <a:t>A reliable format gives RL a clean action space and a stable reference policy to anchor against (KL). The reasoning capacity is present; GRPO only has to point it in the right direction.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2286000"/>
            <a:ext cx="2011680" cy="1280160"/>
          </a:xfrm>
          <a:prstGeom prst="rect">
            <a:avLst/>
          </a:prstGeom>
          <a:noFill/>
        </p:spPr>
        <p:txBody>
          <a:bodyPr wrap="square" lIns="0" rIns="0" tIns="0" bIns="0" anchor="ctr">
            <a:spAutoFit/>
          </a:bodyPr>
          <a:lstStyle/>
          <a:p>
            <a:pPr algn="l">
              <a:lnSpc>
                <a:spcPct val="100000"/>
              </a:lnSpc>
              <a:spcBef>
                <a:spcPts val="0"/>
              </a:spcBef>
              <a:spcAft>
                <a:spcPts val="200"/>
              </a:spcAft>
            </a:pPr>
            <a:r>
              <a:rPr sz="9600" b="1" i="0">
                <a:solidFill>
                  <a:srgbClr val="2C3C58"/>
                </a:solidFill>
                <a:latin typeface="Adobe Clean ExtraBold"/>
              </a:rPr>
              <a:t>03</a:t>
            </a:r>
          </a:p>
        </p:txBody>
      </p:sp>
      <p:sp>
        <p:nvSpPr>
          <p:cNvPr id="4" name="TextBox 3"/>
          <p:cNvSpPr txBox="1"/>
          <p:nvPr/>
        </p:nvSpPr>
        <p:spPr>
          <a:xfrm>
            <a:off x="822959" y="3611880"/>
            <a:ext cx="10515600" cy="822960"/>
          </a:xfrm>
          <a:prstGeom prst="rect">
            <a:avLst/>
          </a:prstGeom>
          <a:noFill/>
        </p:spPr>
        <p:txBody>
          <a:bodyPr wrap="square" lIns="0" rIns="0" tIns="0" bIns="0" anchor="t">
            <a:spAutoFit/>
          </a:bodyPr>
          <a:lstStyle/>
          <a:p>
            <a:pPr algn="l">
              <a:lnSpc>
                <a:spcPct val="100000"/>
              </a:lnSpc>
              <a:spcBef>
                <a:spcPts val="0"/>
              </a:spcBef>
              <a:spcAft>
                <a:spcPts val="200"/>
              </a:spcAft>
            </a:pPr>
            <a:r>
              <a:rPr sz="3600" b="1" i="0">
                <a:solidFill>
                  <a:srgbClr val="FFFFFF"/>
                </a:solidFill>
                <a:latin typeface="Adobe Clean ExtraBold"/>
              </a:rPr>
              <a:t>Stage 2 — GRPO Policy Learning</a:t>
            </a:r>
          </a:p>
        </p:txBody>
      </p:sp>
      <p:cxnSp>
        <p:nvCxnSpPr>
          <p:cNvPr id="5" name="Connector 4"/>
          <p:cNvCxnSpPr/>
          <p:nvPr/>
        </p:nvCxnSpPr>
        <p:spPr>
          <a:xfrm>
            <a:off x="841247" y="4434840"/>
            <a:ext cx="2926081" cy="0"/>
          </a:xfrm>
          <a:prstGeom prst="bentConnector3">
            <a:avLst/>
          </a:prstGeom>
          <a:ln w="31750">
            <a:solidFill>
              <a:srgbClr val="EB1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7" y="4572000"/>
            <a:ext cx="9601200" cy="548640"/>
          </a:xfrm>
          <a:prstGeom prst="rect">
            <a:avLst/>
          </a:prstGeom>
          <a:noFill/>
        </p:spPr>
        <p:txBody>
          <a:bodyPr wrap="square" lIns="0" rIns="0" tIns="0" bIns="0" anchor="t">
            <a:spAutoFit/>
          </a:bodyPr>
          <a:lstStyle/>
          <a:p>
            <a:pPr algn="l">
              <a:lnSpc>
                <a:spcPct val="100000"/>
              </a:lnSpc>
              <a:spcBef>
                <a:spcPts val="0"/>
              </a:spcBef>
              <a:spcAft>
                <a:spcPts val="200"/>
              </a:spcAft>
            </a:pPr>
            <a:r>
              <a:rPr sz="1600" b="0" i="0">
                <a:solidFill>
                  <a:srgbClr val="AEB9CC"/>
                </a:solidFill>
                <a:latin typeface="Adobe Clean"/>
              </a:rPr>
              <a:t>Group-relative advantages, tree-expanded rollouts, and one dense potential-based reward.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GRPO: Learning From a Group of Rollouts</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No value network — the baseline is the group's own mean. Reward better-than-average trajectories.</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2011680"/>
            <a:ext cx="2103120" cy="1005840"/>
          </a:xfrm>
          <a:prstGeom prst="roundRect">
            <a:avLst>
              <a:gd name="adj" fmla="val 6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30552"/>
            <a:ext cx="1783080" cy="777240"/>
          </a:xfrm>
          <a:prstGeom prst="rect">
            <a:avLst/>
          </a:prstGeom>
          <a:noFill/>
        </p:spPr>
        <p:txBody>
          <a:bodyPr wrap="square" lIns="0" rIns="0" tIns="0" bIns="0" anchor="ctr">
            <a:spAutoFit/>
          </a:bodyPr>
          <a:lstStyle/>
          <a:p>
            <a:pPr algn="l">
              <a:lnSpc>
                <a:spcPct val="95000"/>
              </a:lnSpc>
              <a:spcBef>
                <a:spcPts val="0"/>
              </a:spcBef>
              <a:spcAft>
                <a:spcPts val="200"/>
              </a:spcAft>
            </a:pPr>
            <a:r>
              <a:rPr sz="1300" b="1" i="0">
                <a:solidFill>
                  <a:srgbClr val="FFFFFF"/>
                </a:solidFill>
                <a:latin typeface="Adobe Clean ExtraBold"/>
              </a:rPr>
              <a:t>problem s0</a:t>
            </a:r>
          </a:p>
          <a:p>
            <a:pPr algn="l">
              <a:lnSpc>
                <a:spcPct val="95000"/>
              </a:lnSpc>
              <a:spcBef>
                <a:spcPts val="0"/>
              </a:spcBef>
              <a:spcAft>
                <a:spcPts val="200"/>
              </a:spcAft>
            </a:pPr>
            <a:r>
              <a:rPr sz="1000" b="0" i="0">
                <a:solidFill>
                  <a:srgbClr val="AEB9CC"/>
                </a:solidFill>
                <a:latin typeface="Adobe Clean"/>
              </a:rPr>
              <a:t>(infeasible truss)</a:t>
            </a:r>
          </a:p>
        </p:txBody>
      </p:sp>
      <p:sp>
        <p:nvSpPr>
          <p:cNvPr id="7" name="Rounded Rectangle 6"/>
          <p:cNvSpPr/>
          <p:nvPr/>
        </p:nvSpPr>
        <p:spPr>
          <a:xfrm>
            <a:off x="3200400" y="1691640"/>
            <a:ext cx="2286000" cy="384048"/>
          </a:xfrm>
          <a:prstGeom prst="roundRect">
            <a:avLst>
              <a:gd name="adj" fmla="val 20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64992" y="1682496"/>
            <a:ext cx="1463040" cy="384048"/>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21304A"/>
                </a:solidFill>
                <a:latin typeface="Adobe Clean ExtraBold"/>
              </a:rPr>
              <a:t>rollout 1</a:t>
            </a:r>
          </a:p>
        </p:txBody>
      </p:sp>
      <p:sp>
        <p:nvSpPr>
          <p:cNvPr id="9" name="TextBox 8"/>
          <p:cNvSpPr txBox="1"/>
          <p:nvPr/>
        </p:nvSpPr>
        <p:spPr>
          <a:xfrm>
            <a:off x="4754880" y="1682496"/>
            <a:ext cx="640080" cy="384048"/>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1E8449"/>
                </a:solidFill>
                <a:latin typeface="Adobe Clean ExtraBold"/>
              </a:rPr>
              <a:t>+0.8</a:t>
            </a:r>
          </a:p>
        </p:txBody>
      </p:sp>
      <p:cxnSp>
        <p:nvCxnSpPr>
          <p:cNvPr id="10" name="Connector 9"/>
          <p:cNvCxnSpPr/>
          <p:nvPr/>
        </p:nvCxnSpPr>
        <p:spPr>
          <a:xfrm flipV="1">
            <a:off x="2651760" y="1883664"/>
            <a:ext cx="548640" cy="630936"/>
          </a:xfrm>
          <a:prstGeom prst="line">
            <a:avLst/>
          </a:prstGeom>
          <a:ln w="9525">
            <a:solidFill>
              <a:srgbClr val="AAB2C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00400" y="2194560"/>
            <a:ext cx="2286000" cy="384048"/>
          </a:xfrm>
          <a:prstGeom prst="roundRect">
            <a:avLst>
              <a:gd name="adj" fmla="val 20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2185416"/>
            <a:ext cx="1463040" cy="384048"/>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21304A"/>
                </a:solidFill>
                <a:latin typeface="Adobe Clean ExtraBold"/>
              </a:rPr>
              <a:t>rollout 2</a:t>
            </a:r>
          </a:p>
        </p:txBody>
      </p:sp>
      <p:sp>
        <p:nvSpPr>
          <p:cNvPr id="13" name="TextBox 12"/>
          <p:cNvSpPr txBox="1"/>
          <p:nvPr/>
        </p:nvSpPr>
        <p:spPr>
          <a:xfrm>
            <a:off x="4754880" y="2185416"/>
            <a:ext cx="640080" cy="384048"/>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B26B00"/>
                </a:solidFill>
                <a:latin typeface="Adobe Clean ExtraBold"/>
              </a:rPr>
              <a:t>−0.3</a:t>
            </a:r>
          </a:p>
        </p:txBody>
      </p:sp>
      <p:cxnSp>
        <p:nvCxnSpPr>
          <p:cNvPr id="14" name="Connector 13"/>
          <p:cNvCxnSpPr/>
          <p:nvPr/>
        </p:nvCxnSpPr>
        <p:spPr>
          <a:xfrm flipV="1">
            <a:off x="2651760" y="2386584"/>
            <a:ext cx="548640" cy="128016"/>
          </a:xfrm>
          <a:prstGeom prst="line">
            <a:avLst/>
          </a:prstGeom>
          <a:ln w="9525">
            <a:solidFill>
              <a:srgbClr val="AAB2C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00400" y="2697480"/>
            <a:ext cx="2286000" cy="384048"/>
          </a:xfrm>
          <a:prstGeom prst="roundRect">
            <a:avLst>
              <a:gd name="adj" fmla="val 20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4992" y="2688336"/>
            <a:ext cx="1463040" cy="384048"/>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21304A"/>
                </a:solidFill>
                <a:latin typeface="Adobe Clean ExtraBold"/>
              </a:rPr>
              <a:t>rollout 3</a:t>
            </a:r>
          </a:p>
        </p:txBody>
      </p:sp>
      <p:sp>
        <p:nvSpPr>
          <p:cNvPr id="17" name="TextBox 16"/>
          <p:cNvSpPr txBox="1"/>
          <p:nvPr/>
        </p:nvSpPr>
        <p:spPr>
          <a:xfrm>
            <a:off x="4754880" y="2688336"/>
            <a:ext cx="640080" cy="384048"/>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1E8449"/>
                </a:solidFill>
                <a:latin typeface="Adobe Clean ExtraBold"/>
              </a:rPr>
              <a:t>+1.2</a:t>
            </a:r>
          </a:p>
        </p:txBody>
      </p:sp>
      <p:cxnSp>
        <p:nvCxnSpPr>
          <p:cNvPr id="18" name="Connector 17"/>
          <p:cNvCxnSpPr/>
          <p:nvPr/>
        </p:nvCxnSpPr>
        <p:spPr>
          <a:xfrm>
            <a:off x="2651760" y="2514600"/>
            <a:ext cx="548640" cy="374904"/>
          </a:xfrm>
          <a:prstGeom prst="line">
            <a:avLst/>
          </a:prstGeom>
          <a:ln w="9525">
            <a:solidFill>
              <a:srgbClr val="AAB2C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00400" y="3200400"/>
            <a:ext cx="2286000"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992" y="3191256"/>
            <a:ext cx="1463040" cy="384048"/>
          </a:xfrm>
          <a:prstGeom prst="rect">
            <a:avLst/>
          </a:prstGeom>
          <a:noFill/>
        </p:spPr>
        <p:txBody>
          <a:bodyPr wrap="square" lIns="0" rIns="0" tIns="0" bIns="0" anchor="ctr">
            <a:spAutoFit/>
          </a:bodyPr>
          <a:lstStyle/>
          <a:p>
            <a:pPr algn="l">
              <a:lnSpc>
                <a:spcPct val="100000"/>
              </a:lnSpc>
              <a:spcBef>
                <a:spcPts val="0"/>
              </a:spcBef>
              <a:spcAft>
                <a:spcPts val="200"/>
              </a:spcAft>
            </a:pPr>
            <a:r>
              <a:rPr sz="1150" b="0" i="0">
                <a:solidFill>
                  <a:srgbClr val="21304A"/>
                </a:solidFill>
                <a:latin typeface="Adobe Clean"/>
              </a:rPr>
              <a:t>· · ·</a:t>
            </a:r>
          </a:p>
        </p:txBody>
      </p:sp>
      <p:cxnSp>
        <p:nvCxnSpPr>
          <p:cNvPr id="21" name="Connector 20"/>
          <p:cNvCxnSpPr/>
          <p:nvPr/>
        </p:nvCxnSpPr>
        <p:spPr>
          <a:xfrm>
            <a:off x="2651760" y="2514600"/>
            <a:ext cx="548640" cy="877824"/>
          </a:xfrm>
          <a:prstGeom prst="line">
            <a:avLst/>
          </a:prstGeom>
          <a:ln w="9525">
            <a:solidFill>
              <a:srgbClr val="AAB2C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200400" y="3703320"/>
            <a:ext cx="2286000" cy="384048"/>
          </a:xfrm>
          <a:prstGeom prst="roundRect">
            <a:avLst>
              <a:gd name="adj" fmla="val 20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2" y="3694176"/>
            <a:ext cx="1463040" cy="384048"/>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21304A"/>
                </a:solidFill>
                <a:latin typeface="Adobe Clean ExtraBold"/>
              </a:rPr>
              <a:t>rollout 8</a:t>
            </a:r>
          </a:p>
        </p:txBody>
      </p:sp>
      <p:sp>
        <p:nvSpPr>
          <p:cNvPr id="24" name="TextBox 23"/>
          <p:cNvSpPr txBox="1"/>
          <p:nvPr/>
        </p:nvSpPr>
        <p:spPr>
          <a:xfrm>
            <a:off x="4754880" y="3694176"/>
            <a:ext cx="640080" cy="384048"/>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1E8449"/>
                </a:solidFill>
                <a:latin typeface="Adobe Clean ExtraBold"/>
              </a:rPr>
              <a:t>+0.1</a:t>
            </a:r>
          </a:p>
        </p:txBody>
      </p:sp>
      <p:cxnSp>
        <p:nvCxnSpPr>
          <p:cNvPr id="25" name="Connector 24"/>
          <p:cNvCxnSpPr/>
          <p:nvPr/>
        </p:nvCxnSpPr>
        <p:spPr>
          <a:xfrm>
            <a:off x="2651760" y="2514600"/>
            <a:ext cx="548640" cy="1380744"/>
          </a:xfrm>
          <a:prstGeom prst="line">
            <a:avLst/>
          </a:prstGeom>
          <a:ln w="9525">
            <a:solidFill>
              <a:srgbClr val="AAB2C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00400" y="1371600"/>
            <a:ext cx="2286000" cy="274320"/>
          </a:xfrm>
          <a:prstGeom prst="rect">
            <a:avLst/>
          </a:prstGeom>
          <a:noFill/>
        </p:spPr>
        <p:txBody>
          <a:bodyPr wrap="square" lIns="0" rIns="0" tIns="0" bIns="0" anchor="t">
            <a:spAutoFit/>
          </a:bodyPr>
          <a:lstStyle/>
          <a:p>
            <a:pPr algn="ctr">
              <a:lnSpc>
                <a:spcPct val="100000"/>
              </a:lnSpc>
              <a:spcBef>
                <a:spcPts val="0"/>
              </a:spcBef>
              <a:spcAft>
                <a:spcPts val="200"/>
              </a:spcAft>
            </a:pPr>
            <a:r>
              <a:rPr sz="1100" b="1" i="0">
                <a:solidFill>
                  <a:srgbClr val="5A6473"/>
                </a:solidFill>
                <a:latin typeface="Adobe Clean ExtraBold"/>
              </a:rPr>
              <a:t>K = 8 sampled rollouts</a:t>
            </a:r>
          </a:p>
        </p:txBody>
      </p:sp>
      <p:sp>
        <p:nvSpPr>
          <p:cNvPr id="27" name="Rounded Rectangle 26"/>
          <p:cNvSpPr/>
          <p:nvPr/>
        </p:nvSpPr>
        <p:spPr>
          <a:xfrm>
            <a:off x="6126480" y="2011680"/>
            <a:ext cx="2743200" cy="1371600"/>
          </a:xfrm>
          <a:prstGeom prst="roundRect">
            <a:avLst>
              <a:gd name="adj" fmla="val 6000"/>
            </a:avLst>
          </a:prstGeom>
          <a:solidFill>
            <a:srgbClr val="FBEAE7"/>
          </a:solidFill>
          <a:ln w="15240">
            <a:solidFill>
              <a:srgbClr val="E7C3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2139696"/>
            <a:ext cx="2377440" cy="310896"/>
          </a:xfrm>
          <a:prstGeom prst="rect">
            <a:avLst/>
          </a:prstGeom>
          <a:noFill/>
        </p:spPr>
        <p:txBody>
          <a:bodyPr wrap="square" lIns="0" rIns="0" tIns="0" bIns="0" anchor="t">
            <a:spAutoFit/>
          </a:bodyPr>
          <a:lstStyle/>
          <a:p>
            <a:pPr algn="l">
              <a:lnSpc>
                <a:spcPct val="95000"/>
              </a:lnSpc>
              <a:spcBef>
                <a:spcPts val="0"/>
              </a:spcBef>
              <a:spcAft>
                <a:spcPts val="200"/>
              </a:spcAft>
            </a:pPr>
            <a:r>
              <a:rPr sz="1250" b="1" i="0">
                <a:solidFill>
                  <a:srgbClr val="EB1000"/>
                </a:solidFill>
                <a:latin typeface="Adobe Clean ExtraBold"/>
              </a:rPr>
              <a:t>group-relative advantage</a:t>
            </a:r>
          </a:p>
        </p:txBody>
      </p:sp>
      <p:sp>
        <p:nvSpPr>
          <p:cNvPr id="29" name="TextBox 28"/>
          <p:cNvSpPr txBox="1"/>
          <p:nvPr/>
        </p:nvSpPr>
        <p:spPr>
          <a:xfrm>
            <a:off x="6327648" y="2542032"/>
            <a:ext cx="2377440" cy="457200"/>
          </a:xfrm>
          <a:prstGeom prst="rect">
            <a:avLst/>
          </a:prstGeom>
          <a:noFill/>
        </p:spPr>
        <p:txBody>
          <a:bodyPr wrap="square" lIns="0" rIns="0" tIns="0" bIns="0" anchor="ctr">
            <a:spAutoFit/>
          </a:bodyPr>
          <a:lstStyle/>
          <a:p>
            <a:pPr algn="l">
              <a:lnSpc>
                <a:spcPct val="100000"/>
              </a:lnSpc>
              <a:spcBef>
                <a:spcPts val="0"/>
              </a:spcBef>
              <a:spcAft>
                <a:spcPts val="200"/>
              </a:spcAft>
            </a:pPr>
            <a:r>
              <a:rPr sz="1700" b="1" i="0">
                <a:solidFill>
                  <a:srgbClr val="21304A"/>
                </a:solidFill>
                <a:latin typeface="Courier New"/>
              </a:rPr>
              <a:t>A = (r − μ) ⁄ σ</a:t>
            </a:r>
          </a:p>
        </p:txBody>
      </p:sp>
      <p:sp>
        <p:nvSpPr>
          <p:cNvPr id="30" name="TextBox 29"/>
          <p:cNvSpPr txBox="1"/>
          <p:nvPr/>
        </p:nvSpPr>
        <p:spPr>
          <a:xfrm>
            <a:off x="6327648" y="3017520"/>
            <a:ext cx="2377440" cy="310896"/>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baseline = group mean μ</a:t>
            </a:r>
          </a:p>
        </p:txBody>
      </p:sp>
      <p:sp>
        <p:nvSpPr>
          <p:cNvPr id="31" name="Right Arrow 30"/>
          <p:cNvSpPr/>
          <p:nvPr/>
        </p:nvSpPr>
        <p:spPr>
          <a:xfrm>
            <a:off x="5532120" y="2578608"/>
            <a:ext cx="274320" cy="219456"/>
          </a:xfrm>
          <a:prstGeom prst="rightArrow">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098280" y="2011680"/>
            <a:ext cx="2514600" cy="137160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81160" y="2139696"/>
            <a:ext cx="2194560" cy="310896"/>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Adobe Clean ExtraBold"/>
              </a:rPr>
              <a:t>KL anchor</a:t>
            </a:r>
          </a:p>
        </p:txBody>
      </p:sp>
      <p:sp>
        <p:nvSpPr>
          <p:cNvPr id="34" name="TextBox 33"/>
          <p:cNvSpPr txBox="1"/>
          <p:nvPr/>
        </p:nvSpPr>
        <p:spPr>
          <a:xfrm>
            <a:off x="9281160" y="2468880"/>
            <a:ext cx="2194560" cy="822960"/>
          </a:xfrm>
          <a:prstGeom prst="rect">
            <a:avLst/>
          </a:prstGeom>
          <a:noFill/>
        </p:spPr>
        <p:txBody>
          <a:bodyPr wrap="square" lIns="0" rIns="0" tIns="0" bIns="0" anchor="t">
            <a:spAutoFit/>
          </a:bodyPr>
          <a:lstStyle/>
          <a:p>
            <a:pPr algn="l">
              <a:lnSpc>
                <a:spcPct val="98000"/>
              </a:lnSpc>
              <a:spcBef>
                <a:spcPts val="0"/>
              </a:spcBef>
              <a:spcAft>
                <a:spcPts val="200"/>
              </a:spcAft>
            </a:pPr>
            <a:r>
              <a:rPr sz="1100" b="0" i="0">
                <a:solidFill>
                  <a:srgbClr val="5A6473"/>
                </a:solidFill>
                <a:latin typeface="Adobe Clean"/>
              </a:rPr>
              <a:t>β = 0.04 to the warmstart reference keeps the policy from drifting off the grammar.</a:t>
            </a:r>
          </a:p>
        </p:txBody>
      </p:sp>
      <p:sp>
        <p:nvSpPr>
          <p:cNvPr id="35" name="Rounded Rectangle 34"/>
          <p:cNvSpPr/>
          <p:nvPr/>
        </p:nvSpPr>
        <p:spPr>
          <a:xfrm>
            <a:off x="548640" y="3703320"/>
            <a:ext cx="3593592" cy="123444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813048"/>
            <a:ext cx="73152" cy="10149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3822191"/>
            <a:ext cx="3200400" cy="310896"/>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No critic</a:t>
            </a:r>
          </a:p>
        </p:txBody>
      </p:sp>
      <p:sp>
        <p:nvSpPr>
          <p:cNvPr id="38" name="TextBox 37"/>
          <p:cNvSpPr txBox="1"/>
          <p:nvPr/>
        </p:nvSpPr>
        <p:spPr>
          <a:xfrm>
            <a:off x="768096" y="4160520"/>
            <a:ext cx="3200400" cy="731520"/>
          </a:xfrm>
          <a:prstGeom prst="rect">
            <a:avLst/>
          </a:prstGeom>
          <a:noFill/>
        </p:spPr>
        <p:txBody>
          <a:bodyPr wrap="square" lIns="0" rIns="0" tIns="0" bIns="0" anchor="t">
            <a:spAutoFit/>
          </a:bodyPr>
          <a:lstStyle/>
          <a:p>
            <a:pPr algn="l">
              <a:lnSpc>
                <a:spcPct val="98000"/>
              </a:lnSpc>
              <a:spcBef>
                <a:spcPts val="0"/>
              </a:spcBef>
              <a:spcAft>
                <a:spcPts val="200"/>
              </a:spcAft>
            </a:pPr>
            <a:r>
              <a:rPr sz="1150" b="0" i="0">
                <a:solidFill>
                  <a:srgbClr val="5A6473"/>
                </a:solidFill>
                <a:latin typeface="Adobe Clean"/>
              </a:rPr>
              <a:t>group mean replaces a learned value network — cheaper, stable for LLMs</a:t>
            </a:r>
          </a:p>
        </p:txBody>
      </p:sp>
      <p:sp>
        <p:nvSpPr>
          <p:cNvPr id="39" name="Rounded Rectangle 38"/>
          <p:cNvSpPr/>
          <p:nvPr/>
        </p:nvSpPr>
        <p:spPr>
          <a:xfrm>
            <a:off x="4297679" y="3703320"/>
            <a:ext cx="3593592" cy="123444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97679" y="3813048"/>
            <a:ext cx="73152" cy="1014984"/>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17136" y="3822191"/>
            <a:ext cx="3200400" cy="310896"/>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Self-normalizing</a:t>
            </a:r>
          </a:p>
        </p:txBody>
      </p:sp>
      <p:sp>
        <p:nvSpPr>
          <p:cNvPr id="42" name="TextBox 41"/>
          <p:cNvSpPr txBox="1"/>
          <p:nvPr/>
        </p:nvSpPr>
        <p:spPr>
          <a:xfrm>
            <a:off x="4517136" y="4160520"/>
            <a:ext cx="3200400" cy="731520"/>
          </a:xfrm>
          <a:prstGeom prst="rect">
            <a:avLst/>
          </a:prstGeom>
          <a:noFill/>
        </p:spPr>
        <p:txBody>
          <a:bodyPr wrap="square" lIns="0" rIns="0" tIns="0" bIns="0" anchor="t">
            <a:spAutoFit/>
          </a:bodyPr>
          <a:lstStyle/>
          <a:p>
            <a:pPr algn="l">
              <a:lnSpc>
                <a:spcPct val="98000"/>
              </a:lnSpc>
              <a:spcBef>
                <a:spcPts val="0"/>
              </a:spcBef>
              <a:spcAft>
                <a:spcPts val="200"/>
              </a:spcAft>
            </a:pPr>
            <a:r>
              <a:rPr sz="1150" b="0" i="0">
                <a:solidFill>
                  <a:srgbClr val="5A6473"/>
                </a:solidFill>
                <a:latin typeface="Adobe Clean"/>
              </a:rPr>
              <a:t>÷σ adapts to per-problem reward scale (FEA magnitudes vary widely)</a:t>
            </a:r>
          </a:p>
        </p:txBody>
      </p:sp>
      <p:sp>
        <p:nvSpPr>
          <p:cNvPr id="43" name="Rounded Rectangle 42"/>
          <p:cNvSpPr/>
          <p:nvPr/>
        </p:nvSpPr>
        <p:spPr>
          <a:xfrm>
            <a:off x="8046719" y="3703320"/>
            <a:ext cx="3593592" cy="123444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46719" y="3813048"/>
            <a:ext cx="73152" cy="101498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66175" y="3822191"/>
            <a:ext cx="3200400" cy="310896"/>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Anchored</a:t>
            </a:r>
          </a:p>
        </p:txBody>
      </p:sp>
      <p:sp>
        <p:nvSpPr>
          <p:cNvPr id="46" name="TextBox 45"/>
          <p:cNvSpPr txBox="1"/>
          <p:nvPr/>
        </p:nvSpPr>
        <p:spPr>
          <a:xfrm>
            <a:off x="8266175" y="4160520"/>
            <a:ext cx="3200400" cy="731520"/>
          </a:xfrm>
          <a:prstGeom prst="rect">
            <a:avLst/>
          </a:prstGeom>
          <a:noFill/>
        </p:spPr>
        <p:txBody>
          <a:bodyPr wrap="square" lIns="0" rIns="0" tIns="0" bIns="0" anchor="t">
            <a:spAutoFit/>
          </a:bodyPr>
          <a:lstStyle/>
          <a:p>
            <a:pPr algn="l">
              <a:lnSpc>
                <a:spcPct val="98000"/>
              </a:lnSpc>
              <a:spcBef>
                <a:spcPts val="0"/>
              </a:spcBef>
              <a:spcAft>
                <a:spcPts val="200"/>
              </a:spcAft>
            </a:pPr>
            <a:r>
              <a:rPr sz="1150" b="0" i="0">
                <a:solidFill>
                  <a:srgbClr val="5A6473"/>
                </a:solidFill>
                <a:latin typeface="Adobe Clean"/>
              </a:rPr>
              <a:t>KL to the SFT policy preserves the grammar earned in Stage 1</a:t>
            </a:r>
          </a:p>
        </p:txBody>
      </p:sp>
      <p:sp>
        <p:nvSpPr>
          <p:cNvPr id="47" name="Rounded Rectangle 46"/>
          <p:cNvSpPr/>
          <p:nvPr/>
        </p:nvSpPr>
        <p:spPr>
          <a:xfrm>
            <a:off x="548640" y="5120640"/>
            <a:ext cx="11064240" cy="960120"/>
          </a:xfrm>
          <a:prstGeom prst="roundRect">
            <a:avLst>
              <a:gd name="adj" fmla="val 3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59" y="5230368"/>
            <a:ext cx="2560320" cy="457200"/>
          </a:xfrm>
          <a:prstGeom prst="rect">
            <a:avLst/>
          </a:prstGeom>
          <a:noFill/>
        </p:spPr>
        <p:txBody>
          <a:bodyPr wrap="square" lIns="0" rIns="0" tIns="0" bIns="0" anchor="t">
            <a:spAutoFit/>
          </a:bodyPr>
          <a:lstStyle/>
          <a:p>
            <a:pPr algn="l">
              <a:lnSpc>
                <a:spcPct val="100000"/>
              </a:lnSpc>
              <a:spcBef>
                <a:spcPts val="0"/>
              </a:spcBef>
              <a:spcAft>
                <a:spcPts val="200"/>
              </a:spcAft>
            </a:pPr>
            <a:r>
              <a:rPr sz="2000" b="1" i="0">
                <a:solidFill>
                  <a:srgbClr val="FFFFFF"/>
                </a:solidFill>
                <a:latin typeface="Adobe Clean ExtraBold"/>
              </a:rPr>
              <a:t>K = 8</a:t>
            </a:r>
          </a:p>
        </p:txBody>
      </p:sp>
      <p:sp>
        <p:nvSpPr>
          <p:cNvPr id="49" name="TextBox 48"/>
          <p:cNvSpPr txBox="1"/>
          <p:nvPr/>
        </p:nvSpPr>
        <p:spPr>
          <a:xfrm>
            <a:off x="822959" y="5687568"/>
            <a:ext cx="256032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AEB9CC"/>
                </a:solidFill>
                <a:latin typeface="Adobe Clean"/>
              </a:rPr>
              <a:t>rollouts / problem</a:t>
            </a:r>
          </a:p>
        </p:txBody>
      </p:sp>
      <p:sp>
        <p:nvSpPr>
          <p:cNvPr id="50" name="TextBox 49"/>
          <p:cNvSpPr txBox="1"/>
          <p:nvPr/>
        </p:nvSpPr>
        <p:spPr>
          <a:xfrm>
            <a:off x="3566160" y="5230368"/>
            <a:ext cx="2560320" cy="457200"/>
          </a:xfrm>
          <a:prstGeom prst="rect">
            <a:avLst/>
          </a:prstGeom>
          <a:noFill/>
        </p:spPr>
        <p:txBody>
          <a:bodyPr wrap="square" lIns="0" rIns="0" tIns="0" bIns="0" anchor="t">
            <a:spAutoFit/>
          </a:bodyPr>
          <a:lstStyle/>
          <a:p>
            <a:pPr algn="l">
              <a:lnSpc>
                <a:spcPct val="100000"/>
              </a:lnSpc>
              <a:spcBef>
                <a:spcPts val="0"/>
              </a:spcBef>
              <a:spcAft>
                <a:spcPts val="200"/>
              </a:spcAft>
            </a:pPr>
            <a:r>
              <a:rPr sz="2000" b="1" i="0">
                <a:solidFill>
                  <a:srgbClr val="FFFFFF"/>
                </a:solidFill>
                <a:latin typeface="Adobe Clean ExtraBold"/>
              </a:rPr>
              <a:t>β = 0.04</a:t>
            </a:r>
          </a:p>
        </p:txBody>
      </p:sp>
      <p:sp>
        <p:nvSpPr>
          <p:cNvPr id="51" name="TextBox 50"/>
          <p:cNvSpPr txBox="1"/>
          <p:nvPr/>
        </p:nvSpPr>
        <p:spPr>
          <a:xfrm>
            <a:off x="3566160" y="5687568"/>
            <a:ext cx="256032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AEB9CC"/>
                </a:solidFill>
                <a:latin typeface="Adobe Clean"/>
              </a:rPr>
              <a:t>KL coefficient</a:t>
            </a:r>
          </a:p>
        </p:txBody>
      </p:sp>
      <p:sp>
        <p:nvSpPr>
          <p:cNvPr id="52" name="TextBox 51"/>
          <p:cNvSpPr txBox="1"/>
          <p:nvPr/>
        </p:nvSpPr>
        <p:spPr>
          <a:xfrm>
            <a:off x="6309360" y="5230368"/>
            <a:ext cx="2560320" cy="457200"/>
          </a:xfrm>
          <a:prstGeom prst="rect">
            <a:avLst/>
          </a:prstGeom>
          <a:noFill/>
        </p:spPr>
        <p:txBody>
          <a:bodyPr wrap="square" lIns="0" rIns="0" tIns="0" bIns="0" anchor="t">
            <a:spAutoFit/>
          </a:bodyPr>
          <a:lstStyle/>
          <a:p>
            <a:pPr algn="l">
              <a:lnSpc>
                <a:spcPct val="100000"/>
              </a:lnSpc>
              <a:spcBef>
                <a:spcPts val="0"/>
              </a:spcBef>
              <a:spcAft>
                <a:spcPts val="200"/>
              </a:spcAft>
            </a:pPr>
            <a:r>
              <a:rPr sz="2000" b="1" i="0">
                <a:solidFill>
                  <a:srgbClr val="FFFFFF"/>
                </a:solidFill>
                <a:latin typeface="Adobe Clean ExtraBold"/>
              </a:rPr>
              <a:t>lr 5e-6</a:t>
            </a:r>
          </a:p>
        </p:txBody>
      </p:sp>
      <p:sp>
        <p:nvSpPr>
          <p:cNvPr id="53" name="TextBox 52"/>
          <p:cNvSpPr txBox="1"/>
          <p:nvPr/>
        </p:nvSpPr>
        <p:spPr>
          <a:xfrm>
            <a:off x="6309360" y="5687568"/>
            <a:ext cx="256032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AEB9CC"/>
                </a:solidFill>
                <a:latin typeface="Adobe Clean"/>
              </a:rPr>
              <a:t>from warmstart</a:t>
            </a:r>
          </a:p>
        </p:txBody>
      </p:sp>
      <p:sp>
        <p:nvSpPr>
          <p:cNvPr id="54" name="TextBox 53"/>
          <p:cNvSpPr txBox="1"/>
          <p:nvPr/>
        </p:nvSpPr>
        <p:spPr>
          <a:xfrm>
            <a:off x="9052560" y="5230368"/>
            <a:ext cx="2560320" cy="457200"/>
          </a:xfrm>
          <a:prstGeom prst="rect">
            <a:avLst/>
          </a:prstGeom>
          <a:noFill/>
        </p:spPr>
        <p:txBody>
          <a:bodyPr wrap="square" lIns="0" rIns="0" tIns="0" bIns="0" anchor="t">
            <a:spAutoFit/>
          </a:bodyPr>
          <a:lstStyle/>
          <a:p>
            <a:pPr algn="l">
              <a:lnSpc>
                <a:spcPct val="100000"/>
              </a:lnSpc>
              <a:spcBef>
                <a:spcPts val="0"/>
              </a:spcBef>
              <a:spcAft>
                <a:spcPts val="200"/>
              </a:spcAft>
            </a:pPr>
            <a:r>
              <a:rPr sz="2000" b="1" i="0">
                <a:solidFill>
                  <a:srgbClr val="FFFFFF"/>
                </a:solidFill>
                <a:latin typeface="Adobe Clean ExtraBold"/>
              </a:rPr>
              <a:t>100</a:t>
            </a:r>
          </a:p>
        </p:txBody>
      </p:sp>
      <p:sp>
        <p:nvSpPr>
          <p:cNvPr id="55" name="TextBox 54"/>
          <p:cNvSpPr txBox="1"/>
          <p:nvPr/>
        </p:nvSpPr>
        <p:spPr>
          <a:xfrm>
            <a:off x="9052560" y="5687568"/>
            <a:ext cx="256032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AEB9CC"/>
                </a:solidFill>
                <a:latin typeface="Adobe Clean"/>
              </a:rPr>
              <a:t>GRPO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Multi-Branch Rollouts: Tree-Expanded Advantage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Optionally expand each state into a stratified action tree for a lower-variance, lookahead baseline.</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2926080"/>
            <a:ext cx="1188720" cy="731520"/>
          </a:xfrm>
          <a:prstGeom prst="roundRect">
            <a:avLst>
              <a:gd name="adj" fmla="val 10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07792"/>
            <a:ext cx="1188720" cy="731520"/>
          </a:xfrm>
          <a:prstGeom prst="rect">
            <a:avLst/>
          </a:prstGeom>
          <a:noFill/>
        </p:spPr>
        <p:txBody>
          <a:bodyPr wrap="square" lIns="0" rIns="0" tIns="0" bIns="0" anchor="ctr">
            <a:spAutoFit/>
          </a:bodyPr>
          <a:lstStyle/>
          <a:p>
            <a:pPr algn="ctr">
              <a:lnSpc>
                <a:spcPct val="95000"/>
              </a:lnSpc>
              <a:spcBef>
                <a:spcPts val="0"/>
              </a:spcBef>
              <a:spcAft>
                <a:spcPts val="200"/>
              </a:spcAft>
            </a:pPr>
            <a:r>
              <a:rPr sz="1250" b="1" i="0">
                <a:solidFill>
                  <a:srgbClr val="FFFFFF"/>
                </a:solidFill>
                <a:latin typeface="Adobe Clean ExtraBold"/>
              </a:rPr>
              <a:t>state s</a:t>
            </a:r>
          </a:p>
          <a:p>
            <a:pPr algn="ctr">
              <a:lnSpc>
                <a:spcPct val="95000"/>
              </a:lnSpc>
              <a:spcBef>
                <a:spcPts val="0"/>
              </a:spcBef>
              <a:spcAft>
                <a:spcPts val="200"/>
              </a:spcAft>
            </a:pPr>
            <a:r>
              <a:rPr sz="1000" b="0" i="0">
                <a:solidFill>
                  <a:srgbClr val="AEB9CC"/>
                </a:solidFill>
                <a:latin typeface="Adobe Clean"/>
              </a:rPr>
              <a:t>D = 1</a:t>
            </a:r>
          </a:p>
        </p:txBody>
      </p:sp>
      <p:sp>
        <p:nvSpPr>
          <p:cNvPr id="7" name="Rounded Rectangle 6"/>
          <p:cNvSpPr/>
          <p:nvPr/>
        </p:nvSpPr>
        <p:spPr>
          <a:xfrm>
            <a:off x="4023360" y="1783080"/>
            <a:ext cx="2651760" cy="603504"/>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23360" y="1892807"/>
            <a:ext cx="73152"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24528" y="1837943"/>
            <a:ext cx="182880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SCALE</a:t>
            </a:r>
          </a:p>
        </p:txBody>
      </p:sp>
      <p:sp>
        <p:nvSpPr>
          <p:cNvPr id="10" name="TextBox 9"/>
          <p:cNvSpPr txBox="1"/>
          <p:nvPr/>
        </p:nvSpPr>
        <p:spPr>
          <a:xfrm>
            <a:off x="4224528" y="2112264"/>
            <a:ext cx="1828800" cy="256032"/>
          </a:xfrm>
          <a:prstGeom prst="rect">
            <a:avLst/>
          </a:prstGeom>
          <a:noFill/>
        </p:spPr>
        <p:txBody>
          <a:bodyPr wrap="square" lIns="0" rIns="0" tIns="0" bIns="0" anchor="t">
            <a:spAutoFit/>
          </a:bodyPr>
          <a:lstStyle/>
          <a:p>
            <a:pPr algn="l">
              <a:lnSpc>
                <a:spcPct val="100000"/>
              </a:lnSpc>
              <a:spcBef>
                <a:spcPts val="0"/>
              </a:spcBef>
              <a:spcAft>
                <a:spcPts val="200"/>
              </a:spcAft>
            </a:pPr>
            <a:r>
              <a:rPr sz="950" b="0" i="0">
                <a:solidFill>
                  <a:srgbClr val="5A6473"/>
                </a:solidFill>
                <a:latin typeface="Adobe Clean"/>
              </a:rPr>
              <a:t>one action class</a:t>
            </a:r>
          </a:p>
        </p:txBody>
      </p:sp>
      <p:sp>
        <p:nvSpPr>
          <p:cNvPr id="11" name="TextBox 10"/>
          <p:cNvSpPr txBox="1"/>
          <p:nvPr/>
        </p:nvSpPr>
        <p:spPr>
          <a:xfrm>
            <a:off x="5852160" y="1801368"/>
            <a:ext cx="731520" cy="603504"/>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1E8449"/>
                </a:solidFill>
                <a:latin typeface="Adobe Clean ExtraBold"/>
              </a:rPr>
              <a:t>γΦ = +1.2</a:t>
            </a:r>
          </a:p>
        </p:txBody>
      </p:sp>
      <p:cxnSp>
        <p:nvCxnSpPr>
          <p:cNvPr id="12" name="Connector 11"/>
          <p:cNvCxnSpPr/>
          <p:nvPr/>
        </p:nvCxnSpPr>
        <p:spPr>
          <a:xfrm flipV="1">
            <a:off x="2057400" y="2084831"/>
            <a:ext cx="1965960" cy="1207009"/>
          </a:xfrm>
          <a:prstGeom prst="line">
            <a:avLst/>
          </a:prstGeom>
          <a:ln w="12700">
            <a:solidFill>
              <a:srgbClr val="AAB2C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023360" y="2660904"/>
            <a:ext cx="2651760" cy="603504"/>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2770632"/>
            <a:ext cx="73152" cy="384048"/>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24528" y="2715768"/>
            <a:ext cx="182880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ADD</a:t>
            </a:r>
          </a:p>
        </p:txBody>
      </p:sp>
      <p:sp>
        <p:nvSpPr>
          <p:cNvPr id="16" name="TextBox 15"/>
          <p:cNvSpPr txBox="1"/>
          <p:nvPr/>
        </p:nvSpPr>
        <p:spPr>
          <a:xfrm>
            <a:off x="4224528" y="2990088"/>
            <a:ext cx="1828800" cy="256032"/>
          </a:xfrm>
          <a:prstGeom prst="rect">
            <a:avLst/>
          </a:prstGeom>
          <a:noFill/>
        </p:spPr>
        <p:txBody>
          <a:bodyPr wrap="square" lIns="0" rIns="0" tIns="0" bIns="0" anchor="t">
            <a:spAutoFit/>
          </a:bodyPr>
          <a:lstStyle/>
          <a:p>
            <a:pPr algn="l">
              <a:lnSpc>
                <a:spcPct val="100000"/>
              </a:lnSpc>
              <a:spcBef>
                <a:spcPts val="0"/>
              </a:spcBef>
              <a:spcAft>
                <a:spcPts val="200"/>
              </a:spcAft>
            </a:pPr>
            <a:r>
              <a:rPr sz="950" b="0" i="0">
                <a:solidFill>
                  <a:srgbClr val="5A6473"/>
                </a:solidFill>
                <a:latin typeface="Adobe Clean"/>
              </a:rPr>
              <a:t>one action class</a:t>
            </a:r>
          </a:p>
        </p:txBody>
      </p:sp>
      <p:sp>
        <p:nvSpPr>
          <p:cNvPr id="17" name="TextBox 16"/>
          <p:cNvSpPr txBox="1"/>
          <p:nvPr/>
        </p:nvSpPr>
        <p:spPr>
          <a:xfrm>
            <a:off x="5852160" y="2679192"/>
            <a:ext cx="731520" cy="603504"/>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2E5A9C"/>
                </a:solidFill>
                <a:latin typeface="Adobe Clean ExtraBold"/>
              </a:rPr>
              <a:t>+0.4</a:t>
            </a:r>
          </a:p>
        </p:txBody>
      </p:sp>
      <p:cxnSp>
        <p:nvCxnSpPr>
          <p:cNvPr id="18" name="Connector 17"/>
          <p:cNvCxnSpPr/>
          <p:nvPr/>
        </p:nvCxnSpPr>
        <p:spPr>
          <a:xfrm flipV="1">
            <a:off x="2057400" y="2962656"/>
            <a:ext cx="1965960" cy="329184"/>
          </a:xfrm>
          <a:prstGeom prst="line">
            <a:avLst/>
          </a:prstGeom>
          <a:ln w="12700">
            <a:solidFill>
              <a:srgbClr val="AAB2C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023360" y="3538728"/>
            <a:ext cx="2651760" cy="603504"/>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23360" y="3648456"/>
            <a:ext cx="73152" cy="38404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24528" y="3593592"/>
            <a:ext cx="182880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MODIFY</a:t>
            </a:r>
          </a:p>
        </p:txBody>
      </p:sp>
      <p:sp>
        <p:nvSpPr>
          <p:cNvPr id="22" name="TextBox 21"/>
          <p:cNvSpPr txBox="1"/>
          <p:nvPr/>
        </p:nvSpPr>
        <p:spPr>
          <a:xfrm>
            <a:off x="4224528" y="3867912"/>
            <a:ext cx="1828800" cy="256032"/>
          </a:xfrm>
          <a:prstGeom prst="rect">
            <a:avLst/>
          </a:prstGeom>
          <a:noFill/>
        </p:spPr>
        <p:txBody>
          <a:bodyPr wrap="square" lIns="0" rIns="0" tIns="0" bIns="0" anchor="t">
            <a:spAutoFit/>
          </a:bodyPr>
          <a:lstStyle/>
          <a:p>
            <a:pPr algn="l">
              <a:lnSpc>
                <a:spcPct val="100000"/>
              </a:lnSpc>
              <a:spcBef>
                <a:spcPts val="0"/>
              </a:spcBef>
              <a:spcAft>
                <a:spcPts val="200"/>
              </a:spcAft>
            </a:pPr>
            <a:r>
              <a:rPr sz="950" b="0" i="0">
                <a:solidFill>
                  <a:srgbClr val="5A6473"/>
                </a:solidFill>
                <a:latin typeface="Adobe Clean"/>
              </a:rPr>
              <a:t>one action class</a:t>
            </a:r>
          </a:p>
        </p:txBody>
      </p:sp>
      <p:sp>
        <p:nvSpPr>
          <p:cNvPr id="23" name="TextBox 22"/>
          <p:cNvSpPr txBox="1"/>
          <p:nvPr/>
        </p:nvSpPr>
        <p:spPr>
          <a:xfrm>
            <a:off x="5852160" y="3557016"/>
            <a:ext cx="731520" cy="603504"/>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0E7C7B"/>
                </a:solidFill>
                <a:latin typeface="Adobe Clean ExtraBold"/>
              </a:rPr>
              <a:t>+0.9</a:t>
            </a:r>
          </a:p>
        </p:txBody>
      </p:sp>
      <p:cxnSp>
        <p:nvCxnSpPr>
          <p:cNvPr id="24" name="Connector 23"/>
          <p:cNvCxnSpPr/>
          <p:nvPr/>
        </p:nvCxnSpPr>
        <p:spPr>
          <a:xfrm>
            <a:off x="2057400" y="3291840"/>
            <a:ext cx="1965960" cy="548640"/>
          </a:xfrm>
          <a:prstGeom prst="line">
            <a:avLst/>
          </a:prstGeom>
          <a:ln w="12700">
            <a:solidFill>
              <a:srgbClr val="AAB2C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023360" y="4416552"/>
            <a:ext cx="2651760" cy="603504"/>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23360" y="4526280"/>
            <a:ext cx="73152" cy="384048"/>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4471416"/>
            <a:ext cx="182880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REMOVE</a:t>
            </a:r>
          </a:p>
        </p:txBody>
      </p:sp>
      <p:sp>
        <p:nvSpPr>
          <p:cNvPr id="28" name="TextBox 27"/>
          <p:cNvSpPr txBox="1"/>
          <p:nvPr/>
        </p:nvSpPr>
        <p:spPr>
          <a:xfrm>
            <a:off x="4224528" y="4745736"/>
            <a:ext cx="1828800" cy="256032"/>
          </a:xfrm>
          <a:prstGeom prst="rect">
            <a:avLst/>
          </a:prstGeom>
          <a:noFill/>
        </p:spPr>
        <p:txBody>
          <a:bodyPr wrap="square" lIns="0" rIns="0" tIns="0" bIns="0" anchor="t">
            <a:spAutoFit/>
          </a:bodyPr>
          <a:lstStyle/>
          <a:p>
            <a:pPr algn="l">
              <a:lnSpc>
                <a:spcPct val="100000"/>
              </a:lnSpc>
              <a:spcBef>
                <a:spcPts val="0"/>
              </a:spcBef>
              <a:spcAft>
                <a:spcPts val="200"/>
              </a:spcAft>
            </a:pPr>
            <a:r>
              <a:rPr sz="950" b="0" i="0">
                <a:solidFill>
                  <a:srgbClr val="5A6473"/>
                </a:solidFill>
                <a:latin typeface="Adobe Clean"/>
              </a:rPr>
              <a:t>one action class</a:t>
            </a:r>
          </a:p>
        </p:txBody>
      </p:sp>
      <p:sp>
        <p:nvSpPr>
          <p:cNvPr id="29" name="TextBox 28"/>
          <p:cNvSpPr txBox="1"/>
          <p:nvPr/>
        </p:nvSpPr>
        <p:spPr>
          <a:xfrm>
            <a:off x="5852160" y="4434840"/>
            <a:ext cx="731520" cy="603504"/>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B26B00"/>
                </a:solidFill>
                <a:latin typeface="Adobe Clean ExtraBold"/>
              </a:rPr>
              <a:t>−0.2</a:t>
            </a:r>
          </a:p>
        </p:txBody>
      </p:sp>
      <p:cxnSp>
        <p:nvCxnSpPr>
          <p:cNvPr id="30" name="Connector 29"/>
          <p:cNvCxnSpPr/>
          <p:nvPr/>
        </p:nvCxnSpPr>
        <p:spPr>
          <a:xfrm>
            <a:off x="2057400" y="3291840"/>
            <a:ext cx="1965960" cy="1426464"/>
          </a:xfrm>
          <a:prstGeom prst="line">
            <a:avLst/>
          </a:prstGeom>
          <a:ln w="12700">
            <a:solidFill>
              <a:srgbClr val="AAB2C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023360" y="5294376"/>
            <a:ext cx="2651760" cy="603504"/>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023360" y="5404104"/>
            <a:ext cx="73152" cy="384048"/>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24528" y="5349240"/>
            <a:ext cx="182880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Courier New"/>
              </a:rPr>
              <a:t>MOVE</a:t>
            </a:r>
          </a:p>
        </p:txBody>
      </p:sp>
      <p:sp>
        <p:nvSpPr>
          <p:cNvPr id="34" name="TextBox 33"/>
          <p:cNvSpPr txBox="1"/>
          <p:nvPr/>
        </p:nvSpPr>
        <p:spPr>
          <a:xfrm>
            <a:off x="4224528" y="5623560"/>
            <a:ext cx="1828800" cy="256032"/>
          </a:xfrm>
          <a:prstGeom prst="rect">
            <a:avLst/>
          </a:prstGeom>
          <a:noFill/>
        </p:spPr>
        <p:txBody>
          <a:bodyPr wrap="square" lIns="0" rIns="0" tIns="0" bIns="0" anchor="t">
            <a:spAutoFit/>
          </a:bodyPr>
          <a:lstStyle/>
          <a:p>
            <a:pPr algn="l">
              <a:lnSpc>
                <a:spcPct val="100000"/>
              </a:lnSpc>
              <a:spcBef>
                <a:spcPts val="0"/>
              </a:spcBef>
              <a:spcAft>
                <a:spcPts val="200"/>
              </a:spcAft>
            </a:pPr>
            <a:r>
              <a:rPr sz="950" b="0" i="0">
                <a:solidFill>
                  <a:srgbClr val="5A6473"/>
                </a:solidFill>
                <a:latin typeface="Adobe Clean"/>
              </a:rPr>
              <a:t>one action class</a:t>
            </a:r>
          </a:p>
        </p:txBody>
      </p:sp>
      <p:sp>
        <p:nvSpPr>
          <p:cNvPr id="35" name="TextBox 34"/>
          <p:cNvSpPr txBox="1"/>
          <p:nvPr/>
        </p:nvSpPr>
        <p:spPr>
          <a:xfrm>
            <a:off x="5852160" y="5312664"/>
            <a:ext cx="731520" cy="603504"/>
          </a:xfrm>
          <a:prstGeom prst="rect">
            <a:avLst/>
          </a:prstGeom>
          <a:noFill/>
        </p:spPr>
        <p:txBody>
          <a:bodyPr wrap="square" lIns="0" rIns="0" tIns="0" bIns="0" anchor="ctr">
            <a:spAutoFit/>
          </a:bodyPr>
          <a:lstStyle/>
          <a:p>
            <a:pPr algn="r">
              <a:lnSpc>
                <a:spcPct val="100000"/>
              </a:lnSpc>
              <a:spcBef>
                <a:spcPts val="0"/>
              </a:spcBef>
              <a:spcAft>
                <a:spcPts val="200"/>
              </a:spcAft>
            </a:pPr>
            <a:r>
              <a:rPr sz="1150" b="1" i="0">
                <a:solidFill>
                  <a:srgbClr val="7030A0"/>
                </a:solidFill>
                <a:latin typeface="Adobe Clean ExtraBold"/>
              </a:rPr>
              <a:t>+0.3</a:t>
            </a:r>
          </a:p>
        </p:txBody>
      </p:sp>
      <p:cxnSp>
        <p:nvCxnSpPr>
          <p:cNvPr id="36" name="Connector 35"/>
          <p:cNvCxnSpPr/>
          <p:nvPr/>
        </p:nvCxnSpPr>
        <p:spPr>
          <a:xfrm>
            <a:off x="2057400" y="3291840"/>
            <a:ext cx="1965960" cy="2304288"/>
          </a:xfrm>
          <a:prstGeom prst="line">
            <a:avLst/>
          </a:prstGeom>
          <a:ln w="12700">
            <a:solidFill>
              <a:srgbClr val="AAB2C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023360" y="1490472"/>
            <a:ext cx="3200400" cy="274320"/>
          </a:xfrm>
          <a:prstGeom prst="rect">
            <a:avLst/>
          </a:prstGeom>
          <a:noFill/>
        </p:spPr>
        <p:txBody>
          <a:bodyPr wrap="square" lIns="0" rIns="0" tIns="0" bIns="0" anchor="t">
            <a:spAutoFit/>
          </a:bodyPr>
          <a:lstStyle/>
          <a:p>
            <a:pPr algn="l">
              <a:lnSpc>
                <a:spcPct val="100000"/>
              </a:lnSpc>
              <a:spcBef>
                <a:spcPts val="0"/>
              </a:spcBef>
              <a:spcAft>
                <a:spcPts val="200"/>
              </a:spcAft>
            </a:pPr>
            <a:r>
              <a:rPr sz="1050" b="1" i="0">
                <a:solidFill>
                  <a:srgbClr val="5A6473"/>
                </a:solidFill>
                <a:latin typeface="Adobe Clean ExtraBold"/>
              </a:rPr>
              <a:t>b = 5 branches · one per class</a:t>
            </a:r>
          </a:p>
        </p:txBody>
      </p:sp>
      <p:sp>
        <p:nvSpPr>
          <p:cNvPr id="38" name="Rounded Rectangle 37"/>
          <p:cNvSpPr/>
          <p:nvPr/>
        </p:nvSpPr>
        <p:spPr>
          <a:xfrm>
            <a:off x="7040880" y="1783080"/>
            <a:ext cx="4572000" cy="1417320"/>
          </a:xfrm>
          <a:prstGeom prst="roundRect">
            <a:avLst>
              <a:gd name="adj" fmla="val 4500"/>
            </a:avLst>
          </a:prstGeom>
          <a:solidFill>
            <a:srgbClr val="FBEAE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40880" y="1892807"/>
            <a:ext cx="73152" cy="119786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9480" y="1901952"/>
            <a:ext cx="4206240" cy="310896"/>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EB1000"/>
                </a:solidFill>
                <a:latin typeface="Adobe Clean ExtraBold"/>
              </a:rPr>
              <a:t>tree-expanded advantage</a:t>
            </a:r>
          </a:p>
        </p:txBody>
      </p:sp>
      <p:sp>
        <p:nvSpPr>
          <p:cNvPr id="41" name="TextBox 40"/>
          <p:cNvSpPr txBox="1"/>
          <p:nvPr/>
        </p:nvSpPr>
        <p:spPr>
          <a:xfrm>
            <a:off x="7269480" y="2286000"/>
            <a:ext cx="4206240" cy="457200"/>
          </a:xfrm>
          <a:prstGeom prst="rect">
            <a:avLst/>
          </a:prstGeom>
          <a:noFill/>
        </p:spPr>
        <p:txBody>
          <a:bodyPr wrap="square" lIns="0" rIns="0" tIns="0" bIns="0" anchor="ctr">
            <a:spAutoFit/>
          </a:bodyPr>
          <a:lstStyle/>
          <a:p>
            <a:pPr algn="l">
              <a:lnSpc>
                <a:spcPct val="95000"/>
              </a:lnSpc>
              <a:spcBef>
                <a:spcPts val="0"/>
              </a:spcBef>
              <a:spcAft>
                <a:spcPts val="200"/>
              </a:spcAft>
            </a:pPr>
            <a:r>
              <a:rPr sz="1350" b="1" i="0">
                <a:solidFill>
                  <a:srgbClr val="21304A"/>
                </a:solidFill>
                <a:latin typeface="Courier New"/>
              </a:rPr>
              <a:t>A_k = γΦ(s_H^k) − mean_j γΦ(s_H^j)</a:t>
            </a:r>
          </a:p>
        </p:txBody>
      </p:sp>
      <p:sp>
        <p:nvSpPr>
          <p:cNvPr id="42" name="TextBox 41"/>
          <p:cNvSpPr txBox="1"/>
          <p:nvPr/>
        </p:nvSpPr>
        <p:spPr>
          <a:xfrm>
            <a:off x="7269480" y="2743200"/>
            <a:ext cx="4206240" cy="411480"/>
          </a:xfrm>
          <a:prstGeom prst="rect">
            <a:avLst/>
          </a:prstGeom>
          <a:noFill/>
        </p:spPr>
        <p:txBody>
          <a:bodyPr wrap="square" lIns="0" rIns="0" tIns="0" bIns="0" anchor="t">
            <a:spAutoFit/>
          </a:bodyPr>
          <a:lstStyle/>
          <a:p>
            <a:pPr algn="l">
              <a:lnSpc>
                <a:spcPct val="95000"/>
              </a:lnSpc>
              <a:spcBef>
                <a:spcPts val="0"/>
              </a:spcBef>
              <a:spcAft>
                <a:spcPts val="200"/>
              </a:spcAft>
            </a:pPr>
            <a:r>
              <a:rPr sz="1050" b="0" i="0">
                <a:solidFill>
                  <a:srgbClr val="5A6473"/>
                </a:solidFill>
                <a:latin typeface="Adobe Clean"/>
              </a:rPr>
              <a:t>baseline = mean potential over sibling branches</a:t>
            </a:r>
          </a:p>
        </p:txBody>
      </p:sp>
      <p:sp>
        <p:nvSpPr>
          <p:cNvPr id="43" name="Rounded Rectangle 42"/>
          <p:cNvSpPr/>
          <p:nvPr/>
        </p:nvSpPr>
        <p:spPr>
          <a:xfrm>
            <a:off x="7040880" y="3383280"/>
            <a:ext cx="457200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40880" y="3493008"/>
            <a:ext cx="73152" cy="649224"/>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69480" y="3474720"/>
            <a:ext cx="420624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Adobe Clean ExtraBold"/>
              </a:rPr>
              <a:t>Stratified coverage</a:t>
            </a:r>
          </a:p>
        </p:txBody>
      </p:sp>
      <p:sp>
        <p:nvSpPr>
          <p:cNvPr id="46" name="TextBox 45"/>
          <p:cNvSpPr txBox="1"/>
          <p:nvPr/>
        </p:nvSpPr>
        <p:spPr>
          <a:xfrm>
            <a:off x="7269480" y="3767328"/>
            <a:ext cx="4206240" cy="457200"/>
          </a:xfrm>
          <a:prstGeom prst="rect">
            <a:avLst/>
          </a:prstGeom>
          <a:noFill/>
        </p:spPr>
        <p:txBody>
          <a:bodyPr wrap="square" lIns="0" rIns="0" tIns="0" bIns="0" anchor="t">
            <a:spAutoFit/>
          </a:bodyPr>
          <a:lstStyle/>
          <a:p>
            <a:pPr algn="l">
              <a:lnSpc>
                <a:spcPct val="95000"/>
              </a:lnSpc>
              <a:spcBef>
                <a:spcPts val="0"/>
              </a:spcBef>
              <a:spcAft>
                <a:spcPts val="200"/>
              </a:spcAft>
            </a:pPr>
            <a:r>
              <a:rPr sz="1050" b="0" i="0">
                <a:solidFill>
                  <a:srgbClr val="5A6473"/>
                </a:solidFill>
                <a:latin typeface="Adobe Clean"/>
              </a:rPr>
              <a:t>one branch per action class ⇒ the group spans genuinely different moves, not 8 near-duplicates</a:t>
            </a:r>
          </a:p>
        </p:txBody>
      </p:sp>
      <p:sp>
        <p:nvSpPr>
          <p:cNvPr id="47" name="Rounded Rectangle 46"/>
          <p:cNvSpPr/>
          <p:nvPr/>
        </p:nvSpPr>
        <p:spPr>
          <a:xfrm>
            <a:off x="7040880" y="4334256"/>
            <a:ext cx="457200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040880" y="4443984"/>
            <a:ext cx="73152" cy="64922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69480" y="4425696"/>
            <a:ext cx="420624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Adobe Clean ExtraBold"/>
              </a:rPr>
              <a:t>Lower variance</a:t>
            </a:r>
          </a:p>
        </p:txBody>
      </p:sp>
      <p:sp>
        <p:nvSpPr>
          <p:cNvPr id="50" name="TextBox 49"/>
          <p:cNvSpPr txBox="1"/>
          <p:nvPr/>
        </p:nvSpPr>
        <p:spPr>
          <a:xfrm>
            <a:off x="7269480" y="4718304"/>
            <a:ext cx="4206240" cy="457200"/>
          </a:xfrm>
          <a:prstGeom prst="rect">
            <a:avLst/>
          </a:prstGeom>
          <a:noFill/>
        </p:spPr>
        <p:txBody>
          <a:bodyPr wrap="square" lIns="0" rIns="0" tIns="0" bIns="0" anchor="t">
            <a:spAutoFit/>
          </a:bodyPr>
          <a:lstStyle/>
          <a:p>
            <a:pPr algn="l">
              <a:lnSpc>
                <a:spcPct val="95000"/>
              </a:lnSpc>
              <a:spcBef>
                <a:spcPts val="0"/>
              </a:spcBef>
              <a:spcAft>
                <a:spcPts val="200"/>
              </a:spcAft>
            </a:pPr>
            <a:r>
              <a:rPr sz="1050" b="0" i="0">
                <a:solidFill>
                  <a:srgbClr val="5A6473"/>
                </a:solidFill>
                <a:latin typeface="Adobe Clean"/>
              </a:rPr>
              <a:t>sibling-mean baseline is tighter than a single-rollout return</a:t>
            </a:r>
          </a:p>
        </p:txBody>
      </p:sp>
      <p:sp>
        <p:nvSpPr>
          <p:cNvPr id="51" name="Rounded Rectangle 50"/>
          <p:cNvSpPr/>
          <p:nvPr/>
        </p:nvSpPr>
        <p:spPr>
          <a:xfrm>
            <a:off x="7040880" y="5285232"/>
            <a:ext cx="457200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40880" y="5394960"/>
            <a:ext cx="73152" cy="6492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69480" y="5376672"/>
            <a:ext cx="420624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21304A"/>
                </a:solidFill>
                <a:latin typeface="Adobe Clean ExtraBold"/>
              </a:rPr>
              <a:t>Bounded cost</a:t>
            </a:r>
          </a:p>
        </p:txBody>
      </p:sp>
      <p:sp>
        <p:nvSpPr>
          <p:cNvPr id="54" name="TextBox 53"/>
          <p:cNvSpPr txBox="1"/>
          <p:nvPr/>
        </p:nvSpPr>
        <p:spPr>
          <a:xfrm>
            <a:off x="7269480" y="5669280"/>
            <a:ext cx="4206240" cy="457200"/>
          </a:xfrm>
          <a:prstGeom prst="rect">
            <a:avLst/>
          </a:prstGeom>
          <a:noFill/>
        </p:spPr>
        <p:txBody>
          <a:bodyPr wrap="square" lIns="0" rIns="0" tIns="0" bIns="0" anchor="t">
            <a:spAutoFit/>
          </a:bodyPr>
          <a:lstStyle/>
          <a:p>
            <a:pPr algn="l">
              <a:lnSpc>
                <a:spcPct val="95000"/>
              </a:lnSpc>
              <a:spcBef>
                <a:spcPts val="0"/>
              </a:spcBef>
              <a:spcAft>
                <a:spcPts val="200"/>
              </a:spcAft>
            </a:pPr>
            <a:r>
              <a:rPr sz="1050" b="0" i="0">
                <a:solidFill>
                  <a:srgbClr val="5A6473"/>
                </a:solidFill>
                <a:latin typeface="Adobe Clean"/>
              </a:rPr>
              <a:t>D=1, b=5 ⇒ ~20 FEA calls per state; verified in verify_tree_expansion.py</a:t>
            </a:r>
          </a:p>
        </p:txBody>
      </p:sp>
      <p:sp>
        <p:nvSpPr>
          <p:cNvPr id="55" name="TextBox 54"/>
          <p:cNvSpPr txBox="1"/>
          <p:nvPr/>
        </p:nvSpPr>
        <p:spPr>
          <a:xfrm>
            <a:off x="548640" y="6199632"/>
            <a:ext cx="11064240" cy="320040"/>
          </a:xfrm>
          <a:prstGeom prst="rect">
            <a:avLst/>
          </a:prstGeom>
          <a:noFill/>
        </p:spPr>
        <p:txBody>
          <a:bodyPr wrap="square" lIns="0" rIns="0" tIns="0" bIns="0" anchor="t">
            <a:spAutoFit/>
          </a:bodyPr>
          <a:lstStyle/>
          <a:p>
            <a:pPr algn="l">
              <a:lnSpc>
                <a:spcPct val="100000"/>
              </a:lnSpc>
              <a:spcBef>
                <a:spcPts val="0"/>
              </a:spcBef>
              <a:spcAft>
                <a:spcPts val="200"/>
              </a:spcAft>
            </a:pPr>
            <a:r>
              <a:rPr sz="1100" b="0" i="1">
                <a:solidFill>
                  <a:srgbClr val="5A6473"/>
                </a:solidFill>
                <a:latin typeface="Adobe Clean"/>
              </a:rPr>
              <a:t>Champion run keeps it off (use_tree_expansion=false) — it is a variance-reduction option, not required for the headline result.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Reward: One Dense Potential-Based Signal</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No reward zoo — a single term that is dense, physics-grounded, and provably can't change the optimum.</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737360"/>
            <a:ext cx="6675120" cy="2331720"/>
          </a:xfrm>
          <a:prstGeom prst="roundRect">
            <a:avLst>
              <a:gd name="adj" fmla="val 3000"/>
            </a:avLst>
          </a:prstGeom>
          <a:solidFill>
            <a:srgbClr val="1B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01952"/>
            <a:ext cx="621792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8FA0BE"/>
                </a:solidFill>
                <a:latin typeface="Adobe Clean ExtraBold"/>
              </a:rPr>
              <a:t>rewards.py · LagrangianPotentialReward</a:t>
            </a:r>
          </a:p>
        </p:txBody>
      </p:sp>
      <p:sp>
        <p:nvSpPr>
          <p:cNvPr id="7" name="TextBox 6"/>
          <p:cNvSpPr txBox="1"/>
          <p:nvPr/>
        </p:nvSpPr>
        <p:spPr>
          <a:xfrm>
            <a:off x="804672" y="2249424"/>
            <a:ext cx="6217920" cy="1682495"/>
          </a:xfrm>
          <a:prstGeom prst="rect">
            <a:avLst/>
          </a:prstGeom>
          <a:noFill/>
        </p:spPr>
        <p:txBody>
          <a:bodyPr wrap="square" lIns="0" rIns="0" tIns="0" bIns="0" anchor="t">
            <a:spAutoFit/>
          </a:bodyPr>
          <a:lstStyle/>
          <a:p>
            <a:pPr algn="l">
              <a:lnSpc>
                <a:spcPct val="106000"/>
              </a:lnSpc>
              <a:spcBef>
                <a:spcPts val="0"/>
              </a:spcBef>
              <a:spcAft>
                <a:spcPts val="150"/>
              </a:spcAft>
            </a:pPr>
            <a:r>
              <a:rPr sz="1250" b="0" i="0">
                <a:solidFill>
                  <a:srgbClr val="8FA0BE"/>
                </a:solidFill>
                <a:latin typeface="Courier New"/>
              </a:rPr>
              <a:t># per-step shaping reward</a:t>
            </a:r>
          </a:p>
          <a:p>
            <a:pPr algn="l">
              <a:lnSpc>
                <a:spcPct val="106000"/>
              </a:lnSpc>
              <a:spcBef>
                <a:spcPts val="0"/>
              </a:spcBef>
              <a:spcAft>
                <a:spcPts val="150"/>
              </a:spcAft>
            </a:pPr>
            <a:r>
              <a:rPr sz="1250" b="0" i="0">
                <a:solidFill>
                  <a:srgbClr val="E7ECF5"/>
                </a:solidFill>
                <a:latin typeface="Courier New"/>
              </a:rPr>
              <a:t>r_env  =  γ·Φ(s′) − Φ(s)</a:t>
            </a:r>
          </a:p>
          <a:p>
            <a:pPr algn="l">
              <a:lnSpc>
                <a:spcPct val="106000"/>
              </a:lnSpc>
              <a:spcBef>
                <a:spcPts val="0"/>
              </a:spcBef>
              <a:spcAft>
                <a:spcPts val="150"/>
              </a:spcAft>
            </a:pPr>
            <a:r>
              <a:rPr sz="1250" b="0" i="0">
                <a:solidFill>
                  <a:srgbClr val="E7ECF5"/>
                </a:solidFill>
                <a:latin typeface="Courier New"/>
              </a:rPr>
              <a:t/>
            </a:r>
          </a:p>
          <a:p>
            <a:pPr algn="l">
              <a:lnSpc>
                <a:spcPct val="106000"/>
              </a:lnSpc>
              <a:spcBef>
                <a:spcPts val="0"/>
              </a:spcBef>
              <a:spcAft>
                <a:spcPts val="150"/>
              </a:spcAft>
            </a:pPr>
            <a:r>
              <a:rPr sz="1250" b="0" i="0">
                <a:solidFill>
                  <a:srgbClr val="8FA0BE"/>
                </a:solidFill>
                <a:latin typeface="Courier New"/>
              </a:rPr>
              <a:t># Lagrangian potential</a:t>
            </a:r>
          </a:p>
          <a:p>
            <a:pPr algn="l">
              <a:lnSpc>
                <a:spcPct val="106000"/>
              </a:lnSpc>
              <a:spcBef>
                <a:spcPts val="0"/>
              </a:spcBef>
              <a:spcAft>
                <a:spcPts val="150"/>
              </a:spcAft>
            </a:pPr>
            <a:r>
              <a:rPr sz="1250" b="0" i="0">
                <a:solidFill>
                  <a:srgbClr val="E7ECF5"/>
                </a:solidFill>
                <a:latin typeface="Courier New"/>
              </a:rPr>
              <a:t>Φ(s) = log(m₀/m) − α · V(s)</a:t>
            </a:r>
          </a:p>
          <a:p>
            <a:pPr algn="l">
              <a:lnSpc>
                <a:spcPct val="106000"/>
              </a:lnSpc>
              <a:spcBef>
                <a:spcPts val="0"/>
              </a:spcBef>
              <a:spcAft>
                <a:spcPts val="150"/>
              </a:spcAft>
            </a:pPr>
            <a:r>
              <a:rPr sz="1250" b="0" i="0">
                <a:solidFill>
                  <a:srgbClr val="E7ECF5"/>
                </a:solidFill>
                <a:latin typeface="Courier New"/>
              </a:rPr>
              <a:t>V(s) = softplus(1.5 − FOS_b)</a:t>
            </a:r>
          </a:p>
          <a:p>
            <a:pPr algn="l">
              <a:lnSpc>
                <a:spcPct val="106000"/>
              </a:lnSpc>
              <a:spcBef>
                <a:spcPts val="0"/>
              </a:spcBef>
              <a:spcAft>
                <a:spcPts val="150"/>
              </a:spcAft>
            </a:pPr>
            <a:r>
              <a:rPr sz="1250" b="0" i="0">
                <a:solidFill>
                  <a:srgbClr val="E7ECF5"/>
                </a:solidFill>
                <a:latin typeface="Courier New"/>
              </a:rPr>
              <a:t>     + softplus(1.5 − FOS_y)</a:t>
            </a:r>
          </a:p>
          <a:p>
            <a:pPr algn="l">
              <a:lnSpc>
                <a:spcPct val="106000"/>
              </a:lnSpc>
              <a:spcBef>
                <a:spcPts val="0"/>
              </a:spcBef>
              <a:spcAft>
                <a:spcPts val="150"/>
              </a:spcAft>
            </a:pPr>
            <a:r>
              <a:rPr sz="1250" b="0" i="0">
                <a:solidFill>
                  <a:srgbClr val="E7ECF5"/>
                </a:solidFill>
                <a:latin typeface="Courier New"/>
              </a:rPr>
              <a:t>     + softplus(δ/0.01 − 1)</a:t>
            </a:r>
          </a:p>
        </p:txBody>
      </p:sp>
      <p:sp>
        <p:nvSpPr>
          <p:cNvPr id="8" name="Rounded Rectangle 7"/>
          <p:cNvSpPr/>
          <p:nvPr/>
        </p:nvSpPr>
        <p:spPr>
          <a:xfrm>
            <a:off x="548640" y="4206240"/>
            <a:ext cx="6675120" cy="914400"/>
          </a:xfrm>
          <a:prstGeom prst="roundRect">
            <a:avLst>
              <a:gd name="adj" fmla="val 4500"/>
            </a:avLst>
          </a:prstGeom>
          <a:solidFill>
            <a:srgbClr val="EAF6EE"/>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315968"/>
            <a:ext cx="73152" cy="69494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4315968"/>
            <a:ext cx="6217920" cy="292608"/>
          </a:xfrm>
          <a:prstGeom prst="rect">
            <a:avLst/>
          </a:prstGeom>
          <a:noFill/>
        </p:spPr>
        <p:txBody>
          <a:bodyPr wrap="square" lIns="0" rIns="0" tIns="0" bIns="0" anchor="t">
            <a:spAutoFit/>
          </a:bodyPr>
          <a:lstStyle/>
          <a:p>
            <a:pPr algn="l">
              <a:lnSpc>
                <a:spcPct val="100000"/>
              </a:lnSpc>
              <a:spcBef>
                <a:spcPts val="0"/>
              </a:spcBef>
              <a:spcAft>
                <a:spcPts val="200"/>
              </a:spcAft>
            </a:pPr>
            <a:r>
              <a:rPr sz="1250" b="1" i="0">
                <a:solidFill>
                  <a:srgbClr val="1E8449"/>
                </a:solidFill>
                <a:latin typeface="Adobe Clean ExtraBold"/>
              </a:rPr>
              <a:t>Telescopes to the true objective</a:t>
            </a:r>
          </a:p>
        </p:txBody>
      </p:sp>
      <p:sp>
        <p:nvSpPr>
          <p:cNvPr id="11" name="TextBox 10"/>
          <p:cNvSpPr txBox="1"/>
          <p:nvPr/>
        </p:nvSpPr>
        <p:spPr>
          <a:xfrm>
            <a:off x="804672" y="4626864"/>
            <a:ext cx="6217920" cy="457200"/>
          </a:xfrm>
          <a:prstGeom prst="rect">
            <a:avLst/>
          </a:prstGeom>
          <a:noFill/>
        </p:spPr>
        <p:txBody>
          <a:bodyPr wrap="square" lIns="0" rIns="0" tIns="0" bIns="0" anchor="ctr">
            <a:spAutoFit/>
          </a:bodyPr>
          <a:lstStyle/>
          <a:p>
            <a:pPr algn="l">
              <a:lnSpc>
                <a:spcPct val="95000"/>
              </a:lnSpc>
              <a:spcBef>
                <a:spcPts val="0"/>
              </a:spcBef>
              <a:spcAft>
                <a:spcPts val="200"/>
              </a:spcAft>
            </a:pPr>
            <a:r>
              <a:rPr sz="1300" b="1" i="0">
                <a:solidFill>
                  <a:srgbClr val="21304A"/>
                </a:solidFill>
                <a:latin typeface="Courier New"/>
              </a:rPr>
              <a:t>Σ γᵗ r_env  =  γᴴΦ(s_H) − Φ(s₀)</a:t>
            </a:r>
            <a:r>
              <a:rPr sz="1150" b="0" i="0">
                <a:solidFill>
                  <a:srgbClr val="5A6473"/>
                </a:solidFill>
                <a:latin typeface="Adobe Clean"/>
              </a:rPr>
              <a:t>  — only the endpoints matter.</a:t>
            </a:r>
          </a:p>
        </p:txBody>
      </p:sp>
      <p:sp>
        <p:nvSpPr>
          <p:cNvPr id="12" name="Rounded Rectangle 11"/>
          <p:cNvSpPr/>
          <p:nvPr/>
        </p:nvSpPr>
        <p:spPr>
          <a:xfrm>
            <a:off x="7452360" y="1783080"/>
            <a:ext cx="416052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52360" y="1892807"/>
            <a:ext cx="73152" cy="74066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883664"/>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Dense</a:t>
            </a:r>
          </a:p>
        </p:txBody>
      </p:sp>
      <p:sp>
        <p:nvSpPr>
          <p:cNvPr id="15" name="TextBox 14"/>
          <p:cNvSpPr txBox="1"/>
          <p:nvPr/>
        </p:nvSpPr>
        <p:spPr>
          <a:xfrm>
            <a:off x="7680960" y="2185416"/>
            <a:ext cx="3749039"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every turn gets signal — no waiting for a terminal feasible/infeasible verdict</a:t>
            </a:r>
          </a:p>
        </p:txBody>
      </p:sp>
      <p:sp>
        <p:nvSpPr>
          <p:cNvPr id="16" name="Rounded Rectangle 15"/>
          <p:cNvSpPr/>
          <p:nvPr/>
        </p:nvSpPr>
        <p:spPr>
          <a:xfrm>
            <a:off x="7452360" y="2843784"/>
            <a:ext cx="416052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2953512"/>
            <a:ext cx="73152" cy="74066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2944368"/>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Policy-invariant</a:t>
            </a:r>
          </a:p>
        </p:txBody>
      </p:sp>
      <p:sp>
        <p:nvSpPr>
          <p:cNvPr id="19" name="TextBox 18"/>
          <p:cNvSpPr txBox="1"/>
          <p:nvPr/>
        </p:nvSpPr>
        <p:spPr>
          <a:xfrm>
            <a:off x="7680960" y="3246120"/>
            <a:ext cx="3749039"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potential shaping (Ng et al. 1999): shaping can't move the optimum</a:t>
            </a:r>
          </a:p>
        </p:txBody>
      </p:sp>
      <p:sp>
        <p:nvSpPr>
          <p:cNvPr id="20" name="Rounded Rectangle 19"/>
          <p:cNvSpPr/>
          <p:nvPr/>
        </p:nvSpPr>
        <p:spPr>
          <a:xfrm>
            <a:off x="7452360" y="3904487"/>
            <a:ext cx="416052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52360" y="4014215"/>
            <a:ext cx="73152" cy="740664"/>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4005072"/>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Physics-grounded</a:t>
            </a:r>
          </a:p>
        </p:txBody>
      </p:sp>
      <p:sp>
        <p:nvSpPr>
          <p:cNvPr id="23" name="TextBox 22"/>
          <p:cNvSpPr txBox="1"/>
          <p:nvPr/>
        </p:nvSpPr>
        <p:spPr>
          <a:xfrm>
            <a:off x="7680960" y="4306824"/>
            <a:ext cx="3749039"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Φ is computed straight from the FEA state the loop produces</a:t>
            </a:r>
          </a:p>
        </p:txBody>
      </p:sp>
      <p:sp>
        <p:nvSpPr>
          <p:cNvPr id="24" name="Rounded Rectangle 23"/>
          <p:cNvSpPr/>
          <p:nvPr/>
        </p:nvSpPr>
        <p:spPr>
          <a:xfrm>
            <a:off x="7452360" y="4965192"/>
            <a:ext cx="416052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52360" y="5074920"/>
            <a:ext cx="73152" cy="74066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5065776"/>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One knob</a:t>
            </a:r>
          </a:p>
        </p:txBody>
      </p:sp>
      <p:sp>
        <p:nvSpPr>
          <p:cNvPr id="27" name="TextBox 26"/>
          <p:cNvSpPr txBox="1"/>
          <p:nvPr/>
        </p:nvSpPr>
        <p:spPr>
          <a:xfrm>
            <a:off x="7680960" y="5367528"/>
            <a:ext cx="3749039"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α = 5 prices the constraint violation; γ = 0.99 discounts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Making Multi-Turn RL Tractable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The cost lives in the rollout loop, not the loss — so the rollout is batched and turn-major.</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783080"/>
            <a:ext cx="3593592" cy="137160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3593592" cy="731520"/>
          </a:xfrm>
          <a:prstGeom prst="rect">
            <a:avLst/>
          </a:prstGeom>
          <a:noFill/>
        </p:spPr>
        <p:txBody>
          <a:bodyPr wrap="square" lIns="0" rIns="0" tIns="0" bIns="0" anchor="ctr">
            <a:spAutoFit/>
          </a:bodyPr>
          <a:lstStyle/>
          <a:p>
            <a:pPr algn="ctr">
              <a:lnSpc>
                <a:spcPct val="100000"/>
              </a:lnSpc>
              <a:spcBef>
                <a:spcPts val="0"/>
              </a:spcBef>
              <a:spcAft>
                <a:spcPts val="200"/>
              </a:spcAft>
            </a:pPr>
            <a:r>
              <a:rPr sz="3800" b="1" i="0">
                <a:solidFill>
                  <a:srgbClr val="21304A"/>
                </a:solidFill>
                <a:latin typeface="Adobe Clean ExtraBold"/>
              </a:rPr>
              <a:t>~511 s</a:t>
            </a:r>
          </a:p>
        </p:txBody>
      </p:sp>
      <p:sp>
        <p:nvSpPr>
          <p:cNvPr id="7" name="TextBox 6"/>
          <p:cNvSpPr txBox="1"/>
          <p:nvPr/>
        </p:nvSpPr>
        <p:spPr>
          <a:xfrm>
            <a:off x="548640" y="2615184"/>
            <a:ext cx="3593592" cy="292608"/>
          </a:xfrm>
          <a:prstGeom prst="rect">
            <a:avLst/>
          </a:prstGeom>
          <a:noFill/>
        </p:spPr>
        <p:txBody>
          <a:bodyPr wrap="square" lIns="0" rIns="0" tIns="0" bIns="0" anchor="t">
            <a:spAutoFit/>
          </a:bodyPr>
          <a:lstStyle/>
          <a:p>
            <a:pPr algn="ctr">
              <a:lnSpc>
                <a:spcPct val="100000"/>
              </a:lnSpc>
              <a:spcBef>
                <a:spcPts val="0"/>
              </a:spcBef>
              <a:spcAft>
                <a:spcPts val="200"/>
              </a:spcAft>
            </a:pPr>
            <a:r>
              <a:rPr sz="1300" b="1" i="0">
                <a:solidFill>
                  <a:srgbClr val="21304A"/>
                </a:solidFill>
                <a:latin typeface="Adobe Clean ExtraBold"/>
              </a:rPr>
              <a:t>per GRPO step</a:t>
            </a:r>
          </a:p>
        </p:txBody>
      </p:sp>
      <p:sp>
        <p:nvSpPr>
          <p:cNvPr id="8" name="TextBox 7"/>
          <p:cNvSpPr txBox="1"/>
          <p:nvPr/>
        </p:nvSpPr>
        <p:spPr>
          <a:xfrm>
            <a:off x="548640" y="2907792"/>
            <a:ext cx="3593592" cy="274320"/>
          </a:xfrm>
          <a:prstGeom prst="rect">
            <a:avLst/>
          </a:prstGeom>
          <a:noFill/>
        </p:spPr>
        <p:txBody>
          <a:bodyPr wrap="square" lIns="0" rIns="0" tIns="0" bIns="0" anchor="t">
            <a:spAutoFit/>
          </a:bodyPr>
          <a:lstStyle/>
          <a:p>
            <a:pPr algn="ctr">
              <a:lnSpc>
                <a:spcPct val="100000"/>
              </a:lnSpc>
              <a:spcBef>
                <a:spcPts val="0"/>
              </a:spcBef>
              <a:spcAft>
                <a:spcPts val="200"/>
              </a:spcAft>
            </a:pPr>
            <a:r>
              <a:rPr sz="1050" b="0" i="0">
                <a:solidFill>
                  <a:srgbClr val="5A6473"/>
                </a:solidFill>
                <a:latin typeface="Adobe Clean"/>
              </a:rPr>
              <a:t>8×H100, measured</a:t>
            </a:r>
          </a:p>
        </p:txBody>
      </p:sp>
      <p:sp>
        <p:nvSpPr>
          <p:cNvPr id="9" name="Rounded Rectangle 8"/>
          <p:cNvSpPr/>
          <p:nvPr/>
        </p:nvSpPr>
        <p:spPr>
          <a:xfrm>
            <a:off x="4297679" y="1783080"/>
            <a:ext cx="3593592" cy="137160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1920240"/>
            <a:ext cx="3593592" cy="731520"/>
          </a:xfrm>
          <a:prstGeom prst="rect">
            <a:avLst/>
          </a:prstGeom>
          <a:noFill/>
        </p:spPr>
        <p:txBody>
          <a:bodyPr wrap="square" lIns="0" rIns="0" tIns="0" bIns="0" anchor="ctr">
            <a:spAutoFit/>
          </a:bodyPr>
          <a:lstStyle/>
          <a:p>
            <a:pPr algn="ctr">
              <a:lnSpc>
                <a:spcPct val="100000"/>
              </a:lnSpc>
              <a:spcBef>
                <a:spcPts val="0"/>
              </a:spcBef>
              <a:spcAft>
                <a:spcPts val="200"/>
              </a:spcAft>
            </a:pPr>
            <a:r>
              <a:rPr sz="3800" b="1" i="0">
                <a:solidFill>
                  <a:srgbClr val="0E7C7B"/>
                </a:solidFill>
                <a:latin typeface="Adobe Clean ExtraBold"/>
              </a:rPr>
              <a:t>4–6k</a:t>
            </a:r>
          </a:p>
        </p:txBody>
      </p:sp>
      <p:sp>
        <p:nvSpPr>
          <p:cNvPr id="11" name="TextBox 10"/>
          <p:cNvSpPr txBox="1"/>
          <p:nvPr/>
        </p:nvSpPr>
        <p:spPr>
          <a:xfrm>
            <a:off x="4297679" y="2615184"/>
            <a:ext cx="3593592" cy="292608"/>
          </a:xfrm>
          <a:prstGeom prst="rect">
            <a:avLst/>
          </a:prstGeom>
          <a:noFill/>
        </p:spPr>
        <p:txBody>
          <a:bodyPr wrap="square" lIns="0" rIns="0" tIns="0" bIns="0" anchor="t">
            <a:spAutoFit/>
          </a:bodyPr>
          <a:lstStyle/>
          <a:p>
            <a:pPr algn="ctr">
              <a:lnSpc>
                <a:spcPct val="100000"/>
              </a:lnSpc>
              <a:spcBef>
                <a:spcPts val="0"/>
              </a:spcBef>
              <a:spcAft>
                <a:spcPts val="200"/>
              </a:spcAft>
            </a:pPr>
            <a:r>
              <a:rPr sz="1300" b="1" i="0">
                <a:solidFill>
                  <a:srgbClr val="21304A"/>
                </a:solidFill>
                <a:latin typeface="Adobe Clean ExtraBold"/>
              </a:rPr>
              <a:t>tokens / rollout</a:t>
            </a:r>
          </a:p>
        </p:txBody>
      </p:sp>
      <p:sp>
        <p:nvSpPr>
          <p:cNvPr id="12" name="TextBox 11"/>
          <p:cNvSpPr txBox="1"/>
          <p:nvPr/>
        </p:nvSpPr>
        <p:spPr>
          <a:xfrm>
            <a:off x="4297679" y="2907792"/>
            <a:ext cx="3593592" cy="274320"/>
          </a:xfrm>
          <a:prstGeom prst="rect">
            <a:avLst/>
          </a:prstGeom>
          <a:noFill/>
        </p:spPr>
        <p:txBody>
          <a:bodyPr wrap="square" lIns="0" rIns="0" tIns="0" bIns="0" anchor="t">
            <a:spAutoFit/>
          </a:bodyPr>
          <a:lstStyle/>
          <a:p>
            <a:pPr algn="ctr">
              <a:lnSpc>
                <a:spcPct val="100000"/>
              </a:lnSpc>
              <a:spcBef>
                <a:spcPts val="0"/>
              </a:spcBef>
              <a:spcAft>
                <a:spcPts val="200"/>
              </a:spcAft>
            </a:pPr>
            <a:r>
              <a:rPr sz="1050" b="0" i="0">
                <a:solidFill>
                  <a:srgbClr val="5A6473"/>
                </a:solidFill>
                <a:latin typeface="Adobe Clean"/>
              </a:rPr>
              <a:t>genuine multi-turn CoT</a:t>
            </a:r>
          </a:p>
        </p:txBody>
      </p:sp>
      <p:sp>
        <p:nvSpPr>
          <p:cNvPr id="13" name="Rounded Rectangle 12"/>
          <p:cNvSpPr/>
          <p:nvPr/>
        </p:nvSpPr>
        <p:spPr>
          <a:xfrm>
            <a:off x="8046719" y="1783080"/>
            <a:ext cx="3593592" cy="137160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1920240"/>
            <a:ext cx="3593592" cy="731520"/>
          </a:xfrm>
          <a:prstGeom prst="rect">
            <a:avLst/>
          </a:prstGeom>
          <a:noFill/>
        </p:spPr>
        <p:txBody>
          <a:bodyPr wrap="square" lIns="0" rIns="0" tIns="0" bIns="0" anchor="ctr">
            <a:spAutoFit/>
          </a:bodyPr>
          <a:lstStyle/>
          <a:p>
            <a:pPr algn="ctr">
              <a:lnSpc>
                <a:spcPct val="100000"/>
              </a:lnSpc>
              <a:spcBef>
                <a:spcPts val="0"/>
              </a:spcBef>
              <a:spcAft>
                <a:spcPts val="200"/>
              </a:spcAft>
            </a:pPr>
            <a:r>
              <a:rPr sz="3800" b="1" i="0">
                <a:solidFill>
                  <a:srgbClr val="1E8449"/>
                </a:solidFill>
                <a:latin typeface="Adobe Clean ExtraBold"/>
              </a:rPr>
              <a:t>~14 h</a:t>
            </a:r>
          </a:p>
        </p:txBody>
      </p:sp>
      <p:sp>
        <p:nvSpPr>
          <p:cNvPr id="15" name="TextBox 14"/>
          <p:cNvSpPr txBox="1"/>
          <p:nvPr/>
        </p:nvSpPr>
        <p:spPr>
          <a:xfrm>
            <a:off x="8046719" y="2615184"/>
            <a:ext cx="3593592" cy="292608"/>
          </a:xfrm>
          <a:prstGeom prst="rect">
            <a:avLst/>
          </a:prstGeom>
          <a:noFill/>
        </p:spPr>
        <p:txBody>
          <a:bodyPr wrap="square" lIns="0" rIns="0" tIns="0" bIns="0" anchor="t">
            <a:spAutoFit/>
          </a:bodyPr>
          <a:lstStyle/>
          <a:p>
            <a:pPr algn="ctr">
              <a:lnSpc>
                <a:spcPct val="100000"/>
              </a:lnSpc>
              <a:spcBef>
                <a:spcPts val="0"/>
              </a:spcBef>
              <a:spcAft>
                <a:spcPts val="200"/>
              </a:spcAft>
            </a:pPr>
            <a:r>
              <a:rPr sz="1300" b="1" i="0">
                <a:solidFill>
                  <a:srgbClr val="21304A"/>
                </a:solidFill>
                <a:latin typeface="Adobe Clean ExtraBold"/>
              </a:rPr>
              <a:t>for 100 steps</a:t>
            </a:r>
          </a:p>
        </p:txBody>
      </p:sp>
      <p:sp>
        <p:nvSpPr>
          <p:cNvPr id="16" name="TextBox 15"/>
          <p:cNvSpPr txBox="1"/>
          <p:nvPr/>
        </p:nvSpPr>
        <p:spPr>
          <a:xfrm>
            <a:off x="8046719" y="2907792"/>
            <a:ext cx="3593592" cy="274320"/>
          </a:xfrm>
          <a:prstGeom prst="rect">
            <a:avLst/>
          </a:prstGeom>
          <a:noFill/>
        </p:spPr>
        <p:txBody>
          <a:bodyPr wrap="square" lIns="0" rIns="0" tIns="0" bIns="0" anchor="t">
            <a:spAutoFit/>
          </a:bodyPr>
          <a:lstStyle/>
          <a:p>
            <a:pPr algn="ctr">
              <a:lnSpc>
                <a:spcPct val="100000"/>
              </a:lnSpc>
              <a:spcBef>
                <a:spcPts val="0"/>
              </a:spcBef>
              <a:spcAft>
                <a:spcPts val="200"/>
              </a:spcAft>
            </a:pPr>
            <a:r>
              <a:rPr sz="1050" b="0" i="0">
                <a:solidFill>
                  <a:srgbClr val="5A6473"/>
                </a:solidFill>
                <a:latin typeface="Adobe Clean"/>
              </a:rPr>
              <a:t>under the 24 h wall</a:t>
            </a:r>
          </a:p>
        </p:txBody>
      </p:sp>
      <p:sp>
        <p:nvSpPr>
          <p:cNvPr id="17" name="Rounded Rectangle 16"/>
          <p:cNvSpPr/>
          <p:nvPr/>
        </p:nvSpPr>
        <p:spPr>
          <a:xfrm>
            <a:off x="548640" y="3383280"/>
            <a:ext cx="5486400" cy="265176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493008"/>
            <a:ext cx="73152" cy="243230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11296"/>
            <a:ext cx="502920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Turn-major batched rollout</a:t>
            </a:r>
          </a:p>
        </p:txBody>
      </p:sp>
      <p:sp>
        <p:nvSpPr>
          <p:cNvPr id="20" name="TextBox 19"/>
          <p:cNvSpPr txBox="1"/>
          <p:nvPr/>
        </p:nvSpPr>
        <p:spPr>
          <a:xfrm>
            <a:off x="804672" y="3895344"/>
            <a:ext cx="502920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1" i="0">
                <a:solidFill>
                  <a:srgbClr val="EB1000"/>
                </a:solidFill>
                <a:latin typeface="Adobe Clean ExtraBold"/>
              </a:rPr>
              <a:t>•  </a:t>
            </a:r>
            <a:r>
              <a:rPr sz="1150" b="0" i="0">
                <a:solidFill>
                  <a:srgbClr val="2C2C2C"/>
                </a:solidFill>
                <a:latin typeface="Adobe Clean"/>
              </a:rPr>
              <a:t>At each turn, batch ALL still-active rollouts into one generate() call</a:t>
            </a:r>
          </a:p>
        </p:txBody>
      </p:sp>
      <p:sp>
        <p:nvSpPr>
          <p:cNvPr id="21" name="TextBox 20"/>
          <p:cNvSpPr txBox="1"/>
          <p:nvPr/>
        </p:nvSpPr>
        <p:spPr>
          <a:xfrm>
            <a:off x="804672" y="4407408"/>
            <a:ext cx="502920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1" i="0">
                <a:solidFill>
                  <a:srgbClr val="EB1000"/>
                </a:solidFill>
                <a:latin typeface="Adobe Clean ExtraBold"/>
              </a:rPr>
              <a:t>•  </a:t>
            </a:r>
            <a:r>
              <a:rPr sz="1150" b="0" i="0">
                <a:solidFill>
                  <a:srgbClr val="2C2C2C"/>
                </a:solidFill>
                <a:latin typeface="Adobe Clean"/>
              </a:rPr>
              <a:t>Left-padded, KV-cached, memory-chunked (gen_batch_chunk = 8)</a:t>
            </a:r>
          </a:p>
        </p:txBody>
      </p:sp>
      <p:sp>
        <p:nvSpPr>
          <p:cNvPr id="22" name="TextBox 21"/>
          <p:cNvSpPr txBox="1"/>
          <p:nvPr/>
        </p:nvSpPr>
        <p:spPr>
          <a:xfrm>
            <a:off x="804672" y="4919472"/>
            <a:ext cx="502920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1" i="0">
                <a:solidFill>
                  <a:srgbClr val="EB1000"/>
                </a:solidFill>
                <a:latin typeface="Adobe Clean ExtraBold"/>
              </a:rPr>
              <a:t>•  </a:t>
            </a:r>
            <a:r>
              <a:rPr sz="1150" b="0" i="0">
                <a:solidFill>
                  <a:srgbClr val="2C2C2C"/>
                </a:solidFill>
                <a:latin typeface="Adobe Clean"/>
              </a:rPr>
              <a:t>Finished rollouts drop out; the batch shrinks turn by turn</a:t>
            </a:r>
          </a:p>
        </p:txBody>
      </p:sp>
      <p:sp>
        <p:nvSpPr>
          <p:cNvPr id="23" name="TextBox 22"/>
          <p:cNvSpPr txBox="1"/>
          <p:nvPr/>
        </p:nvSpPr>
        <p:spPr>
          <a:xfrm>
            <a:off x="804672" y="5431536"/>
            <a:ext cx="502920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1" i="0">
                <a:solidFill>
                  <a:srgbClr val="EB1000"/>
                </a:solidFill>
                <a:latin typeface="Adobe Clean ExtraBold"/>
              </a:rPr>
              <a:t>•  </a:t>
            </a:r>
            <a:r>
              <a:rPr sz="1150" b="0" i="0">
                <a:solidFill>
                  <a:srgbClr val="2C2C2C"/>
                </a:solidFill>
                <a:latin typeface="Adobe Clean"/>
              </a:rPr>
              <a:t>max_turn_tokens = 1536 — full reasoning + one action per turn</a:t>
            </a:r>
          </a:p>
        </p:txBody>
      </p:sp>
      <p:sp>
        <p:nvSpPr>
          <p:cNvPr id="24" name="Rounded Rectangle 23"/>
          <p:cNvSpPr/>
          <p:nvPr/>
        </p:nvSpPr>
        <p:spPr>
          <a:xfrm>
            <a:off x="6263640" y="3383280"/>
            <a:ext cx="5349240" cy="2651760"/>
          </a:xfrm>
          <a:prstGeom prst="roundRect">
            <a:avLst>
              <a:gd name="adj" fmla="val 4500"/>
            </a:avLst>
          </a:prstGeom>
          <a:solidFill>
            <a:srgbClr val="F4F5F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493008"/>
            <a:ext cx="73152" cy="2432304"/>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3511296"/>
            <a:ext cx="4892040" cy="310896"/>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Why vLLM is off for multi-turn</a:t>
            </a:r>
          </a:p>
        </p:txBody>
      </p:sp>
      <p:sp>
        <p:nvSpPr>
          <p:cNvPr id="27" name="TextBox 26"/>
          <p:cNvSpPr txBox="1"/>
          <p:nvPr/>
        </p:nvSpPr>
        <p:spPr>
          <a:xfrm>
            <a:off x="6510528" y="3895344"/>
            <a:ext cx="4892040" cy="1005840"/>
          </a:xfrm>
          <a:prstGeom prst="rect">
            <a:avLst/>
          </a:prstGeom>
          <a:noFill/>
        </p:spPr>
        <p:txBody>
          <a:bodyPr wrap="square" lIns="0" rIns="0" tIns="0" bIns="0" anchor="t">
            <a:spAutoFit/>
          </a:bodyPr>
          <a:lstStyle/>
          <a:p>
            <a:pPr algn="l">
              <a:lnSpc>
                <a:spcPct val="100000"/>
              </a:lnSpc>
              <a:spcBef>
                <a:spcPts val="0"/>
              </a:spcBef>
              <a:spcAft>
                <a:spcPts val="200"/>
              </a:spcAft>
            </a:pPr>
            <a:r>
              <a:rPr sz="1200" b="0" i="0">
                <a:solidFill>
                  <a:srgbClr val="2C2C2C"/>
                </a:solidFill>
                <a:latin typeface="Adobe Clean"/>
              </a:rPr>
              <a:t>vLLM generates a whole completion in one shot. The multi-turn contract is </a:t>
            </a:r>
            <a:r>
              <a:rPr sz="1200" b="1" i="0">
                <a:solidFill>
                  <a:srgbClr val="21304A"/>
                </a:solidFill>
                <a:latin typeface="Adobe Clean ExtraBold"/>
              </a:rPr>
              <a:t>stateful</a:t>
            </a:r>
            <a:r>
              <a:rPr sz="1200" b="0" i="0">
                <a:solidFill>
                  <a:srgbClr val="2C2C2C"/>
                </a:solidFill>
                <a:latin typeface="Adobe Clean"/>
              </a:rPr>
              <a:t> — each turn's prompt depends on the previous FEA result — so the loop uses per-turn HF generate() instead.</a:t>
            </a:r>
          </a:p>
        </p:txBody>
      </p:sp>
      <p:sp>
        <p:nvSpPr>
          <p:cNvPr id="28" name="TextBox 27"/>
          <p:cNvSpPr txBox="1"/>
          <p:nvPr/>
        </p:nvSpPr>
        <p:spPr>
          <a:xfrm>
            <a:off x="6510528" y="5029200"/>
            <a:ext cx="4892040" cy="914400"/>
          </a:xfrm>
          <a:prstGeom prst="rect">
            <a:avLst/>
          </a:prstGeom>
          <a:noFill/>
        </p:spPr>
        <p:txBody>
          <a:bodyPr wrap="square" lIns="0" rIns="0" tIns="0" bIns="0" anchor="t">
            <a:spAutoFit/>
          </a:bodyPr>
          <a:lstStyle/>
          <a:p>
            <a:pPr algn="l">
              <a:lnSpc>
                <a:spcPct val="100000"/>
              </a:lnSpc>
              <a:spcBef>
                <a:spcPts val="0"/>
              </a:spcBef>
              <a:spcAft>
                <a:spcPts val="200"/>
              </a:spcAft>
            </a:pPr>
            <a:r>
              <a:rPr sz="1200" b="0" i="1">
                <a:solidFill>
                  <a:srgbClr val="5A6473"/>
                </a:solidFill>
                <a:latin typeface="Adobe Clean"/>
              </a:rPr>
              <a:t>vLLM (tensor-parallel 8) still serves the single-turn path; the trade is throughput for protocol fidelity — and fidelity is what made the policy learnable.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2286000"/>
            <a:ext cx="2011680" cy="1280160"/>
          </a:xfrm>
          <a:prstGeom prst="rect">
            <a:avLst/>
          </a:prstGeom>
          <a:noFill/>
        </p:spPr>
        <p:txBody>
          <a:bodyPr wrap="square" lIns="0" rIns="0" tIns="0" bIns="0" anchor="ctr">
            <a:spAutoFit/>
          </a:bodyPr>
          <a:lstStyle/>
          <a:p>
            <a:pPr algn="l">
              <a:lnSpc>
                <a:spcPct val="100000"/>
              </a:lnSpc>
              <a:spcBef>
                <a:spcPts val="0"/>
              </a:spcBef>
              <a:spcAft>
                <a:spcPts val="200"/>
              </a:spcAft>
            </a:pPr>
            <a:r>
              <a:rPr sz="9600" b="1" i="0">
                <a:solidFill>
                  <a:srgbClr val="2C3C58"/>
                </a:solidFill>
                <a:latin typeface="Adobe Clean ExtraBold"/>
              </a:rPr>
              <a:t>04</a:t>
            </a:r>
          </a:p>
        </p:txBody>
      </p:sp>
      <p:sp>
        <p:nvSpPr>
          <p:cNvPr id="4" name="TextBox 3"/>
          <p:cNvSpPr txBox="1"/>
          <p:nvPr/>
        </p:nvSpPr>
        <p:spPr>
          <a:xfrm>
            <a:off x="822959" y="3611880"/>
            <a:ext cx="10515600" cy="822960"/>
          </a:xfrm>
          <a:prstGeom prst="rect">
            <a:avLst/>
          </a:prstGeom>
          <a:noFill/>
        </p:spPr>
        <p:txBody>
          <a:bodyPr wrap="square" lIns="0" rIns="0" tIns="0" bIns="0" anchor="t">
            <a:spAutoFit/>
          </a:bodyPr>
          <a:lstStyle/>
          <a:p>
            <a:pPr algn="l">
              <a:lnSpc>
                <a:spcPct val="100000"/>
              </a:lnSpc>
              <a:spcBef>
                <a:spcPts val="0"/>
              </a:spcBef>
              <a:spcAft>
                <a:spcPts val="200"/>
              </a:spcAft>
            </a:pPr>
            <a:r>
              <a:rPr sz="3600" b="1" i="0">
                <a:solidFill>
                  <a:srgbClr val="FFFFFF"/>
                </a:solidFill>
                <a:latin typeface="Adobe Clean ExtraBold"/>
              </a:rPr>
              <a:t>Results &amp; Analysis</a:t>
            </a:r>
          </a:p>
        </p:txBody>
      </p:sp>
      <p:cxnSp>
        <p:nvCxnSpPr>
          <p:cNvPr id="5" name="Connector 4"/>
          <p:cNvCxnSpPr/>
          <p:nvPr/>
        </p:nvCxnSpPr>
        <p:spPr>
          <a:xfrm>
            <a:off x="841247" y="4434840"/>
            <a:ext cx="2926081" cy="0"/>
          </a:xfrm>
          <a:prstGeom prst="bentConnector3">
            <a:avLst/>
          </a:prstGeom>
          <a:ln w="31750">
            <a:solidFill>
              <a:srgbClr val="EB1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7" y="4572000"/>
            <a:ext cx="9601200" cy="548640"/>
          </a:xfrm>
          <a:prstGeom prst="rect">
            <a:avLst/>
          </a:prstGeom>
          <a:noFill/>
        </p:spPr>
        <p:txBody>
          <a:bodyPr wrap="square" lIns="0" rIns="0" tIns="0" bIns="0" anchor="t">
            <a:spAutoFit/>
          </a:bodyPr>
          <a:lstStyle/>
          <a:p>
            <a:pPr algn="l">
              <a:lnSpc>
                <a:spcPct val="100000"/>
              </a:lnSpc>
              <a:spcBef>
                <a:spcPts val="0"/>
              </a:spcBef>
              <a:spcAft>
                <a:spcPts val="200"/>
              </a:spcAft>
            </a:pPr>
            <a:r>
              <a:rPr sz="1600" b="0" i="0">
                <a:solidFill>
                  <a:srgbClr val="AEB9CC"/>
                </a:solidFill>
                <a:latin typeface="Adobe Clean"/>
              </a:rPr>
              <a:t>The progression, the training dynamics, the ablations — and the experiment that reframes it 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From 0% to 68% Feasible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Five configurations of the same framework. Each row isolates one design choice.</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eval_feas.png"/>
          <p:cNvPicPr>
            <a:picLocks noChangeAspect="1"/>
          </p:cNvPicPr>
          <p:nvPr/>
        </p:nvPicPr>
        <p:blipFill>
          <a:blip r:embed="rId2"/>
          <a:stretch>
            <a:fillRect/>
          </a:stretch>
        </p:blipFill>
        <p:spPr>
          <a:xfrm>
            <a:off x="671732" y="1691640"/>
            <a:ext cx="5880295" cy="4023360"/>
          </a:xfrm>
          <a:prstGeom prst="rect">
            <a:avLst/>
          </a:prstGeom>
        </p:spPr>
      </p:pic>
      <p:sp>
        <p:nvSpPr>
          <p:cNvPr id="6" name="TextBox 5"/>
          <p:cNvSpPr txBox="1"/>
          <p:nvPr/>
        </p:nvSpPr>
        <p:spPr>
          <a:xfrm>
            <a:off x="6903720" y="1783080"/>
            <a:ext cx="4754880" cy="36576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What each step changed</a:t>
            </a:r>
          </a:p>
        </p:txBody>
      </p:sp>
      <p:sp>
        <p:nvSpPr>
          <p:cNvPr id="7" name="Rounded Rectangle 6"/>
          <p:cNvSpPr/>
          <p:nvPr/>
        </p:nvSpPr>
        <p:spPr>
          <a:xfrm>
            <a:off x="6903720" y="2240280"/>
            <a:ext cx="47091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03720" y="2350008"/>
            <a:ext cx="73152" cy="74066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331720"/>
            <a:ext cx="4297680" cy="310896"/>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Multi-turn protocol</a:t>
            </a:r>
          </a:p>
        </p:txBody>
      </p:sp>
      <p:sp>
        <p:nvSpPr>
          <p:cNvPr id="10" name="TextBox 9"/>
          <p:cNvSpPr txBox="1"/>
          <p:nvPr/>
        </p:nvSpPr>
        <p:spPr>
          <a:xfrm>
            <a:off x="7132320" y="2642616"/>
            <a:ext cx="292608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unfreezes learning</a:t>
            </a:r>
          </a:p>
        </p:txBody>
      </p:sp>
      <p:sp>
        <p:nvSpPr>
          <p:cNvPr id="11" name="TextBox 10"/>
          <p:cNvSpPr txBox="1"/>
          <p:nvPr/>
        </p:nvSpPr>
        <p:spPr>
          <a:xfrm>
            <a:off x="9784080" y="2514600"/>
            <a:ext cx="1691640" cy="411480"/>
          </a:xfrm>
          <a:prstGeom prst="rect">
            <a:avLst/>
          </a:prstGeom>
          <a:noFill/>
        </p:spPr>
        <p:txBody>
          <a:bodyPr wrap="square" lIns="0" rIns="0" tIns="0" bIns="0" anchor="ctr">
            <a:spAutoFit/>
          </a:bodyPr>
          <a:lstStyle/>
          <a:p>
            <a:pPr algn="r">
              <a:lnSpc>
                <a:spcPct val="100000"/>
              </a:lnSpc>
              <a:spcBef>
                <a:spcPts val="0"/>
              </a:spcBef>
              <a:spcAft>
                <a:spcPts val="200"/>
              </a:spcAft>
            </a:pPr>
            <a:r>
              <a:rPr sz="1400" b="1" i="0">
                <a:solidFill>
                  <a:srgbClr val="21304A"/>
                </a:solidFill>
                <a:latin typeface="Adobe Clean ExtraBold"/>
              </a:rPr>
              <a:t>0% → 12%</a:t>
            </a:r>
          </a:p>
        </p:txBody>
      </p:sp>
      <p:sp>
        <p:nvSpPr>
          <p:cNvPr id="12" name="Rounded Rectangle 11"/>
          <p:cNvSpPr/>
          <p:nvPr/>
        </p:nvSpPr>
        <p:spPr>
          <a:xfrm>
            <a:off x="6903720" y="3319272"/>
            <a:ext cx="47091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3720" y="3429000"/>
            <a:ext cx="73152" cy="74066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410712"/>
            <a:ext cx="4297680" cy="310896"/>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 critical-member observation</a:t>
            </a:r>
          </a:p>
        </p:txBody>
      </p:sp>
      <p:sp>
        <p:nvSpPr>
          <p:cNvPr id="15" name="TextBox 14"/>
          <p:cNvSpPr txBox="1"/>
          <p:nvPr/>
        </p:nvSpPr>
        <p:spPr>
          <a:xfrm>
            <a:off x="7132320" y="3721608"/>
            <a:ext cx="292608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the decisive lever</a:t>
            </a:r>
          </a:p>
        </p:txBody>
      </p:sp>
      <p:sp>
        <p:nvSpPr>
          <p:cNvPr id="16" name="TextBox 15"/>
          <p:cNvSpPr txBox="1"/>
          <p:nvPr/>
        </p:nvSpPr>
        <p:spPr>
          <a:xfrm>
            <a:off x="9784080" y="3593591"/>
            <a:ext cx="1691640" cy="411480"/>
          </a:xfrm>
          <a:prstGeom prst="rect">
            <a:avLst/>
          </a:prstGeom>
          <a:noFill/>
        </p:spPr>
        <p:txBody>
          <a:bodyPr wrap="square" lIns="0" rIns="0" tIns="0" bIns="0" anchor="ctr">
            <a:spAutoFit/>
          </a:bodyPr>
          <a:lstStyle/>
          <a:p>
            <a:pPr algn="r">
              <a:lnSpc>
                <a:spcPct val="100000"/>
              </a:lnSpc>
              <a:spcBef>
                <a:spcPts val="0"/>
              </a:spcBef>
              <a:spcAft>
                <a:spcPts val="200"/>
              </a:spcAft>
            </a:pPr>
            <a:r>
              <a:rPr sz="1400" b="1" i="0">
                <a:solidFill>
                  <a:srgbClr val="EB1000"/>
                </a:solidFill>
                <a:latin typeface="Adobe Clean ExtraBold"/>
              </a:rPr>
              <a:t>12% → 68%</a:t>
            </a:r>
          </a:p>
        </p:txBody>
      </p:sp>
      <p:sp>
        <p:nvSpPr>
          <p:cNvPr id="17" name="Rounded Rectangle 16"/>
          <p:cNvSpPr/>
          <p:nvPr/>
        </p:nvSpPr>
        <p:spPr>
          <a:xfrm>
            <a:off x="6903720" y="4398264"/>
            <a:ext cx="47091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03720" y="4507992"/>
            <a:ext cx="73152" cy="740664"/>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4489703"/>
            <a:ext cx="4297680" cy="310896"/>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 hard mass rule</a:t>
            </a:r>
          </a:p>
        </p:txBody>
      </p:sp>
      <p:sp>
        <p:nvSpPr>
          <p:cNvPr id="20" name="TextBox 19"/>
          <p:cNvSpPr txBox="1"/>
          <p:nvPr/>
        </p:nvSpPr>
        <p:spPr>
          <a:xfrm>
            <a:off x="7132320" y="4800600"/>
            <a:ext cx="292608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over-corrects</a:t>
            </a:r>
          </a:p>
        </p:txBody>
      </p:sp>
      <p:sp>
        <p:nvSpPr>
          <p:cNvPr id="21" name="TextBox 20"/>
          <p:cNvSpPr txBox="1"/>
          <p:nvPr/>
        </p:nvSpPr>
        <p:spPr>
          <a:xfrm>
            <a:off x="9784080" y="4672583"/>
            <a:ext cx="1691640" cy="411480"/>
          </a:xfrm>
          <a:prstGeom prst="rect">
            <a:avLst/>
          </a:prstGeom>
          <a:noFill/>
        </p:spPr>
        <p:txBody>
          <a:bodyPr wrap="square" lIns="0" rIns="0" tIns="0" bIns="0" anchor="ctr">
            <a:spAutoFit/>
          </a:bodyPr>
          <a:lstStyle/>
          <a:p>
            <a:pPr algn="r">
              <a:lnSpc>
                <a:spcPct val="100000"/>
              </a:lnSpc>
              <a:spcBef>
                <a:spcPts val="0"/>
              </a:spcBef>
              <a:spcAft>
                <a:spcPts val="200"/>
              </a:spcAft>
            </a:pPr>
            <a:r>
              <a:rPr sz="1400" b="1" i="0">
                <a:solidFill>
                  <a:srgbClr val="B26B00"/>
                </a:solidFill>
                <a:latin typeface="Adobe Clean ExtraBold"/>
              </a:rPr>
              <a:t>68% → 52%</a:t>
            </a:r>
          </a:p>
        </p:txBody>
      </p:sp>
      <p:sp>
        <p:nvSpPr>
          <p:cNvPr id="22" name="TextBox 21"/>
          <p:cNvSpPr txBox="1"/>
          <p:nvPr/>
        </p:nvSpPr>
        <p:spPr>
          <a:xfrm>
            <a:off x="6903720" y="5522975"/>
            <a:ext cx="4709160" cy="82296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2C2C2C"/>
                </a:solidFill>
                <a:latin typeface="Adobe Clean"/>
              </a:rPr>
              <a:t>The algorithm (GRPO) and reward are held fixed across all five. The movement comes entirely from the </a:t>
            </a:r>
            <a:r>
              <a:rPr sz="1150" b="1" i="0">
                <a:solidFill>
                  <a:srgbClr val="EB1000"/>
                </a:solidFill>
                <a:latin typeface="Adobe Clean ExtraBold"/>
              </a:rPr>
              <a:t>environment</a:t>
            </a:r>
            <a:r>
              <a:rPr sz="1150" b="0" i="0">
                <a:solidFill>
                  <a:srgbClr val="2C2C2C"/>
                </a:solidFill>
                <a:latin typeface="Adobe Clean"/>
              </a:rPr>
              <a:t> — protocol then observation.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Is It Learning? Watch the KL</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Reward is noisy batch-to-batch, so policy movement (KL from the reference) is the honest signal.</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kl_curves.png"/>
          <p:cNvPicPr>
            <a:picLocks noChangeAspect="1"/>
          </p:cNvPicPr>
          <p:nvPr/>
        </p:nvPicPr>
        <p:blipFill>
          <a:blip r:embed="rId2"/>
          <a:stretch>
            <a:fillRect/>
          </a:stretch>
        </p:blipFill>
        <p:spPr>
          <a:xfrm>
            <a:off x="589279" y="1645920"/>
            <a:ext cx="6685280" cy="4297680"/>
          </a:xfrm>
          <a:prstGeom prst="rect">
            <a:avLst/>
          </a:prstGeom>
        </p:spPr>
      </p:pic>
      <p:sp>
        <p:nvSpPr>
          <p:cNvPr id="6" name="TextBox 5"/>
          <p:cNvSpPr txBox="1"/>
          <p:nvPr/>
        </p:nvSpPr>
        <p:spPr>
          <a:xfrm>
            <a:off x="7360920" y="1737360"/>
            <a:ext cx="4297680" cy="36576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Reading the curves</a:t>
            </a:r>
          </a:p>
        </p:txBody>
      </p:sp>
      <p:sp>
        <p:nvSpPr>
          <p:cNvPr id="7" name="Rounded Rectangle 6"/>
          <p:cNvSpPr/>
          <p:nvPr/>
        </p:nvSpPr>
        <p:spPr>
          <a:xfrm>
            <a:off x="7360920" y="2194560"/>
            <a:ext cx="42519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60920" y="2304288"/>
            <a:ext cx="73152" cy="740664"/>
          </a:xfrm>
          <a:prstGeom prst="rect">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2286000"/>
            <a:ext cx="38404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single-turn</a:t>
            </a:r>
          </a:p>
        </p:txBody>
      </p:sp>
      <p:sp>
        <p:nvSpPr>
          <p:cNvPr id="10" name="TextBox 9"/>
          <p:cNvSpPr txBox="1"/>
          <p:nvPr/>
        </p:nvSpPr>
        <p:spPr>
          <a:xfrm>
            <a:off x="7589520" y="2578608"/>
            <a:ext cx="3840480"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frozen at ~0.003 for all 200 steps — the policy never moves</a:t>
            </a:r>
          </a:p>
        </p:txBody>
      </p:sp>
      <p:sp>
        <p:nvSpPr>
          <p:cNvPr id="11" name="Rounded Rectangle 10"/>
          <p:cNvSpPr/>
          <p:nvPr/>
        </p:nvSpPr>
        <p:spPr>
          <a:xfrm>
            <a:off x="7360920" y="3255263"/>
            <a:ext cx="42519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3364991"/>
            <a:ext cx="73152" cy="740664"/>
          </a:xfrm>
          <a:prstGeom prst="rect">
            <a:avLst/>
          </a:prstGeom>
          <a:solidFill>
            <a:srgbClr val="2E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3346703"/>
            <a:ext cx="38404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multi-turn, no fb</a:t>
            </a:r>
          </a:p>
        </p:txBody>
      </p:sp>
      <p:sp>
        <p:nvSpPr>
          <p:cNvPr id="14" name="TextBox 13"/>
          <p:cNvSpPr txBox="1"/>
          <p:nvPr/>
        </p:nvSpPr>
        <p:spPr>
          <a:xfrm>
            <a:off x="7589520" y="3639311"/>
            <a:ext cx="3840480"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learnable but slow</a:t>
            </a:r>
          </a:p>
        </p:txBody>
      </p:sp>
      <p:sp>
        <p:nvSpPr>
          <p:cNvPr id="15" name="Rounded Rectangle 14"/>
          <p:cNvSpPr/>
          <p:nvPr/>
        </p:nvSpPr>
        <p:spPr>
          <a:xfrm>
            <a:off x="7360920" y="4315968"/>
            <a:ext cx="425196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425696"/>
            <a:ext cx="73152" cy="74066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407407"/>
            <a:ext cx="38404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champion</a:t>
            </a:r>
          </a:p>
        </p:txBody>
      </p:sp>
      <p:sp>
        <p:nvSpPr>
          <p:cNvPr id="18" name="TextBox 17"/>
          <p:cNvSpPr txBox="1"/>
          <p:nvPr/>
        </p:nvSpPr>
        <p:spPr>
          <a:xfrm>
            <a:off x="7589520" y="4700016"/>
            <a:ext cx="3840480" cy="502920"/>
          </a:xfrm>
          <a:prstGeom prst="rect">
            <a:avLst/>
          </a:prstGeom>
          <a:noFill/>
        </p:spPr>
        <p:txBody>
          <a:bodyPr wrap="square" lIns="0" rIns="0" tIns="0" bIns="0" anchor="t">
            <a:spAutoFit/>
          </a:bodyPr>
          <a:lstStyle/>
          <a:p>
            <a:pPr algn="l">
              <a:lnSpc>
                <a:spcPct val="96000"/>
              </a:lnSpc>
              <a:spcBef>
                <a:spcPts val="0"/>
              </a:spcBef>
              <a:spcAft>
                <a:spcPts val="200"/>
              </a:spcAft>
            </a:pPr>
            <a:r>
              <a:rPr sz="1100" b="0" i="0">
                <a:solidFill>
                  <a:srgbClr val="5A6473"/>
                </a:solidFill>
                <a:latin typeface="Adobe Clean"/>
              </a:rPr>
              <a:t>climbs to ~0.035, crosses the 0.01 bar by step ~35</a:t>
            </a:r>
          </a:p>
        </p:txBody>
      </p:sp>
      <p:sp>
        <p:nvSpPr>
          <p:cNvPr id="19" name="TextBox 18"/>
          <p:cNvSpPr txBox="1"/>
          <p:nvPr/>
        </p:nvSpPr>
        <p:spPr>
          <a:xfrm>
            <a:off x="7360920" y="5422392"/>
            <a:ext cx="4251960" cy="91440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2C2C2C"/>
                </a:solidFill>
                <a:latin typeface="Adobe Clean"/>
              </a:rPr>
              <a:t>≈10× more policy movement with the complete observation. More information ⇒ a sharper learning signal, not just a better final score.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Reward Ablations: The Simple Reward Wins</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One change per run. Nothing beat the single dense potential at α = 5.</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alpha_sweep.png"/>
          <p:cNvPicPr>
            <a:picLocks noChangeAspect="1"/>
          </p:cNvPicPr>
          <p:nvPr/>
        </p:nvPicPr>
        <p:blipFill>
          <a:blip r:embed="rId2"/>
          <a:stretch>
            <a:fillRect/>
          </a:stretch>
        </p:blipFill>
        <p:spPr>
          <a:xfrm>
            <a:off x="548640" y="1737360"/>
            <a:ext cx="5120640" cy="3879272"/>
          </a:xfrm>
          <a:prstGeom prst="rect">
            <a:avLst/>
          </a:prstGeom>
        </p:spPr>
      </p:pic>
      <p:sp>
        <p:nvSpPr>
          <p:cNvPr id="6" name="TextBox 5"/>
          <p:cNvSpPr txBox="1"/>
          <p:nvPr/>
        </p:nvSpPr>
        <p:spPr>
          <a:xfrm>
            <a:off x="5943600" y="1737360"/>
            <a:ext cx="5669280" cy="36576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What else we tried</a:t>
            </a:r>
          </a:p>
        </p:txBody>
      </p:sp>
      <p:sp>
        <p:nvSpPr>
          <p:cNvPr id="7" name="Rounded Rectangle 6"/>
          <p:cNvSpPr/>
          <p:nvPr/>
        </p:nvSpPr>
        <p:spPr>
          <a:xfrm>
            <a:off x="5943600" y="2240280"/>
            <a:ext cx="566928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0" y="2350008"/>
            <a:ext cx="73152" cy="64922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331720"/>
            <a:ext cx="52120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α sweep {2, 5, 10}</a:t>
            </a:r>
          </a:p>
        </p:txBody>
      </p:sp>
      <p:sp>
        <p:nvSpPr>
          <p:cNvPr id="10" name="TextBox 9"/>
          <p:cNvSpPr txBox="1"/>
          <p:nvPr/>
        </p:nvSpPr>
        <p:spPr>
          <a:xfrm>
            <a:off x="6172200" y="2624328"/>
            <a:ext cx="5212080" cy="457200"/>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non-monotone — peaks at 5; α=10 destabilizes and hurts</a:t>
            </a:r>
          </a:p>
        </p:txBody>
      </p:sp>
      <p:sp>
        <p:nvSpPr>
          <p:cNvPr id="11" name="Rounded Rectangle 10"/>
          <p:cNvSpPr/>
          <p:nvPr/>
        </p:nvSpPr>
        <p:spPr>
          <a:xfrm>
            <a:off x="5943600" y="3191256"/>
            <a:ext cx="566928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0" y="3300984"/>
            <a:ext cx="73152" cy="649224"/>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3282696"/>
            <a:ext cx="52120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 grammar reward</a:t>
            </a:r>
          </a:p>
        </p:txBody>
      </p:sp>
      <p:sp>
        <p:nvSpPr>
          <p:cNvPr id="14" name="TextBox 13"/>
          <p:cNvSpPr txBox="1"/>
          <p:nvPr/>
        </p:nvSpPr>
        <p:spPr>
          <a:xfrm>
            <a:off x="6172200" y="3575304"/>
            <a:ext cx="5212080" cy="457200"/>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did not restore format; feasibility regressed (drift isn't reward-addressable)</a:t>
            </a:r>
          </a:p>
        </p:txBody>
      </p:sp>
      <p:sp>
        <p:nvSpPr>
          <p:cNvPr id="15" name="Rounded Rectangle 14"/>
          <p:cNvSpPr/>
          <p:nvPr/>
        </p:nvSpPr>
        <p:spPr>
          <a:xfrm>
            <a:off x="5943600" y="4142232"/>
            <a:ext cx="5669280" cy="8686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4251960"/>
            <a:ext cx="73152" cy="649224"/>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4233672"/>
            <a:ext cx="52120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 explicit mass rule</a:t>
            </a:r>
          </a:p>
        </p:txBody>
      </p:sp>
      <p:sp>
        <p:nvSpPr>
          <p:cNvPr id="18" name="TextBox 17"/>
          <p:cNvSpPr txBox="1"/>
          <p:nvPr/>
        </p:nvSpPr>
        <p:spPr>
          <a:xfrm>
            <a:off x="6172200" y="4526280"/>
            <a:ext cx="5212080" cy="457200"/>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over-conservative — 68% → 52%</a:t>
            </a:r>
          </a:p>
        </p:txBody>
      </p:sp>
      <p:sp>
        <p:nvSpPr>
          <p:cNvPr id="19" name="Rounded Rectangle 18"/>
          <p:cNvSpPr/>
          <p:nvPr/>
        </p:nvSpPr>
        <p:spPr>
          <a:xfrm>
            <a:off x="5943600" y="5093208"/>
            <a:ext cx="5669280" cy="868680"/>
          </a:xfrm>
          <a:prstGeom prst="roundRect">
            <a:avLst>
              <a:gd name="adj" fmla="val 4500"/>
            </a:avLst>
          </a:prstGeom>
          <a:solidFill>
            <a:srgbClr val="EEF1F6"/>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5202936"/>
            <a:ext cx="73152" cy="6492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5184648"/>
            <a:ext cx="5212080" cy="292608"/>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Verdict</a:t>
            </a:r>
          </a:p>
        </p:txBody>
      </p:sp>
      <p:sp>
        <p:nvSpPr>
          <p:cNvPr id="22" name="TextBox 21"/>
          <p:cNvSpPr txBox="1"/>
          <p:nvPr/>
        </p:nvSpPr>
        <p:spPr>
          <a:xfrm>
            <a:off x="6172200" y="5477256"/>
            <a:ext cx="5212080" cy="457200"/>
          </a:xfrm>
          <a:prstGeom prst="rect">
            <a:avLst/>
          </a:prstGeom>
          <a:noFill/>
        </p:spPr>
        <p:txBody>
          <a:bodyPr wrap="square" lIns="0" rIns="0" tIns="0" bIns="0" anchor="t">
            <a:spAutoFit/>
          </a:bodyPr>
          <a:lstStyle/>
          <a:p>
            <a:pPr algn="l">
              <a:lnSpc>
                <a:spcPct val="95000"/>
              </a:lnSpc>
              <a:spcBef>
                <a:spcPts val="0"/>
              </a:spcBef>
              <a:spcAft>
                <a:spcPts val="200"/>
              </a:spcAft>
            </a:pPr>
            <a:r>
              <a:rPr sz="1100" b="0" i="0">
                <a:solidFill>
                  <a:srgbClr val="5A6473"/>
                </a:solidFill>
                <a:latin typeface="Adobe Clean"/>
              </a:rPr>
              <a:t>the clean single-term r_env at α=5 stays best; leverage was the environment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Held-Out Evaluation: The Grammar–Strength Trade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Feasibility is the headline, but the secondary metrics tell the rest of the story.</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eval_grammar_fos.png"/>
          <p:cNvPicPr>
            <a:picLocks noChangeAspect="1"/>
          </p:cNvPicPr>
          <p:nvPr/>
        </p:nvPicPr>
        <p:blipFill>
          <a:blip r:embed="rId2"/>
          <a:stretch>
            <a:fillRect/>
          </a:stretch>
        </p:blipFill>
        <p:spPr>
          <a:xfrm>
            <a:off x="941831" y="1691640"/>
            <a:ext cx="5705856" cy="3657600"/>
          </a:xfrm>
          <a:prstGeom prst="rect">
            <a:avLst/>
          </a:prstGeom>
        </p:spPr>
      </p:pic>
      <p:sp>
        <p:nvSpPr>
          <p:cNvPr id="6" name="TextBox 5"/>
          <p:cNvSpPr txBox="1"/>
          <p:nvPr/>
        </p:nvSpPr>
        <p:spPr>
          <a:xfrm>
            <a:off x="7269480" y="1737360"/>
            <a:ext cx="4389120" cy="32004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Champion vs warmstart</a:t>
            </a:r>
          </a:p>
        </p:txBody>
      </p:sp>
      <p:sp>
        <p:nvSpPr>
          <p:cNvPr id="7" name="Rectangle 6"/>
          <p:cNvSpPr/>
          <p:nvPr/>
        </p:nvSpPr>
        <p:spPr>
          <a:xfrm>
            <a:off x="7269480" y="2148840"/>
            <a:ext cx="4343400" cy="457200"/>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2167128"/>
            <a:ext cx="1828800" cy="420624"/>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FFFFFF"/>
                </a:solidFill>
                <a:latin typeface="Adobe Clean ExtraBold"/>
              </a:rPr>
              <a:t>metric</a:t>
            </a:r>
          </a:p>
        </p:txBody>
      </p:sp>
      <p:sp>
        <p:nvSpPr>
          <p:cNvPr id="9" name="TextBox 8"/>
          <p:cNvSpPr txBox="1"/>
          <p:nvPr/>
        </p:nvSpPr>
        <p:spPr>
          <a:xfrm>
            <a:off x="9144000" y="2167128"/>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1" i="0">
                <a:solidFill>
                  <a:srgbClr val="FFFFFF"/>
                </a:solidFill>
                <a:latin typeface="Adobe Clean ExtraBold"/>
              </a:rPr>
              <a:t>warmstart</a:t>
            </a:r>
          </a:p>
        </p:txBody>
      </p:sp>
      <p:sp>
        <p:nvSpPr>
          <p:cNvPr id="10" name="TextBox 9"/>
          <p:cNvSpPr txBox="1"/>
          <p:nvPr/>
        </p:nvSpPr>
        <p:spPr>
          <a:xfrm>
            <a:off x="10332720" y="2167128"/>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1" i="0">
                <a:solidFill>
                  <a:srgbClr val="FFFFFF"/>
                </a:solidFill>
                <a:latin typeface="Adobe Clean ExtraBold"/>
              </a:rPr>
              <a:t>champion</a:t>
            </a:r>
          </a:p>
        </p:txBody>
      </p:sp>
      <p:sp>
        <p:nvSpPr>
          <p:cNvPr id="11" name="Rectangle 10"/>
          <p:cNvSpPr/>
          <p:nvPr/>
        </p:nvSpPr>
        <p:spPr>
          <a:xfrm>
            <a:off x="7269480" y="2624328"/>
            <a:ext cx="4343400" cy="457200"/>
          </a:xfrm>
          <a:prstGeom prst="rect">
            <a:avLst/>
          </a:prstGeom>
          <a:solidFill>
            <a:srgbClr val="EEF1F6"/>
          </a:solidFill>
          <a:ln w="762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2642616"/>
            <a:ext cx="1828800" cy="420624"/>
          </a:xfrm>
          <a:prstGeom prst="rect">
            <a:avLst/>
          </a:prstGeom>
          <a:noFill/>
        </p:spPr>
        <p:txBody>
          <a:bodyPr wrap="square" lIns="0" rIns="0" tIns="0" bIns="0" anchor="ctr">
            <a:spAutoFit/>
          </a:bodyPr>
          <a:lstStyle/>
          <a:p>
            <a:pPr algn="l">
              <a:lnSpc>
                <a:spcPct val="100000"/>
              </a:lnSpc>
              <a:spcBef>
                <a:spcPts val="0"/>
              </a:spcBef>
              <a:spcAft>
                <a:spcPts val="200"/>
              </a:spcAft>
            </a:pPr>
            <a:r>
              <a:rPr sz="1150" b="0" i="0">
                <a:solidFill>
                  <a:srgbClr val="21304A"/>
                </a:solidFill>
                <a:latin typeface="Adobe Clean"/>
              </a:rPr>
              <a:t>feasibility</a:t>
            </a:r>
          </a:p>
        </p:txBody>
      </p:sp>
      <p:sp>
        <p:nvSpPr>
          <p:cNvPr id="13" name="TextBox 12"/>
          <p:cNvSpPr txBox="1"/>
          <p:nvPr/>
        </p:nvSpPr>
        <p:spPr>
          <a:xfrm>
            <a:off x="9144000" y="2642616"/>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0" i="0">
                <a:solidFill>
                  <a:srgbClr val="5A6473"/>
                </a:solidFill>
                <a:latin typeface="Adobe Clean"/>
              </a:rPr>
              <a:t>0%</a:t>
            </a:r>
          </a:p>
        </p:txBody>
      </p:sp>
      <p:sp>
        <p:nvSpPr>
          <p:cNvPr id="14" name="TextBox 13"/>
          <p:cNvSpPr txBox="1"/>
          <p:nvPr/>
        </p:nvSpPr>
        <p:spPr>
          <a:xfrm>
            <a:off x="10332720" y="2642616"/>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1" i="0">
                <a:solidFill>
                  <a:srgbClr val="EB1000"/>
                </a:solidFill>
                <a:latin typeface="Adobe Clean ExtraBold"/>
              </a:rPr>
              <a:t>68%</a:t>
            </a:r>
          </a:p>
        </p:txBody>
      </p:sp>
      <p:sp>
        <p:nvSpPr>
          <p:cNvPr id="15" name="Rectangle 14"/>
          <p:cNvSpPr/>
          <p:nvPr/>
        </p:nvSpPr>
        <p:spPr>
          <a:xfrm>
            <a:off x="7269480" y="3099816"/>
            <a:ext cx="4343400" cy="457200"/>
          </a:xfrm>
          <a:prstGeom prst="rect">
            <a:avLst/>
          </a:prstGeom>
          <a:solidFill>
            <a:srgbClr val="FFFFFF"/>
          </a:solidFill>
          <a:ln w="762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3118104"/>
            <a:ext cx="1828800" cy="420624"/>
          </a:xfrm>
          <a:prstGeom prst="rect">
            <a:avLst/>
          </a:prstGeom>
          <a:noFill/>
        </p:spPr>
        <p:txBody>
          <a:bodyPr wrap="square" lIns="0" rIns="0" tIns="0" bIns="0" anchor="ctr">
            <a:spAutoFit/>
          </a:bodyPr>
          <a:lstStyle/>
          <a:p>
            <a:pPr algn="l">
              <a:lnSpc>
                <a:spcPct val="100000"/>
              </a:lnSpc>
              <a:spcBef>
                <a:spcPts val="0"/>
              </a:spcBef>
              <a:spcAft>
                <a:spcPts val="200"/>
              </a:spcAft>
            </a:pPr>
            <a:r>
              <a:rPr sz="1150" b="0" i="0">
                <a:solidFill>
                  <a:srgbClr val="21304A"/>
                </a:solidFill>
                <a:latin typeface="Adobe Clean"/>
              </a:rPr>
              <a:t>grammar success</a:t>
            </a:r>
          </a:p>
        </p:txBody>
      </p:sp>
      <p:sp>
        <p:nvSpPr>
          <p:cNvPr id="17" name="TextBox 16"/>
          <p:cNvSpPr txBox="1"/>
          <p:nvPr/>
        </p:nvSpPr>
        <p:spPr>
          <a:xfrm>
            <a:off x="9144000" y="3118104"/>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0" i="0">
                <a:solidFill>
                  <a:srgbClr val="5A6473"/>
                </a:solidFill>
                <a:latin typeface="Adobe Clean"/>
              </a:rPr>
              <a:t>1.00</a:t>
            </a:r>
          </a:p>
        </p:txBody>
      </p:sp>
      <p:sp>
        <p:nvSpPr>
          <p:cNvPr id="18" name="TextBox 17"/>
          <p:cNvSpPr txBox="1"/>
          <p:nvPr/>
        </p:nvSpPr>
        <p:spPr>
          <a:xfrm>
            <a:off x="10332720" y="3118104"/>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1" i="0">
                <a:solidFill>
                  <a:srgbClr val="EB1000"/>
                </a:solidFill>
                <a:latin typeface="Adobe Clean ExtraBold"/>
              </a:rPr>
              <a:t>0.67</a:t>
            </a:r>
          </a:p>
        </p:txBody>
      </p:sp>
      <p:sp>
        <p:nvSpPr>
          <p:cNvPr id="19" name="Rectangle 18"/>
          <p:cNvSpPr/>
          <p:nvPr/>
        </p:nvSpPr>
        <p:spPr>
          <a:xfrm>
            <a:off x="7269480" y="3575304"/>
            <a:ext cx="4343400" cy="457200"/>
          </a:xfrm>
          <a:prstGeom prst="rect">
            <a:avLst/>
          </a:prstGeom>
          <a:solidFill>
            <a:srgbClr val="EEF1F6"/>
          </a:solidFill>
          <a:ln w="762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3593592"/>
            <a:ext cx="1828800" cy="420624"/>
          </a:xfrm>
          <a:prstGeom prst="rect">
            <a:avLst/>
          </a:prstGeom>
          <a:noFill/>
        </p:spPr>
        <p:txBody>
          <a:bodyPr wrap="square" lIns="0" rIns="0" tIns="0" bIns="0" anchor="ctr">
            <a:spAutoFit/>
          </a:bodyPr>
          <a:lstStyle/>
          <a:p>
            <a:pPr algn="l">
              <a:lnSpc>
                <a:spcPct val="100000"/>
              </a:lnSpc>
              <a:spcBef>
                <a:spcPts val="0"/>
              </a:spcBef>
              <a:spcAft>
                <a:spcPts val="200"/>
              </a:spcAft>
            </a:pPr>
            <a:r>
              <a:rPr sz="1150" b="0" i="0">
                <a:solidFill>
                  <a:srgbClr val="21304A"/>
                </a:solidFill>
                <a:latin typeface="Adobe Clean"/>
              </a:rPr>
              <a:t>mean FOS_b</a:t>
            </a:r>
          </a:p>
        </p:txBody>
      </p:sp>
      <p:sp>
        <p:nvSpPr>
          <p:cNvPr id="21" name="TextBox 20"/>
          <p:cNvSpPr txBox="1"/>
          <p:nvPr/>
        </p:nvSpPr>
        <p:spPr>
          <a:xfrm>
            <a:off x="9144000" y="3593592"/>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0" i="0">
                <a:solidFill>
                  <a:srgbClr val="5A6473"/>
                </a:solidFill>
                <a:latin typeface="Adobe Clean"/>
              </a:rPr>
              <a:t>0.41</a:t>
            </a:r>
          </a:p>
        </p:txBody>
      </p:sp>
      <p:sp>
        <p:nvSpPr>
          <p:cNvPr id="22" name="TextBox 21"/>
          <p:cNvSpPr txBox="1"/>
          <p:nvPr/>
        </p:nvSpPr>
        <p:spPr>
          <a:xfrm>
            <a:off x="10332720" y="3593592"/>
            <a:ext cx="1188720" cy="420624"/>
          </a:xfrm>
          <a:prstGeom prst="rect">
            <a:avLst/>
          </a:prstGeom>
          <a:noFill/>
        </p:spPr>
        <p:txBody>
          <a:bodyPr wrap="square" lIns="0" rIns="0" tIns="0" bIns="0" anchor="ctr">
            <a:spAutoFit/>
          </a:bodyPr>
          <a:lstStyle/>
          <a:p>
            <a:pPr algn="ctr">
              <a:lnSpc>
                <a:spcPct val="100000"/>
              </a:lnSpc>
              <a:spcBef>
                <a:spcPts val="0"/>
              </a:spcBef>
              <a:spcAft>
                <a:spcPts val="200"/>
              </a:spcAft>
            </a:pPr>
            <a:r>
              <a:rPr sz="1150" b="1" i="0">
                <a:solidFill>
                  <a:srgbClr val="EB1000"/>
                </a:solidFill>
                <a:latin typeface="Adobe Clean ExtraBold"/>
              </a:rPr>
              <a:t>1.38–1.63</a:t>
            </a:r>
          </a:p>
        </p:txBody>
      </p:sp>
      <p:sp>
        <p:nvSpPr>
          <p:cNvPr id="23" name="Rounded Rectangle 22"/>
          <p:cNvSpPr/>
          <p:nvPr/>
        </p:nvSpPr>
        <p:spPr>
          <a:xfrm>
            <a:off x="7269480" y="4114800"/>
            <a:ext cx="4343400" cy="1737360"/>
          </a:xfrm>
          <a:prstGeom prst="roundRect">
            <a:avLst>
              <a:gd name="adj" fmla="val 4500"/>
            </a:avLst>
          </a:prstGeom>
          <a:solidFill>
            <a:srgbClr val="F4F5F7"/>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4224528"/>
            <a:ext cx="73152" cy="151790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79" y="4224528"/>
            <a:ext cx="3931920" cy="310896"/>
          </a:xfrm>
          <a:prstGeom prst="rect">
            <a:avLst/>
          </a:prstGeom>
          <a:noFill/>
        </p:spPr>
        <p:txBody>
          <a:bodyPr wrap="square" lIns="0" rIns="0" tIns="0" bIns="0" anchor="t">
            <a:spAutoFit/>
          </a:bodyPr>
          <a:lstStyle/>
          <a:p>
            <a:pPr algn="l">
              <a:lnSpc>
                <a:spcPct val="100000"/>
              </a:lnSpc>
              <a:spcBef>
                <a:spcPts val="0"/>
              </a:spcBef>
              <a:spcAft>
                <a:spcPts val="200"/>
              </a:spcAft>
            </a:pPr>
            <a:r>
              <a:rPr sz="1300" b="1" i="0">
                <a:solidFill>
                  <a:srgbClr val="21304A"/>
                </a:solidFill>
                <a:latin typeface="Adobe Clean ExtraBold"/>
              </a:rPr>
              <a:t>The trade is a knob, not a law</a:t>
            </a:r>
          </a:p>
        </p:txBody>
      </p:sp>
      <p:sp>
        <p:nvSpPr>
          <p:cNvPr id="26" name="TextBox 25"/>
          <p:cNvSpPr txBox="1"/>
          <p:nvPr/>
        </p:nvSpPr>
        <p:spPr>
          <a:xfrm>
            <a:off x="7498079" y="4553712"/>
            <a:ext cx="3931920" cy="128016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2C2C2C"/>
                </a:solidFill>
                <a:latin typeface="Adobe Clean"/>
              </a:rPr>
              <a:t>The warmstart formats perfectly (1.00) but solves nothing. GRPO trades some grammar (→ ~0.67) for large FOS/feasibility gains. The ~33% of turns lost to grammar drift is the main recoverable inefficiency.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Experiment That Reframes Everything</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A strong reasoner that can see the failing member solves the task with no RL at all.</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783080"/>
            <a:ext cx="3593592" cy="233172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3593592" cy="1005840"/>
          </a:xfrm>
          <a:prstGeom prst="rect">
            <a:avLst/>
          </a:prstGeom>
          <a:noFill/>
        </p:spPr>
        <p:txBody>
          <a:bodyPr wrap="square" lIns="0" rIns="0" tIns="0" bIns="0" anchor="ctr">
            <a:spAutoFit/>
          </a:bodyPr>
          <a:lstStyle/>
          <a:p>
            <a:pPr algn="ctr">
              <a:lnSpc>
                <a:spcPct val="100000"/>
              </a:lnSpc>
              <a:spcBef>
                <a:spcPts val="0"/>
              </a:spcBef>
              <a:spcAft>
                <a:spcPts val="200"/>
              </a:spcAft>
            </a:pPr>
            <a:r>
              <a:rPr sz="5800" b="1" i="0">
                <a:solidFill>
                  <a:srgbClr val="1E8449"/>
                </a:solidFill>
                <a:latin typeface="Adobe Clean ExtraBold"/>
              </a:rPr>
              <a:t>4 / 6</a:t>
            </a:r>
          </a:p>
        </p:txBody>
      </p:sp>
      <p:sp>
        <p:nvSpPr>
          <p:cNvPr id="7" name="TextBox 6"/>
          <p:cNvSpPr txBox="1"/>
          <p:nvPr/>
        </p:nvSpPr>
        <p:spPr>
          <a:xfrm>
            <a:off x="548640" y="3154680"/>
            <a:ext cx="3593592" cy="822960"/>
          </a:xfrm>
          <a:prstGeom prst="rect">
            <a:avLst/>
          </a:prstGeom>
          <a:noFill/>
        </p:spPr>
        <p:txBody>
          <a:bodyPr wrap="square" lIns="0" rIns="0" tIns="0" bIns="0" anchor="t">
            <a:spAutoFit/>
          </a:bodyPr>
          <a:lstStyle/>
          <a:p>
            <a:pPr algn="ctr">
              <a:lnSpc>
                <a:spcPct val="98000"/>
              </a:lnSpc>
              <a:spcBef>
                <a:spcPts val="0"/>
              </a:spcBef>
              <a:spcAft>
                <a:spcPts val="200"/>
              </a:spcAft>
            </a:pPr>
            <a:r>
              <a:rPr sz="1250" b="0" i="0">
                <a:solidFill>
                  <a:srgbClr val="5A6473"/>
                </a:solidFill>
                <a:latin typeface="Adobe Clean"/>
              </a:rPr>
              <a:t>30B reasoner + critical-member
observation, zero-shot (no RL)</a:t>
            </a:r>
          </a:p>
        </p:txBody>
      </p:sp>
      <p:sp>
        <p:nvSpPr>
          <p:cNvPr id="8" name="Rounded Rectangle 7"/>
          <p:cNvSpPr/>
          <p:nvPr/>
        </p:nvSpPr>
        <p:spPr>
          <a:xfrm>
            <a:off x="4297679" y="1783080"/>
            <a:ext cx="3593592" cy="233172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2011680"/>
            <a:ext cx="3593592" cy="1005840"/>
          </a:xfrm>
          <a:prstGeom prst="rect">
            <a:avLst/>
          </a:prstGeom>
          <a:noFill/>
        </p:spPr>
        <p:txBody>
          <a:bodyPr wrap="square" lIns="0" rIns="0" tIns="0" bIns="0" anchor="ctr">
            <a:spAutoFit/>
          </a:bodyPr>
          <a:lstStyle/>
          <a:p>
            <a:pPr algn="ctr">
              <a:lnSpc>
                <a:spcPct val="100000"/>
              </a:lnSpc>
              <a:spcBef>
                <a:spcPts val="0"/>
              </a:spcBef>
              <a:spcAft>
                <a:spcPts val="200"/>
              </a:spcAft>
            </a:pPr>
            <a:r>
              <a:rPr sz="5800" b="1" i="0">
                <a:solidFill>
                  <a:srgbClr val="EB1000"/>
                </a:solidFill>
                <a:latin typeface="Adobe Clean ExtraBold"/>
              </a:rPr>
              <a:t>0 / 6</a:t>
            </a:r>
          </a:p>
        </p:txBody>
      </p:sp>
      <p:sp>
        <p:nvSpPr>
          <p:cNvPr id="10" name="TextBox 9"/>
          <p:cNvSpPr txBox="1"/>
          <p:nvPr/>
        </p:nvSpPr>
        <p:spPr>
          <a:xfrm>
            <a:off x="4297679" y="3154680"/>
            <a:ext cx="3593592" cy="822960"/>
          </a:xfrm>
          <a:prstGeom prst="rect">
            <a:avLst/>
          </a:prstGeom>
          <a:noFill/>
        </p:spPr>
        <p:txBody>
          <a:bodyPr wrap="square" lIns="0" rIns="0" tIns="0" bIns="0" anchor="t">
            <a:spAutoFit/>
          </a:bodyPr>
          <a:lstStyle/>
          <a:p>
            <a:pPr algn="ctr">
              <a:lnSpc>
                <a:spcPct val="98000"/>
              </a:lnSpc>
              <a:spcBef>
                <a:spcPts val="0"/>
              </a:spcBef>
              <a:spcAft>
                <a:spcPts val="200"/>
              </a:spcAft>
            </a:pPr>
            <a:r>
              <a:rPr sz="1250" b="0" i="0">
                <a:solidFill>
                  <a:srgbClr val="5A6473"/>
                </a:solidFill>
                <a:latin typeface="Adobe Clean"/>
              </a:rPr>
              <a:t>same model, same prompt,
without the member named</a:t>
            </a:r>
          </a:p>
        </p:txBody>
      </p:sp>
      <p:sp>
        <p:nvSpPr>
          <p:cNvPr id="11" name="Rounded Rectangle 10"/>
          <p:cNvSpPr/>
          <p:nvPr/>
        </p:nvSpPr>
        <p:spPr>
          <a:xfrm>
            <a:off x="8046719" y="1783080"/>
            <a:ext cx="3593592" cy="233172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9" y="2011680"/>
            <a:ext cx="3593592" cy="1005840"/>
          </a:xfrm>
          <a:prstGeom prst="rect">
            <a:avLst/>
          </a:prstGeom>
          <a:noFill/>
        </p:spPr>
        <p:txBody>
          <a:bodyPr wrap="square" lIns="0" rIns="0" tIns="0" bIns="0" anchor="ctr">
            <a:spAutoFit/>
          </a:bodyPr>
          <a:lstStyle/>
          <a:p>
            <a:pPr algn="ctr">
              <a:lnSpc>
                <a:spcPct val="100000"/>
              </a:lnSpc>
              <a:spcBef>
                <a:spcPts val="0"/>
              </a:spcBef>
              <a:spcAft>
                <a:spcPts val="200"/>
              </a:spcAft>
            </a:pPr>
            <a:r>
              <a:rPr sz="5800" b="1" i="0">
                <a:solidFill>
                  <a:srgbClr val="21304A"/>
                </a:solidFill>
                <a:latin typeface="Adobe Clean ExtraBold"/>
              </a:rPr>
              <a:t>2.12</a:t>
            </a:r>
          </a:p>
        </p:txBody>
      </p:sp>
      <p:sp>
        <p:nvSpPr>
          <p:cNvPr id="13" name="TextBox 12"/>
          <p:cNvSpPr txBox="1"/>
          <p:nvPr/>
        </p:nvSpPr>
        <p:spPr>
          <a:xfrm>
            <a:off x="8046719" y="3154680"/>
            <a:ext cx="3593592" cy="822960"/>
          </a:xfrm>
          <a:prstGeom prst="rect">
            <a:avLst/>
          </a:prstGeom>
          <a:noFill/>
        </p:spPr>
        <p:txBody>
          <a:bodyPr wrap="square" lIns="0" rIns="0" tIns="0" bIns="0" anchor="t">
            <a:spAutoFit/>
          </a:bodyPr>
          <a:lstStyle/>
          <a:p>
            <a:pPr algn="ctr">
              <a:lnSpc>
                <a:spcPct val="98000"/>
              </a:lnSpc>
              <a:spcBef>
                <a:spcPts val="0"/>
              </a:spcBef>
              <a:spcAft>
                <a:spcPts val="200"/>
              </a:spcAft>
            </a:pPr>
            <a:r>
              <a:rPr sz="1250" b="0" i="0">
                <a:solidFill>
                  <a:srgbClr val="5A6473"/>
                </a:solidFill>
                <a:latin typeface="Adobe Clean"/>
              </a:rPr>
              <a:t>best FOS from a short
search over edits</a:t>
            </a:r>
          </a:p>
        </p:txBody>
      </p:sp>
      <p:sp>
        <p:nvSpPr>
          <p:cNvPr id="14" name="Rounded Rectangle 13"/>
          <p:cNvSpPr/>
          <p:nvPr/>
        </p:nvSpPr>
        <p:spPr>
          <a:xfrm>
            <a:off x="548640" y="4389120"/>
            <a:ext cx="11064240" cy="169164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498848"/>
            <a:ext cx="73152" cy="147218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26280"/>
            <a:ext cx="10515600" cy="365760"/>
          </a:xfrm>
          <a:prstGeom prst="rect">
            <a:avLst/>
          </a:prstGeom>
          <a:noFill/>
        </p:spPr>
        <p:txBody>
          <a:bodyPr wrap="square" lIns="0" rIns="0" tIns="0" bIns="0" anchor="t">
            <a:spAutoFit/>
          </a:bodyPr>
          <a:lstStyle/>
          <a:p>
            <a:pPr algn="l">
              <a:lnSpc>
                <a:spcPct val="100000"/>
              </a:lnSpc>
              <a:spcBef>
                <a:spcPts val="0"/>
              </a:spcBef>
              <a:spcAft>
                <a:spcPts val="200"/>
              </a:spcAft>
            </a:pPr>
            <a:r>
              <a:rPr sz="1500" b="1" i="0">
                <a:solidFill>
                  <a:srgbClr val="EB1000"/>
                </a:solidFill>
                <a:latin typeface="Adobe Clean ExtraBold"/>
              </a:rPr>
              <a:t>What this proves</a:t>
            </a:r>
          </a:p>
        </p:txBody>
      </p:sp>
      <p:sp>
        <p:nvSpPr>
          <p:cNvPr id="17" name="TextBox 16"/>
          <p:cNvSpPr txBox="1"/>
          <p:nvPr/>
        </p:nvSpPr>
        <p:spPr>
          <a:xfrm>
            <a:off x="868680" y="4937760"/>
            <a:ext cx="10515600" cy="1097280"/>
          </a:xfrm>
          <a:prstGeom prst="rect">
            <a:avLst/>
          </a:prstGeom>
          <a:noFill/>
        </p:spPr>
        <p:txBody>
          <a:bodyPr wrap="square" lIns="0" rIns="0" tIns="0" bIns="0" anchor="t">
            <a:spAutoFit/>
          </a:bodyPr>
          <a:lstStyle/>
          <a:p>
            <a:pPr algn="l">
              <a:lnSpc>
                <a:spcPct val="105000"/>
              </a:lnSpc>
              <a:spcBef>
                <a:spcPts val="0"/>
              </a:spcBef>
              <a:spcAft>
                <a:spcPts val="200"/>
              </a:spcAft>
            </a:pPr>
            <a:r>
              <a:rPr sz="1400" b="0" i="0">
                <a:solidFill>
                  <a:srgbClr val="2C2C2C"/>
                </a:solidFill>
                <a:latin typeface="Adobe Clean"/>
              </a:rPr>
              <a:t>Flipping a single field in the observation moves a frozen, untrained model from </a:t>
            </a:r>
            <a:r>
              <a:rPr sz="1400" b="1" i="0">
                <a:solidFill>
                  <a:srgbClr val="1E8449"/>
                </a:solidFill>
                <a:latin typeface="Adobe Clean ExtraBold"/>
              </a:rPr>
              <a:t>0/6 to 4/6</a:t>
            </a:r>
            <a:r>
              <a:rPr sz="1400" b="0" i="0">
                <a:solidFill>
                  <a:srgbClr val="2C2C2C"/>
                </a:solidFill>
                <a:latin typeface="Adobe Clean"/>
              </a:rPr>
              <a:t>. The reasoning capacity was always present — the bottleneck was an </a:t>
            </a:r>
            <a:r>
              <a:rPr sz="1400" b="1" i="0">
                <a:solidFill>
                  <a:srgbClr val="EB1000"/>
                </a:solidFill>
                <a:latin typeface="Adobe Clean ExtraBold"/>
              </a:rPr>
              <a:t>incomplete observation</a:t>
            </a:r>
            <a:r>
              <a:rPr sz="1400" b="0" i="0">
                <a:solidFill>
                  <a:srgbClr val="2C2C2C"/>
                </a:solidFill>
                <a:latin typeface="Adobe Clean"/>
              </a:rPr>
              <a:t>. This is why we call the headline a property of the environment, not of the RL algorithm. RL then amplifies and stabilizes the same competence into the trained 14B policy.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What Success Looks Like</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The champion solving auto_problem_000 — FOS_buckling climbs monotonically past 1.5.</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pic>
        <p:nvPicPr>
          <p:cNvPr id="5" name="Picture 4" descr="fos_trajectory.png"/>
          <p:cNvPicPr>
            <a:picLocks noChangeAspect="1"/>
          </p:cNvPicPr>
          <p:nvPr/>
        </p:nvPicPr>
        <p:blipFill>
          <a:blip r:embed="rId2"/>
          <a:stretch>
            <a:fillRect/>
          </a:stretch>
        </p:blipFill>
        <p:spPr>
          <a:xfrm>
            <a:off x="548640" y="1737360"/>
            <a:ext cx="7040880" cy="3761958"/>
          </a:xfrm>
          <a:prstGeom prst="rect">
            <a:avLst/>
          </a:prstGeom>
        </p:spPr>
      </p:pic>
      <p:sp>
        <p:nvSpPr>
          <p:cNvPr id="6" name="TextBox 5"/>
          <p:cNvSpPr txBox="1"/>
          <p:nvPr/>
        </p:nvSpPr>
        <p:spPr>
          <a:xfrm>
            <a:off x="7498079" y="1783080"/>
            <a:ext cx="4114800" cy="365760"/>
          </a:xfrm>
          <a:prstGeom prst="rect">
            <a:avLst/>
          </a:prstGeom>
          <a:noFill/>
        </p:spPr>
        <p:txBody>
          <a:bodyPr wrap="square" lIns="0" rIns="0" tIns="0" bIns="0" anchor="t">
            <a:spAutoFit/>
          </a:bodyPr>
          <a:lstStyle/>
          <a:p>
            <a:pPr algn="l">
              <a:lnSpc>
                <a:spcPct val="100000"/>
              </a:lnSpc>
              <a:spcBef>
                <a:spcPts val="0"/>
              </a:spcBef>
              <a:spcAft>
                <a:spcPts val="200"/>
              </a:spcAft>
            </a:pPr>
            <a:r>
              <a:rPr sz="1400" b="1" i="0">
                <a:solidFill>
                  <a:srgbClr val="21304A"/>
                </a:solidFill>
                <a:latin typeface="Adobe Clean ExtraBold"/>
              </a:rPr>
              <a:t>The trajectory</a:t>
            </a:r>
          </a:p>
        </p:txBody>
      </p:sp>
      <p:sp>
        <p:nvSpPr>
          <p:cNvPr id="7" name="Rounded Rectangle 6"/>
          <p:cNvSpPr/>
          <p:nvPr/>
        </p:nvSpPr>
        <p:spPr>
          <a:xfrm>
            <a:off x="7498079" y="2240280"/>
            <a:ext cx="4114800" cy="713232"/>
          </a:xfrm>
          <a:prstGeom prst="roundRect">
            <a:avLst>
              <a:gd name="adj" fmla="val 6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313432"/>
            <a:ext cx="3749039"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5A6473"/>
                </a:solidFill>
                <a:latin typeface="Adobe Clean ExtraBold"/>
              </a:rPr>
              <a:t>step 0</a:t>
            </a:r>
            <a:r>
              <a:rPr sz="1100" b="0" i="0">
                <a:solidFill>
                  <a:srgbClr val="5A6473"/>
                </a:solidFill>
                <a:latin typeface="Adobe Clean"/>
              </a:rPr>
              <a:t>    </a:t>
            </a:r>
            <a:r>
              <a:rPr sz="1100" b="1" i="0">
                <a:solidFill>
                  <a:srgbClr val="EB1000"/>
                </a:solidFill>
                <a:latin typeface="Adobe Clean ExtraBold"/>
              </a:rPr>
              <a:t>0.44→0.48</a:t>
            </a:r>
          </a:p>
        </p:txBody>
      </p:sp>
      <p:sp>
        <p:nvSpPr>
          <p:cNvPr id="9" name="TextBox 8"/>
          <p:cNvSpPr txBox="1"/>
          <p:nvPr/>
        </p:nvSpPr>
        <p:spPr>
          <a:xfrm>
            <a:off x="7680960" y="2606040"/>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Courier New"/>
              </a:rPr>
              <a:t>SCALE_PARAM(4, r, 1.36)</a:t>
            </a:r>
          </a:p>
        </p:txBody>
      </p:sp>
      <p:sp>
        <p:nvSpPr>
          <p:cNvPr id="10" name="Rounded Rectangle 9"/>
          <p:cNvSpPr/>
          <p:nvPr/>
        </p:nvSpPr>
        <p:spPr>
          <a:xfrm>
            <a:off x="7498079" y="3044952"/>
            <a:ext cx="4114800" cy="713232"/>
          </a:xfrm>
          <a:prstGeom prst="roundRect">
            <a:avLst>
              <a:gd name="adj" fmla="val 6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3118104"/>
            <a:ext cx="3749039"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5A6473"/>
                </a:solidFill>
                <a:latin typeface="Adobe Clean ExtraBold"/>
              </a:rPr>
              <a:t>step 1</a:t>
            </a:r>
            <a:r>
              <a:rPr sz="1100" b="0" i="0">
                <a:solidFill>
                  <a:srgbClr val="5A6473"/>
                </a:solidFill>
                <a:latin typeface="Adobe Clean"/>
              </a:rPr>
              <a:t>    </a:t>
            </a:r>
            <a:r>
              <a:rPr sz="1100" b="1" i="0">
                <a:solidFill>
                  <a:srgbClr val="EB1000"/>
                </a:solidFill>
                <a:latin typeface="Adobe Clean ExtraBold"/>
              </a:rPr>
              <a:t>0.48→0.51</a:t>
            </a:r>
          </a:p>
        </p:txBody>
      </p:sp>
      <p:sp>
        <p:nvSpPr>
          <p:cNvPr id="12" name="TextBox 11"/>
          <p:cNvSpPr txBox="1"/>
          <p:nvPr/>
        </p:nvSpPr>
        <p:spPr>
          <a:xfrm>
            <a:off x="7680960" y="3410712"/>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Courier New"/>
              </a:rPr>
              <a:t>SCALE_PARAM(7, r, 1.50)</a:t>
            </a:r>
          </a:p>
        </p:txBody>
      </p:sp>
      <p:sp>
        <p:nvSpPr>
          <p:cNvPr id="13" name="Rounded Rectangle 12"/>
          <p:cNvSpPr/>
          <p:nvPr/>
        </p:nvSpPr>
        <p:spPr>
          <a:xfrm>
            <a:off x="7498079" y="3849624"/>
            <a:ext cx="4114800" cy="713232"/>
          </a:xfrm>
          <a:prstGeom prst="roundRect">
            <a:avLst>
              <a:gd name="adj" fmla="val 6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3922776"/>
            <a:ext cx="3749039"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5A6473"/>
                </a:solidFill>
                <a:latin typeface="Adobe Clean ExtraBold"/>
              </a:rPr>
              <a:t>steps 2–6</a:t>
            </a:r>
            <a:r>
              <a:rPr sz="1100" b="0" i="0">
                <a:solidFill>
                  <a:srgbClr val="5A6473"/>
                </a:solidFill>
                <a:latin typeface="Adobe Clean"/>
              </a:rPr>
              <a:t>    </a:t>
            </a:r>
            <a:r>
              <a:rPr sz="1100" b="1" i="0">
                <a:solidFill>
                  <a:srgbClr val="EB1000"/>
                </a:solidFill>
                <a:latin typeface="Adobe Clean ExtraBold"/>
              </a:rPr>
              <a:t>climbing</a:t>
            </a:r>
          </a:p>
        </p:txBody>
      </p:sp>
      <p:sp>
        <p:nvSpPr>
          <p:cNvPr id="15" name="TextBox 14"/>
          <p:cNvSpPr txBox="1"/>
          <p:nvPr/>
        </p:nvSpPr>
        <p:spPr>
          <a:xfrm>
            <a:off x="7680960" y="4215384"/>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Courier New"/>
              </a:rPr>
              <a:t>grow critical members</a:t>
            </a:r>
          </a:p>
        </p:txBody>
      </p:sp>
      <p:sp>
        <p:nvSpPr>
          <p:cNvPr id="16" name="Rounded Rectangle 15"/>
          <p:cNvSpPr/>
          <p:nvPr/>
        </p:nvSpPr>
        <p:spPr>
          <a:xfrm>
            <a:off x="7498079" y="4654296"/>
            <a:ext cx="4114800" cy="713232"/>
          </a:xfrm>
          <a:prstGeom prst="roundRect">
            <a:avLst>
              <a:gd name="adj" fmla="val 6000"/>
            </a:avLst>
          </a:prstGeom>
          <a:solidFill>
            <a:srgbClr val="FFFFFF"/>
          </a:solidFill>
          <a:ln w="1016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4727448"/>
            <a:ext cx="3749039"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1" i="0">
                <a:solidFill>
                  <a:srgbClr val="5A6473"/>
                </a:solidFill>
                <a:latin typeface="Adobe Clean ExtraBold"/>
              </a:rPr>
              <a:t>step 7</a:t>
            </a:r>
            <a:r>
              <a:rPr sz="1100" b="0" i="0">
                <a:solidFill>
                  <a:srgbClr val="5A6473"/>
                </a:solidFill>
                <a:latin typeface="Adobe Clean"/>
              </a:rPr>
              <a:t>    </a:t>
            </a:r>
            <a:r>
              <a:rPr sz="1100" b="1" i="0">
                <a:solidFill>
                  <a:srgbClr val="EB1000"/>
                </a:solidFill>
                <a:latin typeface="Adobe Clean ExtraBold"/>
              </a:rPr>
              <a:t>FOS_b 1.69</a:t>
            </a:r>
          </a:p>
        </p:txBody>
      </p:sp>
      <p:sp>
        <p:nvSpPr>
          <p:cNvPr id="18" name="TextBox 17"/>
          <p:cNvSpPr txBox="1"/>
          <p:nvPr/>
        </p:nvSpPr>
        <p:spPr>
          <a:xfrm>
            <a:off x="7680960" y="5020056"/>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150" b="1" i="0">
                <a:solidFill>
                  <a:srgbClr val="21304A"/>
                </a:solidFill>
                <a:latin typeface="Courier New"/>
              </a:rPr>
              <a:t>feasible</a:t>
            </a:r>
          </a:p>
        </p:txBody>
      </p:sp>
      <p:sp>
        <p:nvSpPr>
          <p:cNvPr id="19" name="Rounded Rectangle 18"/>
          <p:cNvSpPr/>
          <p:nvPr/>
        </p:nvSpPr>
        <p:spPr>
          <a:xfrm>
            <a:off x="7498079" y="5477255"/>
            <a:ext cx="4114800" cy="777240"/>
          </a:xfrm>
          <a:prstGeom prst="roundRect">
            <a:avLst>
              <a:gd name="adj" fmla="val 6000"/>
            </a:avLst>
          </a:prstGeom>
          <a:solidFill>
            <a:srgbClr val="EAF6EE"/>
          </a:solidFill>
          <a:ln w="12700">
            <a:solidFill>
              <a:srgbClr val="BF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0" y="5568696"/>
            <a:ext cx="3749039"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1E8449"/>
                </a:solidFill>
                <a:latin typeface="Adobe Clean ExtraBold"/>
              </a:rPr>
              <a:t>FEASIBLE in 7 turns</a:t>
            </a:r>
          </a:p>
        </p:txBody>
      </p:sp>
      <p:sp>
        <p:nvSpPr>
          <p:cNvPr id="21" name="TextBox 20"/>
          <p:cNvSpPr txBox="1"/>
          <p:nvPr/>
        </p:nvSpPr>
        <p:spPr>
          <a:xfrm>
            <a:off x="7680960" y="5879592"/>
            <a:ext cx="3749039" cy="274320"/>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5A6473"/>
                </a:solidFill>
                <a:latin typeface="Adobe Clean"/>
              </a:rPr>
              <a:t>teacher reasons, 14B grounds each action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The Remaining 32%</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Adding observation information has hit diminishing returns. The rest splits three ways.</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920240"/>
            <a:ext cx="3383280" cy="3108960"/>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31720"/>
            <a:ext cx="3383280" cy="914400"/>
          </a:xfrm>
          <a:prstGeom prst="rect">
            <a:avLst/>
          </a:prstGeom>
          <a:noFill/>
        </p:spPr>
        <p:txBody>
          <a:bodyPr wrap="square" lIns="0" rIns="0" tIns="0" bIns="0" anchor="ctr">
            <a:spAutoFit/>
          </a:bodyPr>
          <a:lstStyle/>
          <a:p>
            <a:pPr algn="ctr">
              <a:lnSpc>
                <a:spcPct val="100000"/>
              </a:lnSpc>
              <a:spcBef>
                <a:spcPts val="0"/>
              </a:spcBef>
              <a:spcAft>
                <a:spcPts val="200"/>
              </a:spcAft>
            </a:pPr>
            <a:r>
              <a:rPr sz="5600" b="1" i="0">
                <a:solidFill>
                  <a:srgbClr val="1E8449"/>
                </a:solidFill>
                <a:latin typeface="Adobe Clean ExtraBold"/>
              </a:rPr>
              <a:t>68%</a:t>
            </a:r>
          </a:p>
        </p:txBody>
      </p:sp>
      <p:sp>
        <p:nvSpPr>
          <p:cNvPr id="7" name="TextBox 6"/>
          <p:cNvSpPr txBox="1"/>
          <p:nvPr/>
        </p:nvSpPr>
        <p:spPr>
          <a:xfrm>
            <a:off x="548640" y="3383280"/>
            <a:ext cx="3383280" cy="310896"/>
          </a:xfrm>
          <a:prstGeom prst="rect">
            <a:avLst/>
          </a:prstGeom>
          <a:noFill/>
        </p:spPr>
        <p:txBody>
          <a:bodyPr wrap="square" lIns="0" rIns="0" tIns="0" bIns="0" anchor="t">
            <a:spAutoFit/>
          </a:bodyPr>
          <a:lstStyle/>
          <a:p>
            <a:pPr algn="ctr">
              <a:lnSpc>
                <a:spcPct val="100000"/>
              </a:lnSpc>
              <a:spcBef>
                <a:spcPts val="0"/>
              </a:spcBef>
              <a:spcAft>
                <a:spcPts val="200"/>
              </a:spcAft>
            </a:pPr>
            <a:r>
              <a:rPr sz="1500" b="1" i="0">
                <a:solidFill>
                  <a:srgbClr val="21304A"/>
                </a:solidFill>
                <a:latin typeface="Adobe Clean ExtraBold"/>
              </a:rPr>
              <a:t>feasible</a:t>
            </a:r>
          </a:p>
        </p:txBody>
      </p:sp>
      <p:sp>
        <p:nvSpPr>
          <p:cNvPr id="8" name="TextBox 7"/>
          <p:cNvSpPr txBox="1"/>
          <p:nvPr/>
        </p:nvSpPr>
        <p:spPr>
          <a:xfrm>
            <a:off x="548640" y="3749039"/>
            <a:ext cx="3383280" cy="731520"/>
          </a:xfrm>
          <a:prstGeom prst="rect">
            <a:avLst/>
          </a:prstGeom>
          <a:noFill/>
        </p:spPr>
        <p:txBody>
          <a:bodyPr wrap="square" lIns="0" rIns="0" tIns="0" bIns="0" anchor="t">
            <a:spAutoFit/>
          </a:bodyPr>
          <a:lstStyle/>
          <a:p>
            <a:pPr algn="ctr">
              <a:lnSpc>
                <a:spcPct val="98000"/>
              </a:lnSpc>
              <a:spcBef>
                <a:spcPts val="0"/>
              </a:spcBef>
              <a:spcAft>
                <a:spcPts val="200"/>
              </a:spcAft>
            </a:pPr>
            <a:r>
              <a:rPr sz="1150" b="0" i="0">
                <a:solidFill>
                  <a:srgbClr val="5A6473"/>
                </a:solidFill>
                <a:latin typeface="Adobe Clean"/>
              </a:rPr>
              <a:t>the remaining 32% breaks into three failure modes →</a:t>
            </a:r>
          </a:p>
        </p:txBody>
      </p:sp>
      <p:sp>
        <p:nvSpPr>
          <p:cNvPr id="9" name="Rounded Rectangle 8"/>
          <p:cNvSpPr/>
          <p:nvPr/>
        </p:nvSpPr>
        <p:spPr>
          <a:xfrm>
            <a:off x="4206240" y="1920240"/>
            <a:ext cx="740664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06240" y="2029968"/>
            <a:ext cx="73152" cy="740664"/>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3984" y="2020824"/>
            <a:ext cx="694944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Mass over-shoot  (3)</a:t>
            </a:r>
          </a:p>
        </p:txBody>
      </p:sp>
      <p:sp>
        <p:nvSpPr>
          <p:cNvPr id="12" name="TextBox 11"/>
          <p:cNvSpPr txBox="1"/>
          <p:nvPr/>
        </p:nvSpPr>
        <p:spPr>
          <a:xfrm>
            <a:off x="4443984" y="2322576"/>
            <a:ext cx="402336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FOS fixed but mass budget exceeded</a:t>
            </a:r>
          </a:p>
        </p:txBody>
      </p:sp>
      <p:sp>
        <p:nvSpPr>
          <p:cNvPr id="13" name="TextBox 12"/>
          <p:cNvSpPr txBox="1"/>
          <p:nvPr/>
        </p:nvSpPr>
        <p:spPr>
          <a:xfrm>
            <a:off x="8641080" y="2194560"/>
            <a:ext cx="2743200" cy="457200"/>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B26B00"/>
                </a:solidFill>
                <a:latin typeface="Adobe Clean ExtraBold"/>
              </a:rPr>
              <a:t>→ soft FOS↔mass reward balance</a:t>
            </a:r>
          </a:p>
        </p:txBody>
      </p:sp>
      <p:sp>
        <p:nvSpPr>
          <p:cNvPr id="14" name="Rounded Rectangle 13"/>
          <p:cNvSpPr/>
          <p:nvPr/>
        </p:nvSpPr>
        <p:spPr>
          <a:xfrm>
            <a:off x="4206240" y="2980944"/>
            <a:ext cx="740664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40" y="3090672"/>
            <a:ext cx="73152" cy="740664"/>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3081527"/>
            <a:ext cx="694944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Degenerate FEA  (4)</a:t>
            </a:r>
          </a:p>
        </p:txBody>
      </p:sp>
      <p:sp>
        <p:nvSpPr>
          <p:cNvPr id="17" name="TextBox 16"/>
          <p:cNvSpPr txBox="1"/>
          <p:nvPr/>
        </p:nvSpPr>
        <p:spPr>
          <a:xfrm>
            <a:off x="4443984" y="3383279"/>
            <a:ext cx="402336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structurally broken / very heavy states</a:t>
            </a:r>
          </a:p>
        </p:txBody>
      </p:sp>
      <p:sp>
        <p:nvSpPr>
          <p:cNvPr id="18" name="TextBox 17"/>
          <p:cNvSpPr txBox="1"/>
          <p:nvPr/>
        </p:nvSpPr>
        <p:spPr>
          <a:xfrm>
            <a:off x="8641080" y="3255263"/>
            <a:ext cx="2743200" cy="457200"/>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7030A0"/>
                </a:solidFill>
                <a:latin typeface="Adobe Clean ExtraBold"/>
              </a:rPr>
              <a:t>→ robust state handling</a:t>
            </a:r>
          </a:p>
        </p:txBody>
      </p:sp>
      <p:sp>
        <p:nvSpPr>
          <p:cNvPr id="19" name="Rounded Rectangle 18"/>
          <p:cNvSpPr/>
          <p:nvPr/>
        </p:nvSpPr>
        <p:spPr>
          <a:xfrm>
            <a:off x="4206240" y="4041648"/>
            <a:ext cx="7406640" cy="96012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4151376"/>
            <a:ext cx="73152" cy="74066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4" y="4142232"/>
            <a:ext cx="6949440" cy="292608"/>
          </a:xfrm>
          <a:prstGeom prst="rect">
            <a:avLst/>
          </a:prstGeom>
          <a:noFill/>
        </p:spPr>
        <p:txBody>
          <a:bodyPr wrap="square" lIns="0" rIns="0" tIns="0" bIns="0" anchor="t">
            <a:spAutoFit/>
          </a:bodyPr>
          <a:lstStyle/>
          <a:p>
            <a:pPr algn="l">
              <a:lnSpc>
                <a:spcPct val="100000"/>
              </a:lnSpc>
              <a:spcBef>
                <a:spcPts val="0"/>
              </a:spcBef>
              <a:spcAft>
                <a:spcPts val="200"/>
              </a:spcAft>
            </a:pPr>
            <a:r>
              <a:rPr sz="1350" b="1" i="0">
                <a:solidFill>
                  <a:srgbClr val="21304A"/>
                </a:solidFill>
                <a:latin typeface="Adobe Clean ExtraBold"/>
              </a:rPr>
              <a:t>Grammar drift  (~33% turns)</a:t>
            </a:r>
          </a:p>
        </p:txBody>
      </p:sp>
      <p:sp>
        <p:nvSpPr>
          <p:cNvPr id="22" name="TextBox 21"/>
          <p:cNvSpPr txBox="1"/>
          <p:nvPr/>
        </p:nvSpPr>
        <p:spPr>
          <a:xfrm>
            <a:off x="4443984" y="4443984"/>
            <a:ext cx="4023360" cy="274320"/>
          </a:xfrm>
          <a:prstGeom prst="rect">
            <a:avLst/>
          </a:prstGeom>
          <a:noFill/>
        </p:spPr>
        <p:txBody>
          <a:bodyPr wrap="square" lIns="0" rIns="0" tIns="0" bIns="0" anchor="t">
            <a:spAutoFit/>
          </a:bodyPr>
          <a:lstStyle/>
          <a:p>
            <a:pPr algn="l">
              <a:lnSpc>
                <a:spcPct val="100000"/>
              </a:lnSpc>
              <a:spcBef>
                <a:spcPts val="0"/>
              </a:spcBef>
              <a:spcAft>
                <a:spcPts val="200"/>
              </a:spcAft>
            </a:pPr>
            <a:r>
              <a:rPr sz="1100" b="0" i="0">
                <a:solidFill>
                  <a:srgbClr val="5A6473"/>
                </a:solidFill>
                <a:latin typeface="Adobe Clean"/>
              </a:rPr>
              <a:t>policy forgets the warmstart format</a:t>
            </a:r>
          </a:p>
        </p:txBody>
      </p:sp>
      <p:sp>
        <p:nvSpPr>
          <p:cNvPr id="23" name="TextBox 22"/>
          <p:cNvSpPr txBox="1"/>
          <p:nvPr/>
        </p:nvSpPr>
        <p:spPr>
          <a:xfrm>
            <a:off x="8641080" y="4315968"/>
            <a:ext cx="2743200" cy="457200"/>
          </a:xfrm>
          <a:prstGeom prst="rect">
            <a:avLst/>
          </a:prstGeom>
          <a:noFill/>
        </p:spPr>
        <p:txBody>
          <a:bodyPr wrap="square" lIns="0" rIns="0" tIns="0" bIns="0" anchor="ctr">
            <a:spAutoFit/>
          </a:bodyPr>
          <a:lstStyle/>
          <a:p>
            <a:pPr algn="l">
              <a:lnSpc>
                <a:spcPct val="100000"/>
              </a:lnSpc>
              <a:spcBef>
                <a:spcPts val="0"/>
              </a:spcBef>
              <a:spcAft>
                <a:spcPts val="200"/>
              </a:spcAft>
            </a:pPr>
            <a:r>
              <a:rPr sz="1150" b="1" i="0">
                <a:solidFill>
                  <a:srgbClr val="EB1000"/>
                </a:solidFill>
                <a:latin typeface="Adobe Clean ExtraBold"/>
              </a:rPr>
              <a:t>→ format-protecting KL</a:t>
            </a:r>
          </a:p>
        </p:txBody>
      </p:sp>
      <p:sp>
        <p:nvSpPr>
          <p:cNvPr id="24" name="TextBox 23"/>
          <p:cNvSpPr txBox="1"/>
          <p:nvPr/>
        </p:nvSpPr>
        <p:spPr>
          <a:xfrm>
            <a:off x="4206240" y="5102352"/>
            <a:ext cx="7406640" cy="365760"/>
          </a:xfrm>
          <a:prstGeom prst="rect">
            <a:avLst/>
          </a:prstGeom>
          <a:noFill/>
        </p:spPr>
        <p:txBody>
          <a:bodyPr wrap="square" lIns="0" rIns="0" tIns="0" bIns="0" anchor="t">
            <a:spAutoFit/>
          </a:bodyPr>
          <a:lstStyle/>
          <a:p>
            <a:pPr algn="l">
              <a:lnSpc>
                <a:spcPct val="98000"/>
              </a:lnSpc>
              <a:spcBef>
                <a:spcPts val="0"/>
              </a:spcBef>
              <a:spcAft>
                <a:spcPts val="200"/>
              </a:spcAft>
            </a:pPr>
            <a:r>
              <a:rPr sz="1100" b="0" i="1">
                <a:solidFill>
                  <a:srgbClr val="5A6473"/>
                </a:solidFill>
                <a:latin typeface="Adobe Clean"/>
              </a:rPr>
              <a:t>A hard prompt rule over-corrects (the mass regression proved it) — the next gains must come from softer, structural changes.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11064240" cy="640080"/>
          </a:xfrm>
          <a:prstGeom prst="rect">
            <a:avLst/>
          </a:prstGeom>
          <a:noFill/>
        </p:spPr>
        <p:txBody>
          <a:bodyPr wrap="square" lIns="0" rIns="0" tIns="0" bIns="0" anchor="t">
            <a:spAutoFit/>
          </a:bodyPr>
          <a:lstStyle/>
          <a:p>
            <a:pPr algn="l">
              <a:lnSpc>
                <a:spcPct val="100000"/>
              </a:lnSpc>
              <a:spcBef>
                <a:spcPts val="0"/>
              </a:spcBef>
              <a:spcAft>
                <a:spcPts val="200"/>
              </a:spcAft>
            </a:pPr>
            <a:r>
              <a:rPr sz="2700" b="1" i="0">
                <a:solidFill>
                  <a:srgbClr val="EB1000"/>
                </a:solidFill>
                <a:latin typeface="Adobe Clean ExtraBold"/>
              </a:rPr>
              <a:t>Roadmap to &gt;90%</a:t>
            </a:r>
          </a:p>
        </p:txBody>
      </p:sp>
      <p:sp>
        <p:nvSpPr>
          <p:cNvPr id="3" name="TextBox 2"/>
          <p:cNvSpPr txBox="1"/>
          <p:nvPr/>
        </p:nvSpPr>
        <p:spPr>
          <a:xfrm>
            <a:off x="548640" y="969264"/>
            <a:ext cx="10058400" cy="411480"/>
          </a:xfrm>
          <a:prstGeom prst="rect">
            <a:avLst/>
          </a:prstGeom>
          <a:noFill/>
        </p:spPr>
        <p:txBody>
          <a:bodyPr wrap="square" lIns="0" rIns="0" tIns="0" bIns="0" anchor="t">
            <a:spAutoFit/>
          </a:bodyPr>
          <a:lstStyle/>
          <a:p>
            <a:pPr algn="l">
              <a:lnSpc>
                <a:spcPct val="100000"/>
              </a:lnSpc>
              <a:spcBef>
                <a:spcPts val="0"/>
              </a:spcBef>
              <a:spcAft>
                <a:spcPts val="200"/>
              </a:spcAft>
            </a:pPr>
            <a:r>
              <a:rPr sz="1450" b="0" i="0">
                <a:solidFill>
                  <a:srgbClr val="5A6473"/>
                </a:solidFill>
                <a:latin typeface="Adobe Clean"/>
              </a:rPr>
              <a:t>Each step targets a named failure mode — the gap is a list, not a mystery.</a:t>
            </a:r>
          </a:p>
        </p:txBody>
      </p:sp>
      <p:cxnSp>
        <p:nvCxnSpPr>
          <p:cNvPr id="4" name="Connector 3"/>
          <p:cNvCxnSpPr/>
          <p:nvPr/>
        </p:nvCxnSpPr>
        <p:spPr>
          <a:xfrm>
            <a:off x="548640" y="1481328"/>
            <a:ext cx="11094415" cy="0"/>
          </a:xfrm>
          <a:prstGeom prst="bentConnector3">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828800"/>
            <a:ext cx="2651760" cy="33832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73152" cy="31638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2103120"/>
            <a:ext cx="658368" cy="658368"/>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66543"/>
            <a:ext cx="658368" cy="65836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01</a:t>
            </a:r>
          </a:p>
        </p:txBody>
      </p:sp>
      <p:sp>
        <p:nvSpPr>
          <p:cNvPr id="9" name="TextBox 8"/>
          <p:cNvSpPr txBox="1"/>
          <p:nvPr/>
        </p:nvSpPr>
        <p:spPr>
          <a:xfrm>
            <a:off x="804672" y="2926080"/>
            <a:ext cx="2194560" cy="731520"/>
          </a:xfrm>
          <a:prstGeom prst="rect">
            <a:avLst/>
          </a:prstGeom>
          <a:noFill/>
        </p:spPr>
        <p:txBody>
          <a:bodyPr wrap="square" lIns="0" rIns="0" tIns="0" bIns="0" anchor="t">
            <a:spAutoFit/>
          </a:bodyPr>
          <a:lstStyle/>
          <a:p>
            <a:pPr algn="l">
              <a:lnSpc>
                <a:spcPct val="96000"/>
              </a:lnSpc>
              <a:spcBef>
                <a:spcPts val="0"/>
              </a:spcBef>
              <a:spcAft>
                <a:spcPts val="200"/>
              </a:spcAft>
            </a:pPr>
            <a:r>
              <a:rPr sz="1500" b="1" i="0">
                <a:solidFill>
                  <a:srgbClr val="21304A"/>
                </a:solidFill>
                <a:latin typeface="Adobe Clean ExtraBold"/>
              </a:rPr>
              <a:t>Soft FOS↔mass balancing</a:t>
            </a:r>
          </a:p>
        </p:txBody>
      </p:sp>
      <p:sp>
        <p:nvSpPr>
          <p:cNvPr id="10" name="TextBox 9"/>
          <p:cNvSpPr txBox="1"/>
          <p:nvPr/>
        </p:nvSpPr>
        <p:spPr>
          <a:xfrm>
            <a:off x="804672" y="3749039"/>
            <a:ext cx="2194560" cy="137160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5A6473"/>
                </a:solidFill>
                <a:latin typeface="Adobe Clean"/>
              </a:rPr>
              <a:t>reward-side trade-off so the policy fixes buckling without over-shooting mass</a:t>
            </a:r>
          </a:p>
        </p:txBody>
      </p:sp>
      <p:sp>
        <p:nvSpPr>
          <p:cNvPr id="11" name="Chevron 10"/>
          <p:cNvSpPr/>
          <p:nvPr/>
        </p:nvSpPr>
        <p:spPr>
          <a:xfrm>
            <a:off x="3200400" y="3337560"/>
            <a:ext cx="261518" cy="237744"/>
          </a:xfrm>
          <a:prstGeom prst="chevron">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5848" y="1828800"/>
            <a:ext cx="2651760" cy="33832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55848" y="1938528"/>
            <a:ext cx="73152" cy="31638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11880" y="2103120"/>
            <a:ext cx="658368" cy="658368"/>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2066543"/>
            <a:ext cx="658368" cy="65836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02</a:t>
            </a:r>
          </a:p>
        </p:txBody>
      </p:sp>
      <p:sp>
        <p:nvSpPr>
          <p:cNvPr id="16" name="TextBox 15"/>
          <p:cNvSpPr txBox="1"/>
          <p:nvPr/>
        </p:nvSpPr>
        <p:spPr>
          <a:xfrm>
            <a:off x="3611880" y="2926080"/>
            <a:ext cx="2194560" cy="731520"/>
          </a:xfrm>
          <a:prstGeom prst="rect">
            <a:avLst/>
          </a:prstGeom>
          <a:noFill/>
        </p:spPr>
        <p:txBody>
          <a:bodyPr wrap="square" lIns="0" rIns="0" tIns="0" bIns="0" anchor="t">
            <a:spAutoFit/>
          </a:bodyPr>
          <a:lstStyle/>
          <a:p>
            <a:pPr algn="l">
              <a:lnSpc>
                <a:spcPct val="96000"/>
              </a:lnSpc>
              <a:spcBef>
                <a:spcPts val="0"/>
              </a:spcBef>
              <a:spcAft>
                <a:spcPts val="200"/>
              </a:spcAft>
            </a:pPr>
            <a:r>
              <a:rPr sz="1500" b="1" i="0">
                <a:solidFill>
                  <a:srgbClr val="21304A"/>
                </a:solidFill>
                <a:latin typeface="Adobe Clean ExtraBold"/>
              </a:rPr>
              <a:t>Format-protecting KL</a:t>
            </a:r>
          </a:p>
        </p:txBody>
      </p:sp>
      <p:sp>
        <p:nvSpPr>
          <p:cNvPr id="17" name="TextBox 16"/>
          <p:cNvSpPr txBox="1"/>
          <p:nvPr/>
        </p:nvSpPr>
        <p:spPr>
          <a:xfrm>
            <a:off x="3611880" y="3749039"/>
            <a:ext cx="2194560" cy="137160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5A6473"/>
                </a:solidFill>
                <a:latin typeface="Adobe Clean"/>
              </a:rPr>
              <a:t>keep the policy near the warmstart grammar to reclaim the ~33% wasted turns</a:t>
            </a:r>
          </a:p>
        </p:txBody>
      </p:sp>
      <p:sp>
        <p:nvSpPr>
          <p:cNvPr id="18" name="Chevron 17"/>
          <p:cNvSpPr/>
          <p:nvPr/>
        </p:nvSpPr>
        <p:spPr>
          <a:xfrm>
            <a:off x="6007608" y="3337560"/>
            <a:ext cx="261518" cy="237744"/>
          </a:xfrm>
          <a:prstGeom prst="chevron">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63056" y="1828800"/>
            <a:ext cx="2651760" cy="33832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938528"/>
            <a:ext cx="73152" cy="3163824"/>
          </a:xfrm>
          <a:prstGeom prst="rect">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19088" y="2103120"/>
            <a:ext cx="658368" cy="658368"/>
          </a:xfrm>
          <a:prstGeom prst="roundRect">
            <a:avLst>
              <a:gd name="adj" fmla="val 18000"/>
            </a:avLst>
          </a:prstGeom>
          <a:solidFill>
            <a:srgbClr val="21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066543"/>
            <a:ext cx="658368" cy="65836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03</a:t>
            </a:r>
          </a:p>
        </p:txBody>
      </p:sp>
      <p:sp>
        <p:nvSpPr>
          <p:cNvPr id="23" name="TextBox 22"/>
          <p:cNvSpPr txBox="1"/>
          <p:nvPr/>
        </p:nvSpPr>
        <p:spPr>
          <a:xfrm>
            <a:off x="6419088" y="2926080"/>
            <a:ext cx="2194560" cy="731520"/>
          </a:xfrm>
          <a:prstGeom prst="rect">
            <a:avLst/>
          </a:prstGeom>
          <a:noFill/>
        </p:spPr>
        <p:txBody>
          <a:bodyPr wrap="square" lIns="0" rIns="0" tIns="0" bIns="0" anchor="t">
            <a:spAutoFit/>
          </a:bodyPr>
          <a:lstStyle/>
          <a:p>
            <a:pPr algn="l">
              <a:lnSpc>
                <a:spcPct val="96000"/>
              </a:lnSpc>
              <a:spcBef>
                <a:spcPts val="0"/>
              </a:spcBef>
              <a:spcAft>
                <a:spcPts val="200"/>
              </a:spcAft>
            </a:pPr>
            <a:r>
              <a:rPr sz="1500" b="1" i="0">
                <a:solidFill>
                  <a:srgbClr val="21304A"/>
                </a:solidFill>
                <a:latin typeface="Adobe Clean ExtraBold"/>
              </a:rPr>
              <a:t>Robust degenerate states</a:t>
            </a:r>
          </a:p>
        </p:txBody>
      </p:sp>
      <p:sp>
        <p:nvSpPr>
          <p:cNvPr id="24" name="TextBox 23"/>
          <p:cNvSpPr txBox="1"/>
          <p:nvPr/>
        </p:nvSpPr>
        <p:spPr>
          <a:xfrm>
            <a:off x="6419088" y="3749039"/>
            <a:ext cx="2194560" cy="137160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5A6473"/>
                </a:solidFill>
                <a:latin typeface="Adobe Clean"/>
              </a:rPr>
              <a:t>handle broken / very heavy intermediates so the solver returns usable signal</a:t>
            </a:r>
          </a:p>
        </p:txBody>
      </p:sp>
      <p:sp>
        <p:nvSpPr>
          <p:cNvPr id="25" name="Chevron 24"/>
          <p:cNvSpPr/>
          <p:nvPr/>
        </p:nvSpPr>
        <p:spPr>
          <a:xfrm>
            <a:off x="8814816" y="3337560"/>
            <a:ext cx="261518" cy="237744"/>
          </a:xfrm>
          <a:prstGeom prst="chevron">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70264" y="1828800"/>
            <a:ext cx="2651760" cy="3383280"/>
          </a:xfrm>
          <a:prstGeom prst="roundRect">
            <a:avLst>
              <a:gd name="adj" fmla="val 4500"/>
            </a:avLst>
          </a:prstGeom>
          <a:solidFill>
            <a:srgbClr val="FFFFFF"/>
          </a:solidFill>
          <a:ln w="1270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70264" y="1938528"/>
            <a:ext cx="73152" cy="3163824"/>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226296" y="2103120"/>
            <a:ext cx="658368" cy="658368"/>
          </a:xfrm>
          <a:prstGeom prst="roundRect">
            <a:avLst>
              <a:gd name="adj" fmla="val 18000"/>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26296" y="2066543"/>
            <a:ext cx="658368" cy="65836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a:t>
            </a:r>
          </a:p>
        </p:txBody>
      </p:sp>
      <p:sp>
        <p:nvSpPr>
          <p:cNvPr id="30" name="TextBox 29"/>
          <p:cNvSpPr txBox="1"/>
          <p:nvPr/>
        </p:nvSpPr>
        <p:spPr>
          <a:xfrm>
            <a:off x="9226296" y="2926080"/>
            <a:ext cx="2194560" cy="731520"/>
          </a:xfrm>
          <a:prstGeom prst="rect">
            <a:avLst/>
          </a:prstGeom>
          <a:noFill/>
        </p:spPr>
        <p:txBody>
          <a:bodyPr wrap="square" lIns="0" rIns="0" tIns="0" bIns="0" anchor="t">
            <a:spAutoFit/>
          </a:bodyPr>
          <a:lstStyle/>
          <a:p>
            <a:pPr algn="l">
              <a:lnSpc>
                <a:spcPct val="96000"/>
              </a:lnSpc>
              <a:spcBef>
                <a:spcPts val="0"/>
              </a:spcBef>
              <a:spcAft>
                <a:spcPts val="200"/>
              </a:spcAft>
            </a:pPr>
            <a:r>
              <a:rPr sz="1500" b="1" i="0">
                <a:solidFill>
                  <a:srgbClr val="21304A"/>
                </a:solidFill>
                <a:latin typeface="Adobe Clean ExtraBold"/>
              </a:rPr>
              <a:t>Distillation (in reserve)</a:t>
            </a:r>
          </a:p>
        </p:txBody>
      </p:sp>
      <p:sp>
        <p:nvSpPr>
          <p:cNvPr id="31" name="TextBox 30"/>
          <p:cNvSpPr txBox="1"/>
          <p:nvPr/>
        </p:nvSpPr>
        <p:spPr>
          <a:xfrm>
            <a:off x="9226296" y="3749039"/>
            <a:ext cx="2194560" cy="1371600"/>
          </a:xfrm>
          <a:prstGeom prst="rect">
            <a:avLst/>
          </a:prstGeom>
          <a:noFill/>
        </p:spPr>
        <p:txBody>
          <a:bodyPr wrap="square" lIns="0" rIns="0" tIns="0" bIns="0" anchor="t">
            <a:spAutoFit/>
          </a:bodyPr>
          <a:lstStyle/>
          <a:p>
            <a:pPr algn="l">
              <a:lnSpc>
                <a:spcPct val="100000"/>
              </a:lnSpc>
              <a:spcBef>
                <a:spcPts val="0"/>
              </a:spcBef>
              <a:spcAft>
                <a:spcPts val="200"/>
              </a:spcAft>
            </a:pPr>
            <a:r>
              <a:rPr sz="1150" b="0" i="0">
                <a:solidFill>
                  <a:srgbClr val="5A6473"/>
                </a:solidFill>
                <a:latin typeface="Adobe Clean"/>
              </a:rPr>
              <a:t>the 30B teacher already produces 67%-solving traces — distill into the 14B if the above stall</a:t>
            </a:r>
          </a:p>
        </p:txBody>
      </p:sp>
      <p:sp>
        <p:nvSpPr>
          <p:cNvPr id="32" name="TextBox 31"/>
          <p:cNvSpPr txBox="1"/>
          <p:nvPr/>
        </p:nvSpPr>
        <p:spPr>
          <a:xfrm>
            <a:off x="548640" y="5486400"/>
            <a:ext cx="11064240" cy="457200"/>
          </a:xfrm>
          <a:prstGeom prst="rect">
            <a:avLst/>
          </a:prstGeom>
          <a:noFill/>
        </p:spPr>
        <p:txBody>
          <a:bodyPr wrap="square" lIns="0" rIns="0" tIns="0" bIns="0" anchor="t">
            <a:spAutoFit/>
          </a:bodyPr>
          <a:lstStyle/>
          <a:p>
            <a:pPr algn="l">
              <a:lnSpc>
                <a:spcPct val="100000"/>
              </a:lnSpc>
              <a:spcBef>
                <a:spcPts val="0"/>
              </a:spcBef>
              <a:spcAft>
                <a:spcPts val="200"/>
              </a:spcAft>
            </a:pPr>
            <a:r>
              <a:rPr sz="1200" b="0" i="1">
                <a:solidFill>
                  <a:srgbClr val="5A6473"/>
                </a:solidFill>
                <a:latin typeface="Adobe Clean"/>
              </a:rPr>
              <a:t>Targets in priority order; distillation is the fallback if the reward-side and KL changes plateau.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1304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640080"/>
            <a:ext cx="10972800" cy="640080"/>
          </a:xfrm>
          <a:prstGeom prst="rect">
            <a:avLst/>
          </a:prstGeom>
          <a:noFill/>
        </p:spPr>
        <p:txBody>
          <a:bodyPr wrap="square" lIns="0" rIns="0" tIns="0" bIns="0" anchor="t">
            <a:spAutoFit/>
          </a:bodyPr>
          <a:lstStyle/>
          <a:p>
            <a:pPr algn="l">
              <a:lnSpc>
                <a:spcPct val="100000"/>
              </a:lnSpc>
              <a:spcBef>
                <a:spcPts val="0"/>
              </a:spcBef>
              <a:spcAft>
                <a:spcPts val="200"/>
              </a:spcAft>
            </a:pPr>
            <a:r>
              <a:rPr sz="3000" b="1" i="0">
                <a:solidFill>
                  <a:srgbClr val="FFFFFF"/>
                </a:solidFill>
                <a:latin typeface="Adobe Clean ExtraBold"/>
              </a:rPr>
              <a:t>Key Takeaways</a:t>
            </a:r>
          </a:p>
        </p:txBody>
      </p:sp>
      <p:cxnSp>
        <p:nvCxnSpPr>
          <p:cNvPr id="4" name="Connector 3"/>
          <p:cNvCxnSpPr/>
          <p:nvPr/>
        </p:nvCxnSpPr>
        <p:spPr>
          <a:xfrm>
            <a:off x="841247" y="1371600"/>
            <a:ext cx="2743201" cy="0"/>
          </a:xfrm>
          <a:prstGeom prst="bentConnector3">
            <a:avLst/>
          </a:prstGeom>
          <a:ln w="31750">
            <a:solidFill>
              <a:srgbClr val="EB1000"/>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59" y="1691640"/>
            <a:ext cx="10881360" cy="1024128"/>
          </a:xfrm>
          <a:prstGeom prst="roundRect">
            <a:avLst>
              <a:gd name="adj" fmla="val 5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1560" y="1920240"/>
            <a:ext cx="566928" cy="566928"/>
          </a:xfrm>
          <a:prstGeom prst="roundRect">
            <a:avLst>
              <a:gd name="adj" fmla="val 20000"/>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83664"/>
            <a:ext cx="566928" cy="56692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1</a:t>
            </a:r>
          </a:p>
        </p:txBody>
      </p:sp>
      <p:sp>
        <p:nvSpPr>
          <p:cNvPr id="8" name="TextBox 7"/>
          <p:cNvSpPr txBox="1"/>
          <p:nvPr/>
        </p:nvSpPr>
        <p:spPr>
          <a:xfrm>
            <a:off x="1874519" y="1819656"/>
            <a:ext cx="9509760"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FFFFFF"/>
                </a:solidFill>
                <a:latin typeface="Adobe Clean ExtraBold"/>
              </a:rPr>
              <a:t>The bottleneck was the environment, not the model</a:t>
            </a:r>
          </a:p>
        </p:txBody>
      </p:sp>
      <p:sp>
        <p:nvSpPr>
          <p:cNvPr id="9" name="TextBox 8"/>
          <p:cNvSpPr txBox="1"/>
          <p:nvPr/>
        </p:nvSpPr>
        <p:spPr>
          <a:xfrm>
            <a:off x="1874519" y="2221992"/>
            <a:ext cx="950976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C4CAD4"/>
                </a:solidFill>
                <a:latin typeface="Adobe Clean"/>
              </a:rPr>
              <a:t>Same GRPO, same reward — protocol fidelity and a complete observation drove 0%→68%.</a:t>
            </a:r>
          </a:p>
        </p:txBody>
      </p:sp>
      <p:sp>
        <p:nvSpPr>
          <p:cNvPr id="10" name="Rounded Rectangle 9"/>
          <p:cNvSpPr/>
          <p:nvPr/>
        </p:nvSpPr>
        <p:spPr>
          <a:xfrm>
            <a:off x="822959" y="2807208"/>
            <a:ext cx="10881360" cy="1024128"/>
          </a:xfrm>
          <a:prstGeom prst="roundRect">
            <a:avLst>
              <a:gd name="adj" fmla="val 5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 y="3035808"/>
            <a:ext cx="566928" cy="566928"/>
          </a:xfrm>
          <a:prstGeom prst="roundRect">
            <a:avLst>
              <a:gd name="adj" fmla="val 20000"/>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999232"/>
            <a:ext cx="566928" cy="56692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2</a:t>
            </a:r>
          </a:p>
        </p:txBody>
      </p:sp>
      <p:sp>
        <p:nvSpPr>
          <p:cNvPr id="13" name="TextBox 12"/>
          <p:cNvSpPr txBox="1"/>
          <p:nvPr/>
        </p:nvSpPr>
        <p:spPr>
          <a:xfrm>
            <a:off x="1874519" y="2935224"/>
            <a:ext cx="9509760"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FFFFFF"/>
                </a:solidFill>
                <a:latin typeface="Adobe Clean ExtraBold"/>
              </a:rPr>
              <a:t>SFT teaches form; selective masking is how</a:t>
            </a:r>
          </a:p>
        </p:txBody>
      </p:sp>
      <p:sp>
        <p:nvSpPr>
          <p:cNvPr id="14" name="TextBox 13"/>
          <p:cNvSpPr txBox="1"/>
          <p:nvPr/>
        </p:nvSpPr>
        <p:spPr>
          <a:xfrm>
            <a:off x="1874519" y="3337560"/>
            <a:ext cx="950976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C4CAD4"/>
                </a:solidFill>
                <a:latin typeface="Adobe Clean"/>
              </a:rPr>
              <a:t>Supervise what the model writes, mask what it reads — perfect grammar, preserved RL plasticity.</a:t>
            </a:r>
          </a:p>
        </p:txBody>
      </p:sp>
      <p:sp>
        <p:nvSpPr>
          <p:cNvPr id="15" name="Rounded Rectangle 14"/>
          <p:cNvSpPr/>
          <p:nvPr/>
        </p:nvSpPr>
        <p:spPr>
          <a:xfrm>
            <a:off x="822959" y="3922776"/>
            <a:ext cx="10881360" cy="1024128"/>
          </a:xfrm>
          <a:prstGeom prst="roundRect">
            <a:avLst>
              <a:gd name="adj" fmla="val 5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51560" y="4151376"/>
            <a:ext cx="566928" cy="566928"/>
          </a:xfrm>
          <a:prstGeom prst="roundRect">
            <a:avLst>
              <a:gd name="adj" fmla="val 20000"/>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14800"/>
            <a:ext cx="566928" cy="56692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3</a:t>
            </a:r>
          </a:p>
        </p:txBody>
      </p:sp>
      <p:sp>
        <p:nvSpPr>
          <p:cNvPr id="18" name="TextBox 17"/>
          <p:cNvSpPr txBox="1"/>
          <p:nvPr/>
        </p:nvSpPr>
        <p:spPr>
          <a:xfrm>
            <a:off x="1874519" y="4050791"/>
            <a:ext cx="9509760"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FFFFFF"/>
                </a:solidFill>
                <a:latin typeface="Adobe Clean ExtraBold"/>
              </a:rPr>
              <a:t>GRPO + one dense potential reward is enough</a:t>
            </a:r>
          </a:p>
        </p:txBody>
      </p:sp>
      <p:sp>
        <p:nvSpPr>
          <p:cNvPr id="19" name="TextBox 18"/>
          <p:cNvSpPr txBox="1"/>
          <p:nvPr/>
        </p:nvSpPr>
        <p:spPr>
          <a:xfrm>
            <a:off x="1874519" y="4453128"/>
            <a:ext cx="950976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C4CAD4"/>
                </a:solidFill>
                <a:latin typeface="Adobe Clean"/>
              </a:rPr>
              <a:t>Group/tree-relative advantages and a policy-invariant Φ at α=5 beat every reward add-on.</a:t>
            </a:r>
          </a:p>
        </p:txBody>
      </p:sp>
      <p:sp>
        <p:nvSpPr>
          <p:cNvPr id="20" name="Rounded Rectangle 19"/>
          <p:cNvSpPr/>
          <p:nvPr/>
        </p:nvSpPr>
        <p:spPr>
          <a:xfrm>
            <a:off x="822959" y="5038344"/>
            <a:ext cx="10881360" cy="1024128"/>
          </a:xfrm>
          <a:prstGeom prst="roundRect">
            <a:avLst>
              <a:gd name="adj" fmla="val 5000"/>
            </a:avLst>
          </a:prstGeom>
          <a:solidFill>
            <a:srgbClr val="2C3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51560" y="5266944"/>
            <a:ext cx="566928" cy="566928"/>
          </a:xfrm>
          <a:prstGeom prst="roundRect">
            <a:avLst>
              <a:gd name="adj" fmla="val 20000"/>
            </a:avLst>
          </a:prstGeom>
          <a:solidFill>
            <a:srgbClr val="EB1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230368"/>
            <a:ext cx="566928" cy="566928"/>
          </a:xfrm>
          <a:prstGeom prst="rect">
            <a:avLst/>
          </a:prstGeom>
          <a:noFill/>
        </p:spPr>
        <p:txBody>
          <a:bodyPr wrap="square" lIns="0" rIns="0" tIns="0" bIns="0" anchor="ctr">
            <a:spAutoFit/>
          </a:bodyPr>
          <a:lstStyle/>
          <a:p>
            <a:pPr algn="ctr">
              <a:lnSpc>
                <a:spcPct val="100000"/>
              </a:lnSpc>
              <a:spcBef>
                <a:spcPts val="0"/>
              </a:spcBef>
              <a:spcAft>
                <a:spcPts val="200"/>
              </a:spcAft>
            </a:pPr>
            <a:r>
              <a:rPr sz="2000" b="1" i="0">
                <a:solidFill>
                  <a:srgbClr val="FFFFFF"/>
                </a:solidFill>
                <a:latin typeface="Adobe Clean ExtraBold"/>
              </a:rPr>
              <a:t>4</a:t>
            </a:r>
          </a:p>
        </p:txBody>
      </p:sp>
      <p:sp>
        <p:nvSpPr>
          <p:cNvPr id="23" name="TextBox 22"/>
          <p:cNvSpPr txBox="1"/>
          <p:nvPr/>
        </p:nvSpPr>
        <p:spPr>
          <a:xfrm>
            <a:off x="1874519" y="5166359"/>
            <a:ext cx="9509760" cy="365760"/>
          </a:xfrm>
          <a:prstGeom prst="rect">
            <a:avLst/>
          </a:prstGeom>
          <a:noFill/>
        </p:spPr>
        <p:txBody>
          <a:bodyPr wrap="square" lIns="0" rIns="0" tIns="0" bIns="0" anchor="t">
            <a:spAutoFit/>
          </a:bodyPr>
          <a:lstStyle/>
          <a:p>
            <a:pPr algn="l">
              <a:lnSpc>
                <a:spcPct val="100000"/>
              </a:lnSpc>
              <a:spcBef>
                <a:spcPts val="0"/>
              </a:spcBef>
              <a:spcAft>
                <a:spcPts val="200"/>
              </a:spcAft>
            </a:pPr>
            <a:r>
              <a:rPr sz="1600" b="1" i="0">
                <a:solidFill>
                  <a:srgbClr val="FFFFFF"/>
                </a:solidFill>
                <a:latin typeface="Adobe Clean ExtraBold"/>
              </a:rPr>
              <a:t>Information completeness &gt; raw reasoning</a:t>
            </a:r>
          </a:p>
        </p:txBody>
      </p:sp>
      <p:sp>
        <p:nvSpPr>
          <p:cNvPr id="24" name="TextBox 23"/>
          <p:cNvSpPr txBox="1"/>
          <p:nvPr/>
        </p:nvSpPr>
        <p:spPr>
          <a:xfrm>
            <a:off x="1874519" y="5568696"/>
            <a:ext cx="9509760" cy="457200"/>
          </a:xfrm>
          <a:prstGeom prst="rect">
            <a:avLst/>
          </a:prstGeom>
          <a:noFill/>
        </p:spPr>
        <p:txBody>
          <a:bodyPr wrap="square" lIns="0" rIns="0" tIns="0" bIns="0" anchor="t">
            <a:spAutoFit/>
          </a:bodyPr>
          <a:lstStyle/>
          <a:p>
            <a:pPr algn="l">
              <a:lnSpc>
                <a:spcPct val="96000"/>
              </a:lnSpc>
              <a:spcBef>
                <a:spcPts val="0"/>
              </a:spcBef>
              <a:spcAft>
                <a:spcPts val="200"/>
              </a:spcAft>
            </a:pPr>
            <a:r>
              <a:rPr sz="1200" b="0" i="0">
                <a:solidFill>
                  <a:srgbClr val="C4CAD4"/>
                </a:solidFill>
                <a:latin typeface="Adobe Clean"/>
              </a:rPr>
              <a:t>A zero-shot reasoner goes 0/6 → 4/6 from one observation field. RL amplifies that competence.</a:t>
            </a:r>
          </a:p>
        </p:txBody>
      </p:sp>
      <p:sp>
        <p:nvSpPr>
          <p:cNvPr id="25" name="TextBox 24"/>
          <p:cNvSpPr txBox="1"/>
          <p:nvPr/>
        </p:nvSpPr>
        <p:spPr>
          <a:xfrm>
            <a:off x="822959" y="6355080"/>
            <a:ext cx="10972800" cy="274320"/>
          </a:xfrm>
          <a:prstGeom prst="rect">
            <a:avLst/>
          </a:prstGeom>
          <a:noFill/>
        </p:spPr>
        <p:txBody>
          <a:bodyPr wrap="square" lIns="0" rIns="0" tIns="0" bIns="0" anchor="t">
            <a:spAutoFit/>
          </a:bodyPr>
          <a:lstStyle/>
          <a:p>
            <a:pPr algn="l">
              <a:lnSpc>
                <a:spcPct val="100000"/>
              </a:lnSpc>
              <a:spcBef>
                <a:spcPts val="0"/>
              </a:spcBef>
              <a:spcAft>
                <a:spcPts val="200"/>
              </a:spcAft>
            </a:pPr>
            <a:r>
              <a:rPr sz="1050" b="0" i="0">
                <a:solidFill>
                  <a:srgbClr val="6E7C97"/>
                </a:solidFill>
                <a:latin typeface="Adobe Clean"/>
              </a:rPr>
              <a:t>Qwen3-14B · DesignBench truss optimization · docs/status_report.md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
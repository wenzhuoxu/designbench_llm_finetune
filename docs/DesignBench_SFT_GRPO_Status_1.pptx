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5.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8.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Feasibility</c:v>
                </c:pt>
              </c:strCache>
            </c:strRef>
          </c:tx>
          <c:spPr>
            <a:solidFill>
              <a:srgbClr val="5A6473"/>
            </a:solidFill>
            <a:effectLst/>
          </c:spPr>
          <c:invertIfNegative val="0"/>
          <c:dLbls>
            <c:numFmt formatCode="0&quot;%&quot;" sourceLinked="0"/>
            <c:txPr>
              <a:bodyPr/>
              <a:lstStyle/>
              <a:p>
                <a:pPr>
                  <a:defRPr b="0" i="0" strike="noStrike" sz="1300" u="none">
                    <a:solidFill>
                      <a:srgbClr val="21304A"/>
                    </a:solidFill>
                    <a:latin typeface="Adobe Clean ExtraBold"/>
                  </a:defRPr>
                </a:pPr>
              </a:p>
            </c:txPr>
            <c:showLegendKey val="0"/>
            <c:showVal val="1"/>
            <c:showCatName val="0"/>
            <c:showSerName val="0"/>
            <c:showPercent val="0"/>
            <c:showBubbleSize val="0"/>
            <c:showLeaderLines val="0"/>
          </c:dLbls>
          <c:dPt>
            <c:idx val="0"/>
            <c:invertIfNegative val="0"/>
            <c:bubble3D val="0"/>
            <c:spPr>
              <a:solidFill>
                <a:srgbClr val="5A6473"/>
              </a:solidFill>
              <a:effectLst/>
            </c:spPr>
          </c:dPt>
          <c:dPt>
            <c:idx val="1"/>
            <c:invertIfNegative val="0"/>
            <c:bubble3D val="0"/>
            <c:spPr>
              <a:solidFill>
                <a:srgbClr val="EB1000"/>
              </a:solidFill>
              <a:effectLst/>
            </c:spPr>
          </c:dPt>
          <c:dPt>
            <c:idx val="2"/>
            <c:invertIfNegative val="0"/>
            <c:bubble3D val="0"/>
            <c:spPr>
              <a:solidFill>
                <a:srgbClr val="5A6473"/>
              </a:solidFill>
              <a:effectLst/>
            </c:spPr>
          </c:dPt>
          <c:cat>
            <c:multiLvlStrRef>
              <c:f>Sheet1!$A$2:$A$4</c:f>
              <c:multiLvlStrCache>
                <c:ptCount val="3"/>
                <c:lvl>
                  <c:pt idx="0">
                    <c:v>α = 2</c:v>
                  </c:pt>
                  <c:pt idx="1">
                    <c:v>α = 5</c:v>
                  </c:pt>
                  <c:pt idx="2">
                    <c:v>α = 10</c:v>
                  </c:pt>
                </c:lvl>
              </c:multiLvlStrCache>
            </c:multiLvlStrRef>
          </c:cat>
          <c:val>
            <c:numRef>
              <c:f>Sheet1!$B$2:$B$4</c:f>
              <c:numCache>
                <c:formatCode>General</c:formatCode>
                <c:ptCount val="3"/>
                <c:pt idx="0">
                  <c:v>8</c:v>
                </c:pt>
                <c:pt idx="1">
                  <c:v>12</c:v>
                </c:pt>
                <c:pt idx="2">
                  <c:v>4</c:v>
                </c:pt>
              </c:numCache>
            </c:numRef>
          </c:val>
        </c:ser>
        <c:dLbls>
          <c:numFmt formatCode="0&quot;%&quot;" sourceLinked="0"/>
          <c:txPr>
            <a:bodyPr/>
            <a:lstStyle/>
            <a:p>
              <a:pPr>
                <a:defRPr b="0" i="0" strike="noStrike" sz="1300" u="none">
                  <a:solidFill>
                    <a:srgbClr val="21304A"/>
                  </a:solidFill>
                  <a:latin typeface="Adobe Clean ExtraBold"/>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473"/>
                </a:solidFill>
                <a:latin typeface="Adobe Clean"/>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EAEDF1"/>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5A6473"/>
                </a:solidFill>
                <a:latin typeface="Adobe Clean"/>
              </a:defRPr>
            </a:pPr>
            <a:endParaRPr lang="en-US"/>
          </a:p>
        </c:txPr>
        <c:crossAx val="2094734554"/>
        <c:crosses val="autoZero"/>
        <c:crossBetween val="between"/>
        <c:majorUnit val="4"/>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FOS_buckling</c:v>
                </c:pt>
              </c:strCache>
            </c:strRef>
          </c:tx>
          <c:spPr>
            <a:solidFill>
              <a:srgbClr val="0E7C7B"/>
            </a:solidFill>
            <a:ln w="38100" cap="flat">
              <a:solidFill>
                <a:srgbClr val="0E7C7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0E7C7B"/>
              </a:solidFill>
              <a:ln w="9525" cap="flat">
                <a:solidFill>
                  <a:srgbClr val="0E7C7B"/>
                </a:solidFill>
                <a:prstDash val="solid"/>
                <a:round/>
              </a:ln>
              <a:effectLst/>
            </c:spPr>
          </c:marker>
          <c:cat>
            <c:multiLvlStrRef>
              <c:f>Sheet1!$A$2:$A$8</c:f>
              <c:multiLvlStrCache>
                <c:ptCount val="7"/>
                <c:lvl>
                  <c:pt idx="0">
                    <c:v>0</c:v>
                  </c:pt>
                  <c:pt idx="1">
                    <c:v>1</c:v>
                  </c:pt>
                  <c:pt idx="2">
                    <c:v>2</c:v>
                  </c:pt>
                  <c:pt idx="3">
                    <c:v>3</c:v>
                  </c:pt>
                  <c:pt idx="4">
                    <c:v>4</c:v>
                  </c:pt>
                  <c:pt idx="5">
                    <c:v>5</c:v>
                  </c:pt>
                  <c:pt idx="6">
                    <c:v>6</c:v>
                  </c:pt>
                </c:lvl>
              </c:multiLvlStrCache>
            </c:multiLvlStrRef>
          </c:cat>
          <c:val>
            <c:numRef>
              <c:f>Sheet1!$B$2:$B$8</c:f>
              <c:numCache>
                <c:formatCode>General</c:formatCode>
                <c:ptCount val="7"/>
                <c:pt idx="0">
                  <c:v>0.44</c:v>
                </c:pt>
                <c:pt idx="1">
                  <c:v>0.48</c:v>
                </c:pt>
                <c:pt idx="2">
                  <c:v>0.51</c:v>
                </c:pt>
                <c:pt idx="3">
                  <c:v>0.78</c:v>
                </c:pt>
                <c:pt idx="4">
                  <c:v>1.05</c:v>
                </c:pt>
                <c:pt idx="5">
                  <c:v>1.34</c:v>
                </c:pt>
                <c:pt idx="6">
                  <c:v>1.69</c:v>
                </c:pt>
              </c:numCache>
            </c:numRef>
          </c:val>
          <c:smooth val="0"/>
        </c:ser>
        <c:ser>
          <c:idx val="1"/>
          <c:order val="1"/>
          <c:tx>
            <c:strRef>
              <c:f>Sheet1!$C$1</c:f>
              <c:strCache>
                <c:ptCount val="1"/>
                <c:pt idx="0">
                  <c:v>required 1.5</c:v>
                </c:pt>
              </c:strCache>
            </c:strRef>
          </c:tx>
          <c:spPr>
            <a:solidFill>
              <a:srgbClr val="EB1000"/>
            </a:solidFill>
            <a:ln w="38100" cap="flat">
              <a:solidFill>
                <a:srgbClr val="EB10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EB1000"/>
              </a:solidFill>
              <a:ln w="9525" cap="flat">
                <a:solidFill>
                  <a:srgbClr val="EB1000"/>
                </a:solidFill>
                <a:prstDash val="solid"/>
                <a:round/>
              </a:ln>
              <a:effectLst/>
            </c:spPr>
          </c:marker>
          <c:cat>
            <c:multiLvlStrRef>
              <c:f>Sheet1!$A$2:$A$8</c:f>
              <c:multiLvlStrCache>
                <c:ptCount val="7"/>
                <c:lvl>
                  <c:pt idx="0">
                    <c:v>0</c:v>
                  </c:pt>
                  <c:pt idx="1">
                    <c:v>1</c:v>
                  </c:pt>
                  <c:pt idx="2">
                    <c:v>2</c:v>
                  </c:pt>
                  <c:pt idx="3">
                    <c:v>3</c:v>
                  </c:pt>
                  <c:pt idx="4">
                    <c:v>4</c:v>
                  </c:pt>
                  <c:pt idx="5">
                    <c:v>5</c:v>
                  </c:pt>
                  <c:pt idx="6">
                    <c:v>6</c:v>
                  </c:pt>
                </c:lvl>
              </c:multiLvlStrCache>
            </c:multiLvlStrRef>
          </c:cat>
          <c:val>
            <c:numRef>
              <c:f>Sheet1!$C$2:$C$8</c:f>
              <c:numCache>
                <c:formatCode>General</c:formatCode>
                <c:ptCount val="7"/>
                <c:pt idx="0">
                  <c:v>1.5</c:v>
                </c:pt>
                <c:pt idx="1">
                  <c:v>1.5</c:v>
                </c:pt>
                <c:pt idx="2">
                  <c:v>1.5</c:v>
                </c:pt>
                <c:pt idx="3">
                  <c:v>1.5</c:v>
                </c:pt>
                <c:pt idx="4">
                  <c:v>1.5</c:v>
                </c:pt>
                <c:pt idx="5">
                  <c:v>1.5</c:v>
                </c:pt>
                <c:pt idx="6">
                  <c:v>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A6473"/>
                    </a:solidFill>
                    <a:latin typeface="Adobe Clean"/>
                  </a:defRPr>
                </a:pPr>
                <a:r>
                  <a:rPr sz="1100" b="0" i="0" u="none" strike="noStrike">
                    <a:solidFill>
                      <a:srgbClr val="5A6473"/>
                    </a:solidFill>
                    <a:latin typeface="Adobe Clean"/>
                  </a:rPr>
                  <a:t>step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473"/>
                </a:solidFill>
                <a:latin typeface="Adobe Clean"/>
              </a:defRPr>
            </a:pPr>
            <a:endParaRPr lang="en-US"/>
          </a:p>
        </c:txPr>
        <c:crossAx val="2094734552"/>
        <c:crosses val="autoZero"/>
        <c:auto val="1"/>
        <c:lblAlgn val="ctr"/>
        <c:noMultiLvlLbl val="1"/>
      </c:catAx>
      <c:valAx>
        <c:axId val="2094734552"/>
        <c:scaling>
          <c:orientation val="minMax"/>
          <c:max val="2"/>
          <c:min val="0"/>
        </c:scaling>
        <c:delete val="0"/>
        <c:axPos val="l"/>
        <c:majorGridlines>
          <c:spPr>
            <a:ln w="9525" cap="flat">
              <a:solidFill>
                <a:srgbClr val="EAEDF1"/>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A6473"/>
                </a:solidFill>
                <a:latin typeface="Adobe Clean"/>
              </a:defRPr>
            </a:pPr>
            <a:endParaRPr lang="en-US"/>
          </a:p>
        </c:txPr>
        <c:crossAx val="2094734554"/>
        <c:crosses val="autoZero"/>
        <c:crossBetween val="between"/>
        <c:majorUnit val="0.5"/>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single-turn</c:v>
                </c:pt>
              </c:strCache>
            </c:strRef>
          </c:tx>
          <c:spPr>
            <a:solidFill>
              <a:srgbClr val="AAB2C0"/>
            </a:solidFill>
            <a:ln w="31750" cap="flat">
              <a:solidFill>
                <a:srgbClr val="AAB2C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AB2C0"/>
              </a:solidFill>
              <a:ln w="9525" cap="flat">
                <a:solidFill>
                  <a:srgbClr val="AAB2C0"/>
                </a:solidFill>
                <a:prstDash val="solid"/>
                <a:round/>
              </a:ln>
              <a:effectLst/>
            </c:spPr>
          </c:marker>
          <c:cat>
            <c:multiLvlStrRef>
              <c:f>Sheet1!$A$2:$A$12</c:f>
              <c:multiLvlStrCache>
                <c:ptCount val="11"/>
                <c:lvl>
                  <c:pt idx="0">
                    <c:v>0</c:v>
                  </c:pt>
                  <c:pt idx="1">
                    <c:v>10</c:v>
                  </c:pt>
                  <c:pt idx="2">
                    <c:v>20</c:v>
                  </c:pt>
                  <c:pt idx="3">
                    <c:v>30</c:v>
                  </c:pt>
                  <c:pt idx="4">
                    <c:v>40</c:v>
                  </c:pt>
                  <c:pt idx="5">
                    <c:v>50</c:v>
                  </c:pt>
                  <c:pt idx="6">
                    <c:v>60</c:v>
                  </c:pt>
                  <c:pt idx="7">
                    <c:v>70</c:v>
                  </c:pt>
                  <c:pt idx="8">
                    <c:v>80</c:v>
                  </c:pt>
                  <c:pt idx="9">
                    <c:v>90</c:v>
                  </c:pt>
                  <c:pt idx="10">
                    <c:v>100</c:v>
                  </c:pt>
                </c:lvl>
              </c:multiLvlStrCache>
            </c:multiLvlStrRef>
          </c:cat>
          <c:val>
            <c:numRef>
              <c:f>Sheet1!$B$2:$B$12</c:f>
              <c:numCache>
                <c:formatCode>General</c:formatCode>
                <c:ptCount val="11"/>
                <c:pt idx="0">
                  <c:v>0.001</c:v>
                </c:pt>
                <c:pt idx="1">
                  <c:v>0.0021</c:v>
                </c:pt>
                <c:pt idx="2">
                  <c:v>0.0029</c:v>
                </c:pt>
                <c:pt idx="3">
                  <c:v>0.0033</c:v>
                </c:pt>
                <c:pt idx="4">
                  <c:v>0.0034</c:v>
                </c:pt>
                <c:pt idx="5">
                  <c:v>0.0035</c:v>
                </c:pt>
                <c:pt idx="6">
                  <c:v>0.0035</c:v>
                </c:pt>
                <c:pt idx="7">
                  <c:v>0.0035</c:v>
                </c:pt>
                <c:pt idx="8">
                  <c:v>0.0036</c:v>
                </c:pt>
                <c:pt idx="9">
                  <c:v>0.0035</c:v>
                </c:pt>
                <c:pt idx="10">
                  <c:v>0.0035</c:v>
                </c:pt>
              </c:numCache>
            </c:numRef>
          </c:val>
          <c:smooth val="0"/>
        </c:ser>
        <c:ser>
          <c:idx val="1"/>
          <c:order val="1"/>
          <c:tx>
            <c:strRef>
              <c:f>Sheet1!$C$1</c:f>
              <c:strCache>
                <c:ptCount val="1"/>
                <c:pt idx="0">
                  <c:v>multi-turn no-fb</c:v>
                </c:pt>
              </c:strCache>
            </c:strRef>
          </c:tx>
          <c:spPr>
            <a:solidFill>
              <a:srgbClr val="0E7C7B"/>
            </a:solidFill>
            <a:ln w="31750" cap="flat">
              <a:solidFill>
                <a:srgbClr val="0E7C7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7B"/>
              </a:solidFill>
              <a:ln w="9525" cap="flat">
                <a:solidFill>
                  <a:srgbClr val="0E7C7B"/>
                </a:solidFill>
                <a:prstDash val="solid"/>
                <a:round/>
              </a:ln>
              <a:effectLst/>
            </c:spPr>
          </c:marker>
          <c:cat>
            <c:multiLvlStrRef>
              <c:f>Sheet1!$A$2:$A$12</c:f>
              <c:multiLvlStrCache>
                <c:ptCount val="11"/>
                <c:lvl>
                  <c:pt idx="0">
                    <c:v>0</c:v>
                  </c:pt>
                  <c:pt idx="1">
                    <c:v>10</c:v>
                  </c:pt>
                  <c:pt idx="2">
                    <c:v>20</c:v>
                  </c:pt>
                  <c:pt idx="3">
                    <c:v>30</c:v>
                  </c:pt>
                  <c:pt idx="4">
                    <c:v>40</c:v>
                  </c:pt>
                  <c:pt idx="5">
                    <c:v>50</c:v>
                  </c:pt>
                  <c:pt idx="6">
                    <c:v>60</c:v>
                  </c:pt>
                  <c:pt idx="7">
                    <c:v>70</c:v>
                  </c:pt>
                  <c:pt idx="8">
                    <c:v>80</c:v>
                  </c:pt>
                  <c:pt idx="9">
                    <c:v>90</c:v>
                  </c:pt>
                  <c:pt idx="10">
                    <c:v>100</c:v>
                  </c:pt>
                </c:lvl>
              </c:multiLvlStrCache>
            </c:multiLvlStrRef>
          </c:cat>
          <c:val>
            <c:numRef>
              <c:f>Sheet1!$C$2:$C$12</c:f>
              <c:numCache>
                <c:formatCode>General</c:formatCode>
                <c:ptCount val="11"/>
                <c:pt idx="0">
                  <c:v>0.0008</c:v>
                </c:pt>
                <c:pt idx="1">
                  <c:v>0.0016</c:v>
                </c:pt>
                <c:pt idx="2">
                  <c:v>0.0023</c:v>
                </c:pt>
                <c:pt idx="3">
                  <c:v>0.0029</c:v>
                </c:pt>
                <c:pt idx="4">
                  <c:v>0.0034</c:v>
                </c:pt>
                <c:pt idx="5">
                  <c:v>0.0038</c:v>
                </c:pt>
                <c:pt idx="6">
                  <c:v>0.0041</c:v>
                </c:pt>
                <c:pt idx="7">
                  <c:v>0.0044</c:v>
                </c:pt>
                <c:pt idx="8">
                  <c:v>0.0046</c:v>
                </c:pt>
                <c:pt idx="9">
                  <c:v>0.0048</c:v>
                </c:pt>
                <c:pt idx="10">
                  <c:v>0.0049</c:v>
                </c:pt>
              </c:numCache>
            </c:numRef>
          </c:val>
          <c:smooth val="0"/>
        </c:ser>
        <c:ser>
          <c:idx val="2"/>
          <c:order val="2"/>
          <c:tx>
            <c:strRef>
              <c:f>Sheet1!$D$1</c:f>
              <c:strCache>
                <c:ptCount val="1"/>
                <c:pt idx="0">
                  <c:v>+grammar</c:v>
                </c:pt>
              </c:strCache>
            </c:strRef>
          </c:tx>
          <c:spPr>
            <a:solidFill>
              <a:srgbClr val="B26B00"/>
            </a:solidFill>
            <a:ln w="31750" cap="flat">
              <a:solidFill>
                <a:srgbClr val="B26B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26B00"/>
              </a:solidFill>
              <a:ln w="9525" cap="flat">
                <a:solidFill>
                  <a:srgbClr val="B26B00"/>
                </a:solidFill>
                <a:prstDash val="solid"/>
                <a:round/>
              </a:ln>
              <a:effectLst/>
            </c:spPr>
          </c:marker>
          <c:cat>
            <c:multiLvlStrRef>
              <c:f>Sheet1!$A$2:$A$12</c:f>
              <c:multiLvlStrCache>
                <c:ptCount val="11"/>
                <c:lvl>
                  <c:pt idx="0">
                    <c:v>0</c:v>
                  </c:pt>
                  <c:pt idx="1">
                    <c:v>10</c:v>
                  </c:pt>
                  <c:pt idx="2">
                    <c:v>20</c:v>
                  </c:pt>
                  <c:pt idx="3">
                    <c:v>30</c:v>
                  </c:pt>
                  <c:pt idx="4">
                    <c:v>40</c:v>
                  </c:pt>
                  <c:pt idx="5">
                    <c:v>50</c:v>
                  </c:pt>
                  <c:pt idx="6">
                    <c:v>60</c:v>
                  </c:pt>
                  <c:pt idx="7">
                    <c:v>70</c:v>
                  </c:pt>
                  <c:pt idx="8">
                    <c:v>80</c:v>
                  </c:pt>
                  <c:pt idx="9">
                    <c:v>90</c:v>
                  </c:pt>
                  <c:pt idx="10">
                    <c:v>100</c:v>
                  </c:pt>
                </c:lvl>
              </c:multiLvlStrCache>
            </c:multiLvlStrRef>
          </c:cat>
          <c:val>
            <c:numRef>
              <c:f>Sheet1!$D$2:$D$12</c:f>
              <c:numCache>
                <c:formatCode>General</c:formatCode>
                <c:ptCount val="11"/>
                <c:pt idx="0">
                  <c:v>0.001</c:v>
                </c:pt>
                <c:pt idx="1">
                  <c:v>0.003</c:v>
                </c:pt>
                <c:pt idx="2">
                  <c:v>0.0058</c:v>
                </c:pt>
                <c:pt idx="3">
                  <c:v>0.009</c:v>
                </c:pt>
                <c:pt idx="4">
                  <c:v>0.0118</c:v>
                </c:pt>
                <c:pt idx="5">
                  <c:v>0.0142</c:v>
                </c:pt>
                <c:pt idx="6">
                  <c:v>0.0102</c:v>
                </c:pt>
                <c:pt idx="7">
                  <c:v>0.0125</c:v>
                </c:pt>
                <c:pt idx="8">
                  <c:v>0.0118</c:v>
                </c:pt>
                <c:pt idx="9">
                  <c:v>0.0114</c:v>
                </c:pt>
                <c:pt idx="10">
                  <c:v>0.0114</c:v>
                </c:pt>
              </c:numCache>
            </c:numRef>
          </c:val>
          <c:smooth val="0"/>
        </c:ser>
        <c:ser>
          <c:idx val="3"/>
          <c:order val="3"/>
          <c:tx>
            <c:strRef>
              <c:f>Sheet1!$E$1</c:f>
              <c:strCache>
                <c:ptCount val="1"/>
                <c:pt idx="0">
                  <c:v>+critical-member</c:v>
                </c:pt>
              </c:strCache>
            </c:strRef>
          </c:tx>
          <c:spPr>
            <a:solidFill>
              <a:srgbClr val="EB1000"/>
            </a:solidFill>
            <a:ln w="31750" cap="flat">
              <a:solidFill>
                <a:srgbClr val="EB10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B1000"/>
              </a:solidFill>
              <a:ln w="9525" cap="flat">
                <a:solidFill>
                  <a:srgbClr val="EB1000"/>
                </a:solidFill>
                <a:prstDash val="solid"/>
                <a:round/>
              </a:ln>
              <a:effectLst/>
            </c:spPr>
          </c:marker>
          <c:cat>
            <c:multiLvlStrRef>
              <c:f>Sheet1!$A$2:$A$12</c:f>
              <c:multiLvlStrCache>
                <c:ptCount val="11"/>
                <c:lvl>
                  <c:pt idx="0">
                    <c:v>0</c:v>
                  </c:pt>
                  <c:pt idx="1">
                    <c:v>10</c:v>
                  </c:pt>
                  <c:pt idx="2">
                    <c:v>20</c:v>
                  </c:pt>
                  <c:pt idx="3">
                    <c:v>30</c:v>
                  </c:pt>
                  <c:pt idx="4">
                    <c:v>40</c:v>
                  </c:pt>
                  <c:pt idx="5">
                    <c:v>50</c:v>
                  </c:pt>
                  <c:pt idx="6">
                    <c:v>60</c:v>
                  </c:pt>
                  <c:pt idx="7">
                    <c:v>70</c:v>
                  </c:pt>
                  <c:pt idx="8">
                    <c:v>80</c:v>
                  </c:pt>
                  <c:pt idx="9">
                    <c:v>90</c:v>
                  </c:pt>
                  <c:pt idx="10">
                    <c:v>100</c:v>
                  </c:pt>
                </c:lvl>
              </c:multiLvlStrCache>
            </c:multiLvlStrRef>
          </c:cat>
          <c:val>
            <c:numRef>
              <c:f>Sheet1!$E$2:$E$12</c:f>
              <c:numCache>
                <c:formatCode>General</c:formatCode>
                <c:ptCount val="11"/>
                <c:pt idx="0">
                  <c:v>0.001</c:v>
                </c:pt>
                <c:pt idx="1">
                  <c:v>0.004</c:v>
                </c:pt>
                <c:pt idx="2">
                  <c:v>0.0079</c:v>
                </c:pt>
                <c:pt idx="3">
                  <c:v>0.011</c:v>
                </c:pt>
                <c:pt idx="4">
                  <c:v>0.0162</c:v>
                </c:pt>
                <c:pt idx="5">
                  <c:v>0.021</c:v>
                </c:pt>
                <c:pt idx="6">
                  <c:v>0.026</c:v>
                </c:pt>
                <c:pt idx="7">
                  <c:v>0.03</c:v>
                </c:pt>
                <c:pt idx="8">
                  <c:v>0.0331</c:v>
                </c:pt>
                <c:pt idx="9">
                  <c:v>0.0349</c:v>
                </c:pt>
                <c:pt idx="10">
                  <c:v>0.0346</c:v>
                </c:pt>
              </c:numCache>
            </c:numRef>
          </c:val>
          <c:smooth val="0"/>
        </c:ser>
        <c:ser>
          <c:idx val="4"/>
          <c:order val="4"/>
          <c:tx>
            <c:strRef>
              <c:f>Sheet1!$F$1</c:f>
              <c:strCache>
                <c:ptCount val="1"/>
                <c:pt idx="0">
                  <c:v>+mass</c:v>
                </c:pt>
              </c:strCache>
            </c:strRef>
          </c:tx>
          <c:spPr>
            <a:solidFill>
              <a:srgbClr val="7030A0"/>
            </a:solidFill>
            <a:ln w="31750" cap="flat">
              <a:solidFill>
                <a:srgbClr val="7030A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030A0"/>
              </a:solidFill>
              <a:ln w="9525" cap="flat">
                <a:solidFill>
                  <a:srgbClr val="7030A0"/>
                </a:solidFill>
                <a:prstDash val="solid"/>
                <a:round/>
              </a:ln>
              <a:effectLst/>
            </c:spPr>
          </c:marker>
          <c:cat>
            <c:multiLvlStrRef>
              <c:f>Sheet1!$A$2:$A$12</c:f>
              <c:multiLvlStrCache>
                <c:ptCount val="11"/>
                <c:lvl>
                  <c:pt idx="0">
                    <c:v>0</c:v>
                  </c:pt>
                  <c:pt idx="1">
                    <c:v>10</c:v>
                  </c:pt>
                  <c:pt idx="2">
                    <c:v>20</c:v>
                  </c:pt>
                  <c:pt idx="3">
                    <c:v>30</c:v>
                  </c:pt>
                  <c:pt idx="4">
                    <c:v>40</c:v>
                  </c:pt>
                  <c:pt idx="5">
                    <c:v>50</c:v>
                  </c:pt>
                  <c:pt idx="6">
                    <c:v>60</c:v>
                  </c:pt>
                  <c:pt idx="7">
                    <c:v>70</c:v>
                  </c:pt>
                  <c:pt idx="8">
                    <c:v>80</c:v>
                  </c:pt>
                  <c:pt idx="9">
                    <c:v>90</c:v>
                  </c:pt>
                  <c:pt idx="10">
                    <c:v>100</c:v>
                  </c:pt>
                </c:lvl>
              </c:multiLvlStrCache>
            </c:multiLvlStrRef>
          </c:cat>
          <c:val>
            <c:numRef>
              <c:f>Sheet1!$F$2:$F$12</c:f>
              <c:numCache>
                <c:formatCode>General</c:formatCode>
                <c:ptCount val="11"/>
                <c:pt idx="0">
                  <c:v>0.001</c:v>
                </c:pt>
                <c:pt idx="1">
                  <c:v>0.005</c:v>
                </c:pt>
                <c:pt idx="2">
                  <c:v>0.0103</c:v>
                </c:pt>
                <c:pt idx="3">
                  <c:v>0.0163</c:v>
                </c:pt>
                <c:pt idx="4">
                  <c:v>0.0223</c:v>
                </c:pt>
                <c:pt idx="5">
                  <c:v>0.0282</c:v>
                </c:pt>
                <c:pt idx="6">
                  <c:v>0.0338</c:v>
                </c:pt>
                <c:pt idx="7">
                  <c:v>0.039</c:v>
                </c:pt>
                <c:pt idx="8">
                  <c:v>0.042</c:v>
                </c:pt>
                <c:pt idx="9">
                  <c:v>0.0432</c:v>
                </c:pt>
                <c:pt idx="10">
                  <c:v>0.0431</c:v>
                </c:pt>
              </c:numCache>
            </c:numRef>
          </c:val>
          <c:smooth val="0"/>
        </c:ser>
        <c:ser>
          <c:idx val="5"/>
          <c:order val="5"/>
          <c:tx>
            <c:strRef>
              <c:f>Sheet1!$G$1</c:f>
              <c:strCache>
                <c:ptCount val="1"/>
                <c:pt idx="0">
                  <c:v>0.01 bar</c:v>
                </c:pt>
              </c:strCache>
            </c:strRef>
          </c:tx>
          <c:spPr>
            <a:solidFill>
              <a:srgbClr val="21304A"/>
            </a:solidFill>
            <a:ln w="31750" cap="flat">
              <a:solidFill>
                <a:srgbClr val="2130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1304A"/>
              </a:solidFill>
              <a:ln w="9525" cap="flat">
                <a:solidFill>
                  <a:srgbClr val="21304A"/>
                </a:solidFill>
                <a:prstDash val="solid"/>
                <a:round/>
              </a:ln>
              <a:effectLst/>
            </c:spPr>
          </c:marker>
          <c:cat>
            <c:multiLvlStrRef>
              <c:f>Sheet1!$A$2:$A$12</c:f>
              <c:multiLvlStrCache>
                <c:ptCount val="11"/>
                <c:lvl>
                  <c:pt idx="0">
                    <c:v>0</c:v>
                  </c:pt>
                  <c:pt idx="1">
                    <c:v>10</c:v>
                  </c:pt>
                  <c:pt idx="2">
                    <c:v>20</c:v>
                  </c:pt>
                  <c:pt idx="3">
                    <c:v>30</c:v>
                  </c:pt>
                  <c:pt idx="4">
                    <c:v>40</c:v>
                  </c:pt>
                  <c:pt idx="5">
                    <c:v>50</c:v>
                  </c:pt>
                  <c:pt idx="6">
                    <c:v>60</c:v>
                  </c:pt>
                  <c:pt idx="7">
                    <c:v>70</c:v>
                  </c:pt>
                  <c:pt idx="8">
                    <c:v>80</c:v>
                  </c:pt>
                  <c:pt idx="9">
                    <c:v>90</c:v>
                  </c:pt>
                  <c:pt idx="10">
                    <c:v>100</c:v>
                  </c:pt>
                </c:lvl>
              </c:multiLvlStrCache>
            </c:multiLvlStrRef>
          </c:cat>
          <c:val>
            <c:numRef>
              <c:f>Sheet1!$G$2:$G$12</c:f>
              <c:numCache>
                <c:formatCode>General</c:formatCode>
                <c:ptCount val="11"/>
                <c:pt idx="0">
                  <c:v>0.01</c:v>
                </c:pt>
                <c:pt idx="1">
                  <c:v>0.01</c:v>
                </c:pt>
                <c:pt idx="2">
                  <c:v>0.01</c:v>
                </c:pt>
                <c:pt idx="3">
                  <c:v>0.01</c:v>
                </c:pt>
                <c:pt idx="4">
                  <c:v>0.01</c:v>
                </c:pt>
                <c:pt idx="5">
                  <c:v>0.01</c:v>
                </c:pt>
                <c:pt idx="6">
                  <c:v>0.01</c:v>
                </c:pt>
                <c:pt idx="7">
                  <c:v>0.01</c:v>
                </c:pt>
                <c:pt idx="8">
                  <c:v>0.01</c:v>
                </c:pt>
                <c:pt idx="9">
                  <c:v>0.01</c:v>
                </c:pt>
                <c:pt idx="10">
                  <c:v>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A6473"/>
                    </a:solidFill>
                    <a:latin typeface="Adobe Clean"/>
                  </a:defRPr>
                </a:pPr>
                <a:r>
                  <a:rPr sz="1100" b="0" i="0" u="none" strike="noStrike">
                    <a:solidFill>
                      <a:srgbClr val="5A6473"/>
                    </a:solidFill>
                    <a:latin typeface="Adobe Clean"/>
                  </a:rPr>
                  <a:t>GRPO step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473"/>
                </a:solidFill>
                <a:latin typeface="Adobe Clean"/>
              </a:defRPr>
            </a:pPr>
            <a:endParaRPr lang="en-US"/>
          </a:p>
        </c:txPr>
        <c:crossAx val="2094734552"/>
        <c:crosses val="autoZero"/>
        <c:auto val="1"/>
        <c:lblAlgn val="ctr"/>
        <c:noMultiLvlLbl val="1"/>
      </c:catAx>
      <c:valAx>
        <c:axId val="2094734552"/>
        <c:scaling>
          <c:orientation val="minMax"/>
          <c:max val="0.05"/>
          <c:min val="0"/>
        </c:scaling>
        <c:delete val="0"/>
        <c:axPos val="l"/>
        <c:majorGridlines>
          <c:spPr>
            <a:ln w="9525" cap="flat">
              <a:solidFill>
                <a:srgbClr val="EAEDF1"/>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A6473"/>
                </a:solidFill>
                <a:latin typeface="Adobe Clean"/>
              </a:defRPr>
            </a:pPr>
            <a:endParaRPr lang="en-US"/>
          </a:p>
        </c:txPr>
        <c:crossAx val="2094734554"/>
        <c:crosses val="autoZero"/>
        <c:crossBetween val="between"/>
        <c:majorUnit val="0.01"/>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k tokens</c:v>
                </c:pt>
              </c:strCache>
            </c:strRef>
          </c:tx>
          <c:spPr>
            <a:solidFill>
              <a:srgbClr val="AAB2C0"/>
            </a:solidFill>
            <a:effectLst/>
          </c:spPr>
          <c:invertIfNegative val="0"/>
          <c:dLbls>
            <c:numFmt formatCode="0.0&quot;k&quot;" sourceLinked="0"/>
            <c:txPr>
              <a:bodyPr/>
              <a:lstStyle/>
              <a:p>
                <a:pPr>
                  <a:defRPr b="0" i="0" strike="noStrike" sz="1150" u="none">
                    <a:solidFill>
                      <a:srgbClr val="21304A"/>
                    </a:solidFill>
                    <a:latin typeface="Adobe Clean ExtraBold"/>
                  </a:defRPr>
                </a:pPr>
              </a:p>
            </c:txPr>
            <c:showLegendKey val="0"/>
            <c:showVal val="1"/>
            <c:showCatName val="0"/>
            <c:showSerName val="0"/>
            <c:showPercent val="0"/>
            <c:showBubbleSize val="0"/>
            <c:showLeaderLines val="0"/>
          </c:dLbls>
          <c:dPt>
            <c:idx val="0"/>
            <c:invertIfNegative val="0"/>
            <c:bubble3D val="0"/>
            <c:spPr>
              <a:solidFill>
                <a:srgbClr val="AAB2C0"/>
              </a:solidFill>
              <a:effectLst/>
            </c:spPr>
          </c:dPt>
          <c:dPt>
            <c:idx val="1"/>
            <c:invertIfNegative val="0"/>
            <c:bubble3D val="0"/>
            <c:spPr>
              <a:solidFill>
                <a:srgbClr val="0E7C7B"/>
              </a:solidFill>
              <a:effectLst/>
            </c:spPr>
          </c:dPt>
          <c:dPt>
            <c:idx val="2"/>
            <c:invertIfNegative val="0"/>
            <c:bubble3D val="0"/>
            <c:spPr>
              <a:solidFill>
                <a:srgbClr val="B26B00"/>
              </a:solidFill>
              <a:effectLst/>
            </c:spPr>
          </c:dPt>
          <c:dPt>
            <c:idx val="3"/>
            <c:invertIfNegative val="0"/>
            <c:bubble3D val="0"/>
            <c:spPr>
              <a:solidFill>
                <a:srgbClr val="EB1000"/>
              </a:solidFill>
              <a:effectLst/>
            </c:spPr>
          </c:dPt>
          <c:dPt>
            <c:idx val="4"/>
            <c:invertIfNegative val="0"/>
            <c:bubble3D val="0"/>
            <c:spPr>
              <a:solidFill>
                <a:srgbClr val="7030A0"/>
              </a:solidFill>
              <a:effectLst/>
            </c:spPr>
          </c:dPt>
          <c:cat>
            <c:multiLvlStrRef>
              <c:f>Sheet1!$A$2:$A$6</c:f>
              <c:multiLvlStrCache>
                <c:ptCount val="5"/>
                <c:lvl>
                  <c:pt idx="0">
                    <c:v>single-turn</c:v>
                  </c:pt>
                  <c:pt idx="1">
                    <c:v>no-fb</c:v>
                  </c:pt>
                  <c:pt idx="2">
                    <c:v>+grammar</c:v>
                  </c:pt>
                  <c:pt idx="3">
                    <c:v>+crit (champ)</c:v>
                  </c:pt>
                  <c:pt idx="4">
                    <c:v>+mass</c:v>
                  </c:pt>
                </c:lvl>
              </c:multiLvlStrCache>
            </c:multiLvlStrRef>
          </c:cat>
          <c:val>
            <c:numRef>
              <c:f>Sheet1!$B$2:$B$6</c:f>
              <c:numCache>
                <c:formatCode>General</c:formatCode>
                <c:ptCount val="5"/>
                <c:pt idx="0">
                  <c:v>1</c:v>
                </c:pt>
                <c:pt idx="1">
                  <c:v>5.7</c:v>
                </c:pt>
                <c:pt idx="2">
                  <c:v>5.7</c:v>
                </c:pt>
                <c:pt idx="3">
                  <c:v>4.2</c:v>
                </c:pt>
                <c:pt idx="4">
                  <c:v>3.7</c:v>
                </c:pt>
              </c:numCache>
            </c:numRef>
          </c:val>
        </c:ser>
        <c:dLbls>
          <c:numFmt formatCode="0.0&quot;k&quot;" sourceLinked="0"/>
          <c:txPr>
            <a:bodyPr/>
            <a:lstStyle/>
            <a:p>
              <a:pPr>
                <a:defRPr b="0" i="0" strike="noStrike" sz="1150" u="none">
                  <a:solidFill>
                    <a:srgbClr val="21304A"/>
                  </a:solidFill>
                  <a:latin typeface="Adobe Clean ExtraBold"/>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473"/>
                </a:solidFill>
                <a:latin typeface="Adobe Clean"/>
              </a:defRPr>
            </a:pPr>
            <a:endParaRPr lang="en-US"/>
          </a:p>
        </c:txPr>
        <c:crossAx val="2094734552"/>
        <c:crosses val="autoZero"/>
        <c:auto val="1"/>
        <c:lblAlgn val="ctr"/>
        <c:noMultiLvlLbl val="1"/>
      </c:catAx>
      <c:valAx>
        <c:axId val="2094734552"/>
        <c:scaling>
          <c:orientation val="minMax"/>
          <c:max val="7"/>
          <c:min val="0"/>
        </c:scaling>
        <c:delete val="0"/>
        <c:axPos val="l"/>
        <c:majorGridlines>
          <c:spPr>
            <a:ln w="9525" cap="flat">
              <a:solidFill>
                <a:srgbClr val="EAEDF1"/>
              </a:solidFill>
              <a:prstDash val="solid"/>
              <a:round/>
            </a:ln>
          </c:spPr>
        </c:majorGridlines>
        <c:numFmt formatCode="0&quot;k&quot;" sourceLinked="0"/>
        <c:majorTickMark val="out"/>
        <c:minorTickMark val="none"/>
        <c:tickLblPos val="nextTo"/>
        <c:spPr>
          <a:ln w="12700" cap="flat">
            <a:noFill/>
            <a:prstDash val="solid"/>
            <a:round/>
          </a:ln>
        </c:spPr>
        <c:txPr>
          <a:bodyPr/>
          <a:lstStyle/>
          <a:p>
            <a:pPr>
              <a:defRPr sz="1000" b="0" i="0" u="none" strike="noStrike">
                <a:solidFill>
                  <a:srgbClr val="5A6473"/>
                </a:solidFill>
                <a:latin typeface="Adobe Clean"/>
              </a:defRPr>
            </a:pPr>
            <a:endParaRPr lang="en-US"/>
          </a:p>
        </c:txPr>
        <c:crossAx val="2094734554"/>
        <c:crosses val="autoZero"/>
        <c:crossBetween val="between"/>
        <c:majorUnit val="1"/>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feasibility</c:v>
                </c:pt>
              </c:strCache>
            </c:strRef>
          </c:tx>
          <c:spPr>
            <a:solidFill>
              <a:srgbClr val="AAB2C0"/>
            </a:solidFill>
            <a:effectLst/>
          </c:spPr>
          <c:invertIfNegative val="0"/>
          <c:dLbls>
            <c:numFmt formatCode="0&quot;%&quot;" sourceLinked="0"/>
            <c:txPr>
              <a:bodyPr/>
              <a:lstStyle/>
              <a:p>
                <a:pPr>
                  <a:defRPr b="0" i="0" strike="noStrike" sz="1200" u="none">
                    <a:solidFill>
                      <a:srgbClr val="21304A"/>
                    </a:solidFill>
                    <a:latin typeface="Adobe Clean ExtraBold"/>
                  </a:defRPr>
                </a:pPr>
              </a:p>
            </c:txPr>
            <c:showLegendKey val="0"/>
            <c:showVal val="1"/>
            <c:showCatName val="0"/>
            <c:showSerName val="0"/>
            <c:showPercent val="0"/>
            <c:showBubbleSize val="0"/>
            <c:showLeaderLines val="0"/>
          </c:dLbls>
          <c:dPt>
            <c:idx val="0"/>
            <c:invertIfNegative val="0"/>
            <c:bubble3D val="0"/>
            <c:spPr>
              <a:solidFill>
                <a:srgbClr val="AAB2C0"/>
              </a:solidFill>
              <a:effectLst/>
            </c:spPr>
          </c:dPt>
          <c:dPt>
            <c:idx val="1"/>
            <c:invertIfNegative val="0"/>
            <c:bubble3D val="0"/>
            <c:spPr>
              <a:solidFill>
                <a:srgbClr val="0E7C7B"/>
              </a:solidFill>
              <a:effectLst/>
            </c:spPr>
          </c:dPt>
          <c:dPt>
            <c:idx val="2"/>
            <c:invertIfNegative val="0"/>
            <c:bubble3D val="0"/>
            <c:spPr>
              <a:solidFill>
                <a:srgbClr val="B26B00"/>
              </a:solidFill>
              <a:effectLst/>
            </c:spPr>
          </c:dPt>
          <c:dPt>
            <c:idx val="3"/>
            <c:invertIfNegative val="0"/>
            <c:bubble3D val="0"/>
            <c:spPr>
              <a:solidFill>
                <a:srgbClr val="EB1000"/>
              </a:solidFill>
              <a:effectLst/>
            </c:spPr>
          </c:dPt>
          <c:dPt>
            <c:idx val="4"/>
            <c:invertIfNegative val="0"/>
            <c:bubble3D val="0"/>
            <c:spPr>
              <a:solidFill>
                <a:srgbClr val="7030A0"/>
              </a:solidFill>
              <a:effectLst/>
            </c:spPr>
          </c:dPt>
          <c:cat>
            <c:multiLvlStrRef>
              <c:f>Sheet1!$A$2:$A$6</c:f>
              <c:multiLvlStrCache>
                <c:ptCount val="5"/>
                <c:lvl>
                  <c:pt idx="0">
                    <c:v>warmstart</c:v>
                  </c:pt>
                  <c:pt idx="1">
                    <c:v>no-fb</c:v>
                  </c:pt>
                  <c:pt idx="2">
                    <c:v>+grammar</c:v>
                  </c:pt>
                  <c:pt idx="3">
                    <c:v>+crit</c:v>
                  </c:pt>
                  <c:pt idx="4">
                    <c:v>+crit+mass</c:v>
                  </c:pt>
                </c:lvl>
              </c:multiLvlStrCache>
            </c:multiLvlStrRef>
          </c:cat>
          <c:val>
            <c:numRef>
              <c:f>Sheet1!$B$2:$B$6</c:f>
              <c:numCache>
                <c:formatCode>General</c:formatCode>
                <c:ptCount val="5"/>
                <c:pt idx="0">
                  <c:v>0</c:v>
                </c:pt>
                <c:pt idx="1">
                  <c:v>12</c:v>
                </c:pt>
                <c:pt idx="2">
                  <c:v>4</c:v>
                </c:pt>
                <c:pt idx="3">
                  <c:v>68</c:v>
                </c:pt>
                <c:pt idx="4">
                  <c:v>52</c:v>
                </c:pt>
              </c:numCache>
            </c:numRef>
          </c:val>
        </c:ser>
        <c:dLbls>
          <c:numFmt formatCode="0&quot;%&quot;" sourceLinked="0"/>
          <c:txPr>
            <a:bodyPr/>
            <a:lstStyle/>
            <a:p>
              <a:pPr>
                <a:defRPr b="0" i="0" strike="noStrike" sz="1200" u="none">
                  <a:solidFill>
                    <a:srgbClr val="21304A"/>
                  </a:solidFill>
                  <a:latin typeface="Adobe Clean ExtraBold"/>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473"/>
                </a:solidFill>
                <a:latin typeface="Adobe Clean"/>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9525" cap="flat">
              <a:solidFill>
                <a:srgbClr val="EAEDF1"/>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5A6473"/>
                </a:solidFill>
                <a:latin typeface="Adobe Clean"/>
              </a:defRPr>
            </a:pPr>
            <a:endParaRPr lang="en-US"/>
          </a:p>
        </c:txPr>
        <c:crossAx val="2094734554"/>
        <c:crosses val="autoZero"/>
        <c:crossBetween val="between"/>
        <c:majorUnit val="20"/>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grammar</c:v>
                </c:pt>
              </c:strCache>
            </c:strRef>
          </c:tx>
          <c:spPr>
            <a:solidFill>
              <a:srgbClr val="1E8449"/>
            </a:solidFill>
            <a:effectLst/>
          </c:spPr>
          <c:invertIfNegative val="0"/>
          <c:dLbls>
            <c:numFmt formatCode="0.00" sourceLinked="0"/>
            <c:txPr>
              <a:bodyPr/>
              <a:lstStyle/>
              <a:p>
                <a:pPr>
                  <a:defRPr b="0" i="0" strike="noStrike" sz="1100" u="none">
                    <a:solidFill>
                      <a:srgbClr val="21304A"/>
                    </a:solidFill>
                    <a:latin typeface="Adobe Clean ExtraBold"/>
                  </a:defRPr>
                </a:pPr>
              </a:p>
            </c:txPr>
            <c:showLegendKey val="0"/>
            <c:showVal val="1"/>
            <c:showCatName val="0"/>
            <c:showSerName val="0"/>
            <c:showPercent val="0"/>
            <c:showBubbleSize val="0"/>
            <c:showLeaderLines val="0"/>
          </c:dLbls>
          <c:dPt>
            <c:idx val="0"/>
            <c:invertIfNegative val="0"/>
            <c:bubble3D val="0"/>
            <c:spPr>
              <a:solidFill>
                <a:srgbClr val="1E8449"/>
              </a:solidFill>
              <a:effectLst/>
            </c:spPr>
          </c:dPt>
          <c:dPt>
            <c:idx val="1"/>
            <c:invertIfNegative val="0"/>
            <c:bubble3D val="0"/>
            <c:spPr>
              <a:solidFill>
                <a:srgbClr val="0E7C7B"/>
              </a:solidFill>
              <a:effectLst/>
            </c:spPr>
          </c:dPt>
          <c:dPt>
            <c:idx val="2"/>
            <c:invertIfNegative val="0"/>
            <c:bubble3D val="0"/>
            <c:spPr>
              <a:solidFill>
                <a:srgbClr val="B26B00"/>
              </a:solidFill>
              <a:effectLst/>
            </c:spPr>
          </c:dPt>
          <c:dPt>
            <c:idx val="3"/>
            <c:invertIfNegative val="0"/>
            <c:bubble3D val="0"/>
            <c:spPr>
              <a:solidFill>
                <a:srgbClr val="EB1000"/>
              </a:solidFill>
              <a:effectLst/>
            </c:spPr>
          </c:dPt>
          <c:dPt>
            <c:idx val="4"/>
            <c:invertIfNegative val="0"/>
            <c:bubble3D val="0"/>
            <c:spPr>
              <a:solidFill>
                <a:srgbClr val="7030A0"/>
              </a:solidFill>
              <a:effectLst/>
            </c:spPr>
          </c:dPt>
          <c:cat>
            <c:multiLvlStrRef>
              <c:f>Sheet1!$A$2:$A$6</c:f>
              <c:multiLvlStrCache>
                <c:ptCount val="5"/>
                <c:lvl>
                  <c:pt idx="0">
                    <c:v>warm</c:v>
                  </c:pt>
                  <c:pt idx="1">
                    <c:v>no-fb</c:v>
                  </c:pt>
                  <c:pt idx="2">
                    <c:v>+gram</c:v>
                  </c:pt>
                  <c:pt idx="3">
                    <c:v>+crit</c:v>
                  </c:pt>
                  <c:pt idx="4">
                    <c:v>+mass</c:v>
                  </c:pt>
                </c:lvl>
              </c:multiLvlStrCache>
            </c:multiLvlStrRef>
          </c:cat>
          <c:val>
            <c:numRef>
              <c:f>Sheet1!$B$2:$B$6</c:f>
              <c:numCache>
                <c:formatCode>General</c:formatCode>
                <c:ptCount val="5"/>
                <c:pt idx="0">
                  <c:v>1</c:v>
                </c:pt>
                <c:pt idx="1">
                  <c:v>0.44</c:v>
                </c:pt>
                <c:pt idx="2">
                  <c:v>0.42</c:v>
                </c:pt>
                <c:pt idx="3">
                  <c:v>0.67</c:v>
                </c:pt>
                <c:pt idx="4">
                  <c:v>0.67</c:v>
                </c:pt>
              </c:numCache>
            </c:numRef>
          </c:val>
        </c:ser>
        <c:dLbls>
          <c:numFmt formatCode="0.00" sourceLinked="0"/>
          <c:txPr>
            <a:bodyPr/>
            <a:lstStyle/>
            <a:p>
              <a:pPr>
                <a:defRPr b="0" i="0" strike="noStrike" sz="1100" u="none">
                  <a:solidFill>
                    <a:srgbClr val="21304A"/>
                  </a:solidFill>
                  <a:latin typeface="Adobe Clean ExtraBold"/>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473"/>
                </a:solidFill>
                <a:latin typeface="Adobe Clean"/>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AEDF1"/>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A6473"/>
                </a:solidFill>
                <a:latin typeface="Adobe Clean"/>
              </a:defRPr>
            </a:pPr>
            <a:endParaRPr lang="en-US"/>
          </a:p>
        </c:txPr>
        <c:crossAx val="2094734554"/>
        <c:crosses val="autoZero"/>
        <c:crossBetween val="between"/>
        <c:majorUnit val="0.25"/>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FOS_b</c:v>
                </c:pt>
              </c:strCache>
            </c:strRef>
          </c:tx>
          <c:spPr>
            <a:solidFill>
              <a:srgbClr val="1E8449"/>
            </a:solidFill>
            <a:effectLst/>
          </c:spPr>
          <c:invertIfNegative val="0"/>
          <c:dLbls>
            <c:numFmt formatCode="0.00" sourceLinked="0"/>
            <c:txPr>
              <a:bodyPr/>
              <a:lstStyle/>
              <a:p>
                <a:pPr>
                  <a:defRPr b="0" i="0" strike="noStrike" sz="1100" u="none">
                    <a:solidFill>
                      <a:srgbClr val="21304A"/>
                    </a:solidFill>
                    <a:latin typeface="Adobe Clean ExtraBold"/>
                  </a:defRPr>
                </a:pPr>
              </a:p>
            </c:txPr>
            <c:showLegendKey val="0"/>
            <c:showVal val="1"/>
            <c:showCatName val="0"/>
            <c:showSerName val="0"/>
            <c:showPercent val="0"/>
            <c:showBubbleSize val="0"/>
            <c:showLeaderLines val="0"/>
          </c:dLbls>
          <c:dPt>
            <c:idx val="0"/>
            <c:invertIfNegative val="0"/>
            <c:bubble3D val="0"/>
            <c:spPr>
              <a:solidFill>
                <a:srgbClr val="1E8449"/>
              </a:solidFill>
              <a:effectLst/>
            </c:spPr>
          </c:dPt>
          <c:dPt>
            <c:idx val="1"/>
            <c:invertIfNegative val="0"/>
            <c:bubble3D val="0"/>
            <c:spPr>
              <a:solidFill>
                <a:srgbClr val="0E7C7B"/>
              </a:solidFill>
              <a:effectLst/>
            </c:spPr>
          </c:dPt>
          <c:dPt>
            <c:idx val="2"/>
            <c:invertIfNegative val="0"/>
            <c:bubble3D val="0"/>
            <c:spPr>
              <a:solidFill>
                <a:srgbClr val="B26B00"/>
              </a:solidFill>
              <a:effectLst/>
            </c:spPr>
          </c:dPt>
          <c:dPt>
            <c:idx val="3"/>
            <c:invertIfNegative val="0"/>
            <c:bubble3D val="0"/>
            <c:spPr>
              <a:solidFill>
                <a:srgbClr val="EB1000"/>
              </a:solidFill>
              <a:effectLst/>
            </c:spPr>
          </c:dPt>
          <c:dPt>
            <c:idx val="4"/>
            <c:invertIfNegative val="0"/>
            <c:bubble3D val="0"/>
            <c:spPr>
              <a:solidFill>
                <a:srgbClr val="7030A0"/>
              </a:solidFill>
              <a:effectLst/>
            </c:spPr>
          </c:dPt>
          <c:cat>
            <c:multiLvlStrRef>
              <c:f>Sheet1!$A$2:$A$6</c:f>
              <c:multiLvlStrCache>
                <c:ptCount val="5"/>
                <c:lvl>
                  <c:pt idx="0">
                    <c:v>warm</c:v>
                  </c:pt>
                  <c:pt idx="1">
                    <c:v>no-fb</c:v>
                  </c:pt>
                  <c:pt idx="2">
                    <c:v>+gram</c:v>
                  </c:pt>
                  <c:pt idx="3">
                    <c:v>+crit</c:v>
                  </c:pt>
                  <c:pt idx="4">
                    <c:v>+mass</c:v>
                  </c:pt>
                </c:lvl>
              </c:multiLvlStrCache>
            </c:multiLvlStrRef>
          </c:cat>
          <c:val>
            <c:numRef>
              <c:f>Sheet1!$B$2:$B$6</c:f>
              <c:numCache>
                <c:formatCode>General</c:formatCode>
                <c:ptCount val="5"/>
                <c:pt idx="0">
                  <c:v>0.41</c:v>
                </c:pt>
                <c:pt idx="1">
                  <c:v>1.42</c:v>
                </c:pt>
                <c:pt idx="2">
                  <c:v>1.53</c:v>
                </c:pt>
                <c:pt idx="3">
                  <c:v>1.5</c:v>
                </c:pt>
                <c:pt idx="4">
                  <c:v>1.5</c:v>
                </c:pt>
              </c:numCache>
            </c:numRef>
          </c:val>
        </c:ser>
        <c:dLbls>
          <c:numFmt formatCode="0.00" sourceLinked="0"/>
          <c:txPr>
            <a:bodyPr/>
            <a:lstStyle/>
            <a:p>
              <a:pPr>
                <a:defRPr b="0" i="0" strike="noStrike" sz="1100" u="none">
                  <a:solidFill>
                    <a:srgbClr val="21304A"/>
                  </a:solidFill>
                  <a:latin typeface="Adobe Clean ExtraBold"/>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473"/>
                </a:solidFill>
                <a:latin typeface="Adobe Clean"/>
              </a:defRPr>
            </a:pPr>
            <a:endParaRPr lang="en-US"/>
          </a:p>
        </c:txPr>
        <c:crossAx val="2094734552"/>
        <c:crosses val="autoZero"/>
        <c:auto val="1"/>
        <c:lblAlgn val="ctr"/>
        <c:noMultiLvlLbl val="1"/>
      </c:catAx>
      <c:valAx>
        <c:axId val="2094734552"/>
        <c:scaling>
          <c:orientation val="minMax"/>
          <c:max val="2"/>
          <c:min val="0"/>
        </c:scaling>
        <c:delete val="0"/>
        <c:axPos val="l"/>
        <c:majorGridlines>
          <c:spPr>
            <a:ln w="9525" cap="flat">
              <a:solidFill>
                <a:srgbClr val="EAEDF1"/>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A6473"/>
                </a:solidFill>
                <a:latin typeface="Adobe Clean"/>
              </a:defRPr>
            </a:pPr>
            <a:endParaRPr lang="en-US"/>
          </a:p>
        </c:txPr>
        <c:crossAx val="2094734554"/>
        <c:crosses val="autoZero"/>
        <c:crossBetween val="between"/>
        <c:majorUnit val="0.5"/>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problems</c:v>
                </c:pt>
              </c:strCache>
            </c:strRef>
          </c:tx>
          <c:spPr>
            <a:solidFill>
              <a:schemeClr val="accent1"/>
            </a:solidFill>
            <a:ln w="9525" cap="flat">
              <a:solidFill>
                <a:srgbClr val="F9F9F9"/>
              </a:solidFill>
              <a:prstDash val="solid"/>
              <a:round/>
            </a:ln>
            <a:effectLst/>
          </c:spPr>
          <c:dPt>
            <c:idx val="0"/>
            <c:bubble3D val="0"/>
            <c:spPr>
              <a:solidFill>
                <a:srgbClr val="1E8449"/>
              </a:solidFill>
              <a:effectLst/>
            </c:spPr>
          </c:dPt>
          <c:dPt>
            <c:idx val="1"/>
            <c:bubble3D val="0"/>
            <c:spPr>
              <a:solidFill>
                <a:srgbClr val="B26B00"/>
              </a:solidFill>
              <a:effectLst/>
            </c:spPr>
          </c:dPt>
          <c:dPt>
            <c:idx val="2"/>
            <c:bubble3D val="0"/>
            <c:spPr>
              <a:solidFill>
                <a:srgbClr val="5A6473"/>
              </a:solidFill>
              <a:effectLst/>
            </c:spPr>
          </c:dPt>
          <c:dPt>
            <c:idx val="3"/>
            <c:bubble3D val="0"/>
            <c:spPr>
              <a:solidFill>
                <a:srgbClr val="C4CAD4"/>
              </a:solidFill>
              <a:effectLst/>
            </c:spPr>
          </c:dPt>
          <c:dLbls>
            <c:dLbl>
              <c:idx val="0"/>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feasible</c:v>
                </c:pt>
                <c:pt idx="1">
                  <c:v>mass over-shoot</c:v>
                </c:pt>
                <c:pt idx="2">
                  <c:v>degenerate FEA</c:v>
                </c:pt>
                <c:pt idx="3">
                  <c:v>other</c:v>
                </c:pt>
              </c:strCache>
            </c:strRef>
          </c:cat>
          <c:val>
            <c:numRef>
              <c:f>Sheet1!$B$2:$B$5</c:f>
              <c:numCache>
                <c:ptCount val="4"/>
                <c:pt idx="0">
                  <c:v>68</c:v>
                </c:pt>
                <c:pt idx="1">
                  <c:v>12</c:v>
                </c:pt>
                <c:pt idx="2">
                  <c:v>16</c:v>
                </c:pt>
                <c:pt idx="3">
                  <c:v>4</c:v>
                </c:pt>
              </c:numCache>
            </c:numRef>
          </c:val>
        </c:ser>
        <c:firstSliceAng val="0"/>
        <c:holeSize val="62"/>
      </c:doughnutChart>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punchline: we took the pipeline from about 0% feasibility to a 14B policy that solves 68% of held-out truss problems. The headline of the whole talk is that the gains did not come from a cleverer RL algorithm. They came from fixing two things the algorithm was starved of: the rollout protocol and the feedback content. Set expectation: this is a diagnostic story. Model is Qwen3-14B with a small LoRA. Everything is logged in the ablation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so a mixed audience can follow. The thread running through all six blocks: a 14B model already had the reasoning. What changed outcomes was the protocol it was run under and the information in its feedback. Tell them block 05 is the core, where a simple test shows a strong model solves the task with no RL once it sees the failing 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audience in the engineering. A truss is a frame of straight members joined at pins; under load each member carries tension or compression. Sound, or feasible, is a hard AND of three checks: buckling factor of safety at least 1.5, yielding factor of safety at least 1.5, and mass under a cap. Buckling is almost always binding because slender members buckle long before they yield. The agent's only move is a single parametric edit per turn, scored by a finite-element solver. The hard part is credit assignment: which of a dozen members to scale, and by how much. The member in red is the one the solver flags as most likely to buckle, and it becomes central in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Two-stage training. SFT teaches only the output format, the think-then-single-action shape, deliberately not a competent policy. GRPO learns behavior; it is a reinforcement-learning method that rewards getting closer to feasible. The policy is a Qwen3-14B with a small rank-32 LoRA, so this is cheap. The key structural fact is the loop at the bottom: every turn the model reads the latest results, makes exactly one change, the solver runs, and the new results come back. The episode is a real multi-turn conversation, repeated until the truss is feasible. Foreshadow: the first big bug was running this per-turn model as if it should produce a whole solution in one shot, which is fix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strip. Left to right: warmstart formats perfectly but solves nothing, 0%. Naive single-turn GRPO stays at roughly zero. A correct multi-turn loop gets us to 12%, learning but slowly. Restoring one missing field in the feedback, which member is failing, takes us to 68%, the champion. Adding a mass-violation signal on top regressed to 52%. The leverage was information and protocol, not the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five stages with the numbers and what each change was. The FOS_buckling column climbs from 0.41 at warmstart, far below 1.5, to 1.4 to 1.6 for the trained policies, pushing right against the constraint. Single-turn has a dash because it never produced usable trajectories. The green champion row is the one to remember. Honesty point: the mass-feedback variant regressed, so the obvious move of telling the model about every violated constraint is not the right move. Why is on the ablation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changes that mattered, side by side. Neither is an RL-algorithm change. Fix one is a protocol mismatch: a per-turn model was run as one-shot during training. Fixing the loop made it learnable. Fix two: the solver knows which member is critical, but that fact was dropped from the text the model saw, so it guessed. Restoring one field took us from 12 to 68. The cleanest evidence it was about information: a strong model with no training went from zero of six to four of six. The next two slides take each fix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dive on the protocol fix. The subtle part: under single-turn, GRPO computed perfectly well-formed advantages, but attached to a one-shot generation the multi-turn model would never produce at deployment. The gradient pushed on a phantom. The tell was KL divergence, a measure of how much the policy moved: flat for all 200 steps. After a real multi-turn loop, sample, run solver, feed back, repeat, the policy moved about ten times as much. The lesson for agentic RL: your training rollout must match your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lesson. The solver always computes the buckling-critical member, but the prompt template dropped it, so the model inferred the critical member from raw numbers and inferred wrong, scaling the wrong members while the real culprit went untouched. Restore one string and feasibility jumps from 12 to 68. The cleanest proof it was information, not capability: a strong model with no training went from zero of six to four of six. Reasoning was never the bottleneck; the missing fact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champion reward is deliberately minimal: a single dense lagrangian-potential term, everything else off. Classic potential-based shaping: gamma times potential at the next state minus potential now, where Phi packs all constraint violations into one scalar with multiplier alpha five. Four properties on the right: dense, signal every step; policy-invariant, it telescopes so shaping cannot move the true optimum; physics-grounded, read off solver states; and GRPO wraps it, eight rollouts per problem give advantages, a small KL coefficient anchors to the warmstart. Hold alpha equals five; the next slide shows that tuning it the obvious direction backfires.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the obvious reward engineering and it mostly hurt. The alpha sweep on the left gives eight, twelve, four percent for alpha two, five, ten, non-monotone, peaking at five; alpha ten over-weights the multiplier and destabilizes. That refutes our own design doc, which predicted higher alpha is better. On the right: a grammar-compliance reward did not fix format drift and slightly hurt; an explicit mass-violation term is the regression, sixty-eight to fifty-two, too conservative about mass. Verdict: the minimal reward at alpha five wins. Reward shaping was not the leverage; protocol and feedback were.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policy actually emits: a think block then exactly one action. Champion model, first turn. It diagnoses buckling FOS 0.44 as binding and reads the critical member straight from feedback, M4 between joints six and seven, then issues one action: scale member four's radius by 1.36. Contrast with the broken regime where it guessed the wrong members. The behavior we wanted is exactly this: read the named worst member, reason, act on the right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behavior on one problem. Each step is a single member edit; the chips at top show the first three actions and the factor of safety climbing 0.44, 0.48, 0.51. The chart traces buckling FOS over the episode crossing the required 1.5 line, feasible in seven steps with a final FOS of 1.69. The intermediate points between step two and the terminal illustrate the climb; the anchors and the terminal are from the log. This particular trace is teacher-student: a 30B reasons, the 14B grounds the action on the named critical member. Note FOS rises steadily, the policy is not thrashing.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KL, not reward? Reward is noisy step to step, since each batch samples different problems and the reward magnitude is problem-dependent, so reward alone does not tell you if learning is happening. KL divergence from the reference does: it measures how far the policy has actually moved. Read the curves: the gray single-turn line is pinned near 0.003 the whole run, frozen. The red champion line climbs steadily and crosses the 0.01 learning bar by about step 35, more information gives a sharper learning signal and clearer credit. The grammar run actually spikes to 0.29, off the top of this axis, which is instability, not progress. These curves are reconstructed to the logged endpoints in the next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exact numbers behind the curves. Final KL: single-turn 0.0035, frozen. No-feedback 0.0049, learnable but slow. Grammar 0.0114 final but a 0.293 max, that is the instability spike. Champion at 0.0346, roughly ten times the single-turn movement, and a tight max of 0.0356, it moved a lot and stayed stable. The mass run moved most, 0.0431, but in the wrong direction, more movement is not better if it is toward over-conservatism. Bottom line: trust KL and eval feasibility; reward and even loss are diagnostic at best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Doing this honestly is not cheap. The multi-turn runs spend four to five thousand tokens per rollout, that is the model genuinely reasoning across turns, reading feedback, planning the next edit. The single-turn run sits at about a thousand tokens: a frozen policy going through the motions. Two cost facts on the right: about 500 seconds per GRPO step, with eight rollouts per problem for the group-relative advantages. To keep that tractable we built a batched rollout. The engineering takeaway echoes fix one: in agentic RL the rollout loop, not the loss function, is where both the compute cost and the correctness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Held-out evaluation confirms the training story generalizes. The bar chart is feasibility: zero, twelve, four, sixty-eight, fifty-two. The table adds grammar success and FOS. Two things to notice. The warmstart has perfect grammar, 1.00, and zero feasibility, it formats beautifully and solves nothing, the next slide's whole point. And the champion's FOS sits in the 1.38 to 1.63 band, right against the 1.5 requirement. Caveat on the right: these are 25-problem numbers with about plus-or-minus eight percent noise, so we are running a 50-problem robust eval of the champion now to tighten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reads the tension between two columns from the eval table. Left, grammar success: the warmstart is a perfect 1.00, and recall it solves nothing. The trained policies drift down to the 0.44 to 0.67 range. Right, mean FOS buckling with the 1.5 feasibility line: the warmstart is far below at 0.41, and every GRPO variant clears or approaches the line. So training trades some format compliance, drift and forgetting of the warmstart's perfect grammar, for large strength gains. The key framing for the roadmap: this trade is a knob, not a law. The grammar drift is about a third of turns wasted, and we have a candidate fix, a format-protecting KL constraint, coming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intellectual core of the report. We ran a zero-shot probe: take a strong 30B reasoner paired with the 14B action head, give it the critical-member feedback, and run it with no RL at all. It solves four of six. Strip the critical member back out and the same probe solves zero of six. Separately, a short tree-expansion search reaches the best FOS we have seen, 2.12, at full reliability. Put together, these say the reasoning capacity was always there, the system was simply missing the one fact that makes credit assignment trivial. So yes, the RL gains are real, but read honestly they are largely the model finally being told what it needed to know. That reframes the whole project from we tuned RL to we fixed the information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concrete, auditable turn, the kind of artifact that makes the result legible. Left is exactly what the solver hands back: mass 117 kilos, buckling FOS 0.48 in red because it is below 1.5, yielding fine at 2.49, deflection over its limit, status infeasible, and critically, the violations line now names the worst member, M4. Right is the policy's response: it reasons that M4 is the critical buckling member with FOS far below 1.5 and that increasing its cross-section should help, then emits a single action scaling member four's radius by 1.5. This is the behavior the entire study was chasing: read the named critical-member signal, reason about it, act on the right 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still fails, and the honest news that the easy lever is spent, adding the critical member gave us 12 to 68, but the mass tweak regressed, so add more to the prompt is done. The remaining roughly 32 percent breaks into three kinds, each needing a different fix. Mass over-shoot, three problems: FOS gets fixed but mass blows the cap, that needs soft reward-side balancing between FOS and mass, not a hard rule. Degenerate FEA, four problems: structurally broken or very heavy intermediate states the solver chokes on, that needs robust state handling. And grammar drift, about a third of all turns wasted, because the policy forgets the warmstart's perfect format, the candidate there is a format-protecting constraint. The throughline: a hard prompt rule over-corrects, so the next gains are softer, structural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and the good news is it is a list rather than a mystery, each item maps to a failure mode we just diagnosed. One: soft FOS-mass balancing on the reward side, because the hard rule over-corrected. Two: a format-protecting constraint to stop grammar drift and win back that third of wasted turns. Three: robust handling of degenerate and very heavy intermediate states so the solver keeps returning usable signal. And held in reserve, a star item: the 30B teacher already produces trajectories that solve 67 percent, so if the first three stall we distill those into the 14B. That is the concrete path from 68 toward 90 and beyond.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lessons that travel beyond this benchmark. One, protocol first: a per-turn policy has to be run per turn; that single mismatch cost us essentially all our feasibility, so match your training to your deployment. Two, information beats reward engineering: one missing field was worth fifty-six points, while every extra reward term we added hurt. Three, KL is the honest signal: when reward is noisy because each batch samples different problems, how much the policy moves is what tells you it is learning. And four, 14B is enough: with the right loop and the right feedback, a small model solves the majority, we did not need a bigger model or a fancier algorithm. If you take one thing away, it is that we spent our effort fixing what the model could see, not how it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thesis: this result was about information and protocol, not reasoning capacity or the RL algorithm, a 14B model with the right loop and the right feedback solves the majority. What is in flight: a 50-problem robust eval to firm up the plus-or-minus-eight-percent numbers, and the structural roadmap toward 90 and beyond. Everything reproduces from make_report_figs, with the full decision trail in the ablation ledger. Code is on GitHub. Open it up for questions, likely ones: why GRPO over PPO, how the Lagrangian potential is defined exactly, and whether the critical-member finding generalizes beyond buckling.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304A"/>
        </a:solidFill>
      </p:bgPr>
    </p:bg>
    <p:spTree>
      <p:nvGrpSpPr>
        <p:cNvPr id="1" name=""/>
        <p:cNvGrpSpPr/>
        <p:nvPr/>
      </p:nvGrpSpPr>
      <p:grpSpPr>
        <a:xfrm>
          <a:off x="0" y="0"/>
          <a:ext cx="0" cy="0"/>
          <a:chOff x="0" y="0"/>
          <a:chExt cx="0" cy="0"/>
        </a:xfrm>
      </p:grpSpPr>
      <p:sp>
        <p:nvSpPr>
          <p:cNvPr id="2" name="Text 0"/>
          <p:cNvSpPr/>
          <p:nvPr/>
        </p:nvSpPr>
        <p:spPr>
          <a:xfrm>
            <a:off x="566928" y="868680"/>
            <a:ext cx="8229600" cy="365760"/>
          </a:xfrm>
          <a:prstGeom prst="rect">
            <a:avLst/>
          </a:prstGeom>
          <a:noFill/>
          <a:ln/>
        </p:spPr>
        <p:txBody>
          <a:bodyPr wrap="square" lIns="0" tIns="0" rIns="0" bIns="0" rtlCol="0" anchor="t"/>
          <a:lstStyle/>
          <a:p>
            <a:pPr algn="l" indent="0" marL="0">
              <a:buNone/>
            </a:pPr>
            <a:r>
              <a:rPr lang="en-US" sz="1300" spc="200" kern="0" dirty="0">
                <a:solidFill>
                  <a:srgbClr val="CADCFC"/>
                </a:solidFill>
                <a:latin typeface="Adobe Clean ExtraBold" pitchFamily="34" charset="0"/>
                <a:ea typeface="Adobe Clean ExtraBold" pitchFamily="34" charset="-122"/>
                <a:cs typeface="Adobe Clean ExtraBold" pitchFamily="34" charset="-120"/>
              </a:rPr>
              <a:t>EXP · DESIGNBENCH · 2026-06-17</a:t>
            </a:r>
            <a:endParaRPr lang="en-US" sz="1300" dirty="0"/>
          </a:p>
        </p:txBody>
      </p:sp>
      <p:sp>
        <p:nvSpPr>
          <p:cNvPr id="3" name="Text 1"/>
          <p:cNvSpPr/>
          <p:nvPr/>
        </p:nvSpPr>
        <p:spPr>
          <a:xfrm>
            <a:off x="566928" y="1417320"/>
            <a:ext cx="10972800" cy="1005840"/>
          </a:xfrm>
          <a:prstGeom prst="rect">
            <a:avLst/>
          </a:prstGeom>
          <a:noFill/>
          <a:ln/>
        </p:spPr>
        <p:txBody>
          <a:bodyPr wrap="square" lIns="0" tIns="0" rIns="0" bIns="0" rtlCol="0" anchor="t"/>
          <a:lstStyle/>
          <a:p>
            <a:pPr algn="l" indent="0" marL="0">
              <a:buNone/>
            </a:pPr>
            <a:r>
              <a:rPr lang="en-US" sz="5400" dirty="0">
                <a:solidFill>
                  <a:srgbClr val="FFFFFF"/>
                </a:solidFill>
                <a:latin typeface="Adobe Clean ExtraBold" pitchFamily="34" charset="0"/>
                <a:ea typeface="Adobe Clean ExtraBold" pitchFamily="34" charset="-122"/>
                <a:cs typeface="Adobe Clean ExtraBold" pitchFamily="34" charset="-120"/>
              </a:rPr>
              <a:t>DesignBench </a:t>
            </a:r>
            <a:pPr algn="l" indent="0" marL="0">
              <a:buNone/>
            </a:pPr>
            <a:r>
              <a:rPr lang="en-US" sz="5400" dirty="0">
                <a:solidFill>
                  <a:srgbClr val="EB1000"/>
                </a:solidFill>
                <a:latin typeface="Adobe Clean ExtraBold" pitchFamily="34" charset="0"/>
                <a:ea typeface="Adobe Clean ExtraBold" pitchFamily="34" charset="-122"/>
                <a:cs typeface="Adobe Clean ExtraBold" pitchFamily="34" charset="-120"/>
              </a:rPr>
              <a:t>SFT + GRPO</a:t>
            </a:r>
            <a:endParaRPr lang="en-US" sz="5400" dirty="0"/>
          </a:p>
        </p:txBody>
      </p:sp>
      <p:sp>
        <p:nvSpPr>
          <p:cNvPr id="4" name="Text 2"/>
          <p:cNvSpPr/>
          <p:nvPr/>
        </p:nvSpPr>
        <p:spPr>
          <a:xfrm>
            <a:off x="566928" y="2514600"/>
            <a:ext cx="10607040" cy="548640"/>
          </a:xfrm>
          <a:prstGeom prst="rect">
            <a:avLst/>
          </a:prstGeom>
          <a:noFill/>
          <a:ln/>
        </p:spPr>
        <p:txBody>
          <a:bodyPr wrap="square" lIns="0" tIns="0" rIns="0" bIns="0" rtlCol="0" anchor="t"/>
          <a:lstStyle/>
          <a:p>
            <a:pPr algn="l" indent="0" marL="0">
              <a:buNone/>
            </a:pPr>
            <a:r>
              <a:rPr lang="en-US" sz="2200" dirty="0">
                <a:solidFill>
                  <a:srgbClr val="DCE3F2"/>
                </a:solidFill>
                <a:latin typeface="Adobe Clean" pitchFamily="34" charset="0"/>
                <a:ea typeface="Adobe Clean" pitchFamily="34" charset="-122"/>
                <a:cs typeface="Adobe Clean" pitchFamily="34" charset="-120"/>
              </a:rPr>
              <a:t>Teaching a 14B model to optimize trusses to feasibility</a:t>
            </a:r>
            <a:endParaRPr lang="en-US" sz="2200" dirty="0"/>
          </a:p>
        </p:txBody>
      </p:sp>
      <p:sp>
        <p:nvSpPr>
          <p:cNvPr id="5" name="Text 3"/>
          <p:cNvSpPr/>
          <p:nvPr/>
        </p:nvSpPr>
        <p:spPr>
          <a:xfrm>
            <a:off x="566928" y="3200400"/>
            <a:ext cx="10607040" cy="457200"/>
          </a:xfrm>
          <a:prstGeom prst="rect">
            <a:avLst/>
          </a:prstGeom>
          <a:noFill/>
          <a:ln/>
        </p:spPr>
        <p:txBody>
          <a:bodyPr wrap="square" lIns="0" tIns="0" rIns="0" bIns="0" rtlCol="0" anchor="t"/>
          <a:lstStyle/>
          <a:p>
            <a:pPr algn="l" indent="0" marL="0">
              <a:buNone/>
            </a:pPr>
            <a:r>
              <a:rPr lang="en-US" sz="1600" dirty="0">
                <a:solidFill>
                  <a:srgbClr val="AEB9CC"/>
                </a:solidFill>
                <a:latin typeface="Adobe Clean" pitchFamily="34" charset="0"/>
                <a:ea typeface="Adobe Clean" pitchFamily="34" charset="-122"/>
                <a:cs typeface="Adobe Clean" pitchFamily="34" charset="-120"/>
              </a:rPr>
              <a:t>The limiting factor was </a:t>
            </a:r>
            <a:pPr algn="l" indent="0" marL="0">
              <a:buNone/>
            </a:pPr>
            <a:r>
              <a:rPr lang="en-US" sz="1600" dirty="0">
                <a:solidFill>
                  <a:srgbClr val="FFFFFF"/>
                </a:solidFill>
                <a:latin typeface="Adobe Clean ExtraBold" pitchFamily="34" charset="0"/>
                <a:ea typeface="Adobe Clean ExtraBold" pitchFamily="34" charset="-122"/>
                <a:cs typeface="Adobe Clean ExtraBold" pitchFamily="34" charset="-120"/>
              </a:rPr>
              <a:t>information and protocol</a:t>
            </a:r>
            <a:pPr algn="l" indent="0" marL="0">
              <a:buNone/>
            </a:pPr>
            <a:r>
              <a:rPr lang="en-US" sz="1600" dirty="0">
                <a:solidFill>
                  <a:srgbClr val="AEB9CC"/>
                </a:solidFill>
                <a:latin typeface="Adobe Clean" pitchFamily="34" charset="0"/>
                <a:ea typeface="Adobe Clean" pitchFamily="34" charset="-122"/>
                <a:cs typeface="Adobe Clean" pitchFamily="34" charset="-120"/>
              </a:rPr>
              <a:t>, not reasoning capacity or RL.</a:t>
            </a:r>
            <a:endParaRPr lang="en-US" sz="1600" dirty="0"/>
          </a:p>
        </p:txBody>
      </p:sp>
      <p:sp>
        <p:nvSpPr>
          <p:cNvPr id="6" name="Text 4"/>
          <p:cNvSpPr/>
          <p:nvPr/>
        </p:nvSpPr>
        <p:spPr>
          <a:xfrm>
            <a:off x="566928" y="4069080"/>
            <a:ext cx="1554480" cy="1097280"/>
          </a:xfrm>
          <a:prstGeom prst="rect">
            <a:avLst/>
          </a:prstGeom>
          <a:noFill/>
          <a:ln/>
        </p:spPr>
        <p:txBody>
          <a:bodyPr wrap="square" lIns="0" tIns="0" rIns="0" bIns="0" rtlCol="0" anchor="ctr"/>
          <a:lstStyle/>
          <a:p>
            <a:pPr algn="ctr" indent="0" marL="0">
              <a:buNone/>
            </a:pPr>
            <a:r>
              <a:rPr lang="en-US" sz="6600" dirty="0">
                <a:solidFill>
                  <a:srgbClr val="7C8AA6"/>
                </a:solidFill>
                <a:latin typeface="Adobe Clean ExtraBold" pitchFamily="34" charset="0"/>
                <a:ea typeface="Adobe Clean ExtraBold" pitchFamily="34" charset="-122"/>
                <a:cs typeface="Adobe Clean ExtraBold" pitchFamily="34" charset="-120"/>
              </a:rPr>
              <a:t>0%</a:t>
            </a:r>
            <a:endParaRPr lang="en-US" sz="6600" dirty="0"/>
          </a:p>
        </p:txBody>
      </p:sp>
      <p:sp>
        <p:nvSpPr>
          <p:cNvPr id="7" name="Text 5"/>
          <p:cNvSpPr/>
          <p:nvPr/>
        </p:nvSpPr>
        <p:spPr>
          <a:xfrm>
            <a:off x="566928" y="5120640"/>
            <a:ext cx="1554480" cy="274320"/>
          </a:xfrm>
          <a:prstGeom prst="rect">
            <a:avLst/>
          </a:prstGeom>
          <a:noFill/>
          <a:ln/>
        </p:spPr>
        <p:txBody>
          <a:bodyPr wrap="square" lIns="0" tIns="0" rIns="0" bIns="0" rtlCol="0" anchor="t"/>
          <a:lstStyle/>
          <a:p>
            <a:pPr algn="ctr" indent="0" marL="0">
              <a:buNone/>
            </a:pPr>
            <a:r>
              <a:rPr lang="en-US" sz="1200" dirty="0">
                <a:solidFill>
                  <a:srgbClr val="7C8AA6"/>
                </a:solidFill>
                <a:latin typeface="Adobe Clean" pitchFamily="34" charset="0"/>
                <a:ea typeface="Adobe Clean" pitchFamily="34" charset="-122"/>
                <a:cs typeface="Adobe Clean" pitchFamily="34" charset="-120"/>
              </a:rPr>
              <a:t>warmstart</a:t>
            </a:r>
            <a:endParaRPr lang="en-US" sz="1200" dirty="0"/>
          </a:p>
        </p:txBody>
      </p:sp>
      <p:sp>
        <p:nvSpPr>
          <p:cNvPr id="8" name="Shape 6"/>
          <p:cNvSpPr/>
          <p:nvPr/>
        </p:nvSpPr>
        <p:spPr>
          <a:xfrm>
            <a:off x="2350008" y="4453128"/>
            <a:ext cx="457200" cy="420624"/>
          </a:xfrm>
          <a:prstGeom prst="chevron">
            <a:avLst/>
          </a:prstGeom>
          <a:solidFill>
            <a:srgbClr val="4A5878"/>
          </a:solidFill>
          <a:ln/>
        </p:spPr>
      </p:sp>
      <p:sp>
        <p:nvSpPr>
          <p:cNvPr id="9" name="Text 7"/>
          <p:cNvSpPr/>
          <p:nvPr/>
        </p:nvSpPr>
        <p:spPr>
          <a:xfrm>
            <a:off x="3035808" y="4069080"/>
            <a:ext cx="1828800" cy="1097280"/>
          </a:xfrm>
          <a:prstGeom prst="rect">
            <a:avLst/>
          </a:prstGeom>
          <a:noFill/>
          <a:ln/>
        </p:spPr>
        <p:txBody>
          <a:bodyPr wrap="square" lIns="0" tIns="0" rIns="0" bIns="0" rtlCol="0" anchor="ctr"/>
          <a:lstStyle/>
          <a:p>
            <a:pPr algn="ctr" indent="0" marL="0">
              <a:buNone/>
            </a:pPr>
            <a:r>
              <a:rPr lang="en-US" sz="6600" dirty="0">
                <a:solidFill>
                  <a:srgbClr val="EB1000"/>
                </a:solidFill>
                <a:latin typeface="Adobe Clean ExtraBold" pitchFamily="34" charset="0"/>
                <a:ea typeface="Adobe Clean ExtraBold" pitchFamily="34" charset="-122"/>
                <a:cs typeface="Adobe Clean ExtraBold" pitchFamily="34" charset="-120"/>
              </a:rPr>
              <a:t>68%</a:t>
            </a:r>
            <a:endParaRPr lang="en-US" sz="6600" dirty="0"/>
          </a:p>
        </p:txBody>
      </p:sp>
      <p:sp>
        <p:nvSpPr>
          <p:cNvPr id="10" name="Text 8"/>
          <p:cNvSpPr/>
          <p:nvPr/>
        </p:nvSpPr>
        <p:spPr>
          <a:xfrm>
            <a:off x="3035808" y="5120640"/>
            <a:ext cx="1828800" cy="274320"/>
          </a:xfrm>
          <a:prstGeom prst="rect">
            <a:avLst/>
          </a:prstGeom>
          <a:noFill/>
          <a:ln/>
        </p:spPr>
        <p:txBody>
          <a:bodyPr wrap="square" lIns="0" tIns="0" rIns="0" bIns="0" rtlCol="0" anchor="t"/>
          <a:lstStyle/>
          <a:p>
            <a:pPr algn="ctr" indent="0" marL="0">
              <a:buNone/>
            </a:pPr>
            <a:r>
              <a:rPr lang="en-US" sz="1200" dirty="0">
                <a:solidFill>
                  <a:srgbClr val="EB1000"/>
                </a:solidFill>
                <a:latin typeface="Adobe Clean" pitchFamily="34" charset="0"/>
                <a:ea typeface="Adobe Clean" pitchFamily="34" charset="-122"/>
                <a:cs typeface="Adobe Clean" pitchFamily="34" charset="-120"/>
              </a:rPr>
              <a:t>champion</a:t>
            </a:r>
            <a:endParaRPr lang="en-US" sz="1200" dirty="0"/>
          </a:p>
        </p:txBody>
      </p:sp>
      <p:sp>
        <p:nvSpPr>
          <p:cNvPr id="11" name="Text 9"/>
          <p:cNvSpPr/>
          <p:nvPr/>
        </p:nvSpPr>
        <p:spPr>
          <a:xfrm>
            <a:off x="5093208" y="4489704"/>
            <a:ext cx="4937760" cy="457200"/>
          </a:xfrm>
          <a:prstGeom prst="rect">
            <a:avLst/>
          </a:prstGeom>
          <a:noFill/>
          <a:ln/>
        </p:spPr>
        <p:txBody>
          <a:bodyPr wrap="square" lIns="0" tIns="0" rIns="0" bIns="0" rtlCol="0" anchor="ctr"/>
          <a:lstStyle/>
          <a:p>
            <a:pPr algn="l" indent="0" marL="0">
              <a:buNone/>
            </a:pPr>
            <a:r>
              <a:rPr lang="en-US" sz="1400" dirty="0">
                <a:solidFill>
                  <a:srgbClr val="AEB9CC"/>
                </a:solidFill>
                <a:latin typeface="Adobe Clean" pitchFamily="34" charset="0"/>
                <a:ea typeface="Adobe Clean" pitchFamily="34" charset="-122"/>
                <a:cs typeface="Adobe Clean" pitchFamily="34" charset="-120"/>
              </a:rPr>
              <a:t>held-out feasibility on truss problems</a:t>
            </a:r>
            <a:endParaRPr lang="en-US" sz="1400" dirty="0"/>
          </a:p>
        </p:txBody>
      </p:sp>
      <p:sp>
        <p:nvSpPr>
          <p:cNvPr id="12" name="Text 10"/>
          <p:cNvSpPr/>
          <p:nvPr/>
        </p:nvSpPr>
        <p:spPr>
          <a:xfrm>
            <a:off x="566928" y="6355080"/>
            <a:ext cx="11064240" cy="320040"/>
          </a:xfrm>
          <a:prstGeom prst="rect">
            <a:avLst/>
          </a:prstGeom>
          <a:noFill/>
          <a:ln/>
        </p:spPr>
        <p:txBody>
          <a:bodyPr wrap="square" lIns="0" tIns="0" rIns="0" bIns="0" rtlCol="0" anchor="ctr"/>
          <a:lstStyle/>
          <a:p>
            <a:pPr algn="l" indent="0" marL="0">
              <a:buNone/>
            </a:pPr>
            <a:r>
              <a:rPr lang="en-US" sz="1100" dirty="0">
                <a:solidFill>
                  <a:srgbClr val="6E7C97"/>
                </a:solidFill>
                <a:latin typeface="Adobe Clean" pitchFamily="34" charset="0"/>
                <a:ea typeface="Adobe Clean" pitchFamily="34" charset="-122"/>
                <a:cs typeface="Adobe Clean" pitchFamily="34" charset="-120"/>
              </a:rPr>
              <a:t>Qwen3-14B · LoRA r=32 · multi-turn grammar-action policy · audit trail in docs/ablation_ledger.md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64240" cy="676656"/>
          </a:xfrm>
          <a:prstGeom prst="rect">
            <a:avLst/>
          </a:prstGeom>
          <a:noFill/>
          <a:ln/>
        </p:spPr>
        <p:txBody>
          <a:bodyPr wrap="square" lIns="0" tIns="0" rIns="0" bIns="0" rtlCol="0" anchor="t"/>
          <a:lstStyle/>
          <a:p>
            <a:pPr algn="l" indent="0" marL="0">
              <a:buNone/>
            </a:pPr>
            <a:r>
              <a:rPr lang="en-US" sz="2800" dirty="0">
                <a:solidFill>
                  <a:srgbClr val="EB1000"/>
                </a:solidFill>
                <a:latin typeface="Adobe Clean ExtraBold" pitchFamily="34" charset="0"/>
                <a:ea typeface="Adobe Clean ExtraBold" pitchFamily="34" charset="-122"/>
                <a:cs typeface="Adobe Clean ExtraBold" pitchFamily="34" charset="-120"/>
              </a:rPr>
              <a:t>Agenda</a:t>
            </a:r>
            <a:endParaRPr lang="en-US" sz="2800" dirty="0"/>
          </a:p>
        </p:txBody>
      </p:sp>
      <p:sp>
        <p:nvSpPr>
          <p:cNvPr id="3" name="Text 1"/>
          <p:cNvSpPr/>
          <p:nvPr/>
        </p:nvSpPr>
        <p:spPr>
          <a:xfrm>
            <a:off x="566928" y="1060704"/>
            <a:ext cx="11064240" cy="384048"/>
          </a:xfrm>
          <a:prstGeom prst="rect">
            <a:avLst/>
          </a:prstGeom>
          <a:noFill/>
          <a:ln/>
        </p:spPr>
        <p:txBody>
          <a:bodyPr wrap="square" lIns="0" tIns="0" rIns="0" bIns="0" rtlCol="0" anchor="t"/>
          <a:lstStyle/>
          <a:p>
            <a:pPr algn="l" indent="0" marL="0">
              <a:buNone/>
            </a:pPr>
            <a:r>
              <a:rPr lang="en-US" sz="1450" dirty="0">
                <a:solidFill>
                  <a:srgbClr val="5A6473"/>
                </a:solidFill>
                <a:latin typeface="Adobe Clean" pitchFamily="34" charset="0"/>
                <a:ea typeface="Adobe Clean" pitchFamily="34" charset="-122"/>
                <a:cs typeface="Adobe Clean" pitchFamily="34" charset="-120"/>
              </a:rPr>
              <a:t>What we set out to do, what worked, and why.</a:t>
            </a:r>
            <a:endParaRPr lang="en-US" sz="1450" dirty="0"/>
          </a:p>
        </p:txBody>
      </p:sp>
      <p:sp>
        <p:nvSpPr>
          <p:cNvPr id="4" name="Shape 2"/>
          <p:cNvSpPr/>
          <p:nvPr/>
        </p:nvSpPr>
        <p:spPr>
          <a:xfrm>
            <a:off x="566928" y="1627632"/>
            <a:ext cx="5431536" cy="1298448"/>
          </a:xfrm>
          <a:prstGeom prst="roundRect">
            <a:avLst>
              <a:gd name="adj" fmla="val 7042"/>
            </a:avLst>
          </a:prstGeom>
          <a:solidFill>
            <a:srgbClr val="F4F5F7"/>
          </a:solidFill>
          <a:ln w="12700">
            <a:solidFill>
              <a:srgbClr val="D9DEE6"/>
            </a:solidFill>
            <a:prstDash val="solid"/>
          </a:ln>
        </p:spPr>
      </p:sp>
      <p:sp>
        <p:nvSpPr>
          <p:cNvPr id="5" name="Shape 3"/>
          <p:cNvSpPr/>
          <p:nvPr/>
        </p:nvSpPr>
        <p:spPr>
          <a:xfrm>
            <a:off x="804672" y="1901952"/>
            <a:ext cx="749808" cy="749808"/>
          </a:xfrm>
          <a:prstGeom prst="ellipse">
            <a:avLst/>
          </a:prstGeom>
          <a:solidFill>
            <a:srgbClr val="1E8449"/>
          </a:solidFill>
          <a:ln/>
        </p:spPr>
      </p:sp>
      <p:sp>
        <p:nvSpPr>
          <p:cNvPr id="6" name="Text 4"/>
          <p:cNvSpPr/>
          <p:nvPr/>
        </p:nvSpPr>
        <p:spPr>
          <a:xfrm>
            <a:off x="804672" y="1901952"/>
            <a:ext cx="749808" cy="749808"/>
          </a:xfrm>
          <a:prstGeom prst="rect">
            <a:avLst/>
          </a:prstGeom>
          <a:noFill/>
          <a:ln/>
        </p:spPr>
        <p:txBody>
          <a:bodyPr wrap="square" lIns="0" tIns="0" rIns="0" bIns="0" rtlCol="0" anchor="ctr"/>
          <a:lstStyle/>
          <a:p>
            <a:pPr algn="ctr" indent="0" marL="0">
              <a:buNone/>
            </a:pPr>
            <a:r>
              <a:rPr lang="en-US" sz="2200" dirty="0">
                <a:solidFill>
                  <a:srgbClr val="FFFFFF"/>
                </a:solidFill>
                <a:latin typeface="Adobe Clean ExtraBold" pitchFamily="34" charset="0"/>
                <a:ea typeface="Adobe Clean ExtraBold" pitchFamily="34" charset="-122"/>
                <a:cs typeface="Adobe Clean ExtraBold" pitchFamily="34" charset="-120"/>
              </a:rPr>
              <a:t>01</a:t>
            </a:r>
            <a:endParaRPr lang="en-US" sz="2200" dirty="0"/>
          </a:p>
        </p:txBody>
      </p:sp>
      <p:sp>
        <p:nvSpPr>
          <p:cNvPr id="7" name="Text 5"/>
          <p:cNvSpPr/>
          <p:nvPr/>
        </p:nvSpPr>
        <p:spPr>
          <a:xfrm>
            <a:off x="1773936" y="1664208"/>
            <a:ext cx="4014216" cy="1225296"/>
          </a:xfrm>
          <a:prstGeom prst="rect">
            <a:avLst/>
          </a:prstGeom>
          <a:noFill/>
          <a:ln/>
        </p:spPr>
        <p:txBody>
          <a:bodyPr wrap="square" lIns="0" tIns="0" rIns="0" bIns="0" rtlCol="0" anchor="ctr"/>
          <a:lstStyle/>
          <a:p>
            <a:pPr algn="l" indent="0" marL="0">
              <a:lnSpc>
                <a:spcPct val="105000"/>
              </a:lnSpc>
              <a:spcAft>
                <a:spcPts val="300"/>
              </a:spcAft>
              <a:buNone/>
            </a:pPr>
            <a:r>
              <a:rPr lang="en-US" sz="1650" dirty="0">
                <a:solidFill>
                  <a:srgbClr val="21304A"/>
                </a:solidFill>
                <a:latin typeface="Adobe Clean ExtraBold" pitchFamily="34" charset="0"/>
                <a:ea typeface="Adobe Clean ExtraBold" pitchFamily="34" charset="-122"/>
                <a:cs typeface="Adobe Clean ExtraBold" pitchFamily="34" charset="-120"/>
              </a:rPr>
              <a:t>The task and the method</a:t>
            </a:r>
            <a:endParaRPr lang="en-US" sz="1650" dirty="0"/>
          </a:p>
          <a:p>
            <a:pPr algn="l" indent="0" marL="0">
              <a:lnSpc>
                <a:spcPct val="105000"/>
              </a:lnSpc>
              <a:spcAft>
                <a:spcPts val="300"/>
              </a:spcAft>
              <a:buNone/>
            </a:pPr>
            <a:r>
              <a:rPr lang="en-US" sz="1200" dirty="0">
                <a:solidFill>
                  <a:srgbClr val="5A6473"/>
                </a:solidFill>
                <a:latin typeface="Adobe Clean" pitchFamily="34" charset="0"/>
                <a:ea typeface="Adobe Clean" pitchFamily="34" charset="-122"/>
                <a:cs typeface="Adobe Clean" pitchFamily="34" charset="-120"/>
              </a:rPr>
              <a:t>What the model is asked to do, and how it works</a:t>
            </a:r>
            <a:endParaRPr lang="en-US" sz="1650" dirty="0"/>
          </a:p>
        </p:txBody>
      </p:sp>
      <p:sp>
        <p:nvSpPr>
          <p:cNvPr id="8" name="Shape 6"/>
          <p:cNvSpPr/>
          <p:nvPr/>
        </p:nvSpPr>
        <p:spPr>
          <a:xfrm>
            <a:off x="6309360" y="1627632"/>
            <a:ext cx="5431536" cy="1298448"/>
          </a:xfrm>
          <a:prstGeom prst="roundRect">
            <a:avLst>
              <a:gd name="adj" fmla="val 7042"/>
            </a:avLst>
          </a:prstGeom>
          <a:solidFill>
            <a:srgbClr val="F4F5F7"/>
          </a:solidFill>
          <a:ln w="12700">
            <a:solidFill>
              <a:srgbClr val="D9DEE6"/>
            </a:solidFill>
            <a:prstDash val="solid"/>
          </a:ln>
        </p:spPr>
      </p:sp>
      <p:sp>
        <p:nvSpPr>
          <p:cNvPr id="9" name="Shape 7"/>
          <p:cNvSpPr/>
          <p:nvPr/>
        </p:nvSpPr>
        <p:spPr>
          <a:xfrm>
            <a:off x="6547104" y="1901952"/>
            <a:ext cx="749808" cy="749808"/>
          </a:xfrm>
          <a:prstGeom prst="ellipse">
            <a:avLst/>
          </a:prstGeom>
          <a:solidFill>
            <a:srgbClr val="EB1000"/>
          </a:solidFill>
          <a:ln/>
        </p:spPr>
      </p:sp>
      <p:sp>
        <p:nvSpPr>
          <p:cNvPr id="10" name="Text 8"/>
          <p:cNvSpPr/>
          <p:nvPr/>
        </p:nvSpPr>
        <p:spPr>
          <a:xfrm>
            <a:off x="6547104" y="1901952"/>
            <a:ext cx="749808" cy="749808"/>
          </a:xfrm>
          <a:prstGeom prst="rect">
            <a:avLst/>
          </a:prstGeom>
          <a:noFill/>
          <a:ln/>
        </p:spPr>
        <p:txBody>
          <a:bodyPr wrap="square" lIns="0" tIns="0" rIns="0" bIns="0" rtlCol="0" anchor="ctr"/>
          <a:lstStyle/>
          <a:p>
            <a:pPr algn="ctr" indent="0" marL="0">
              <a:buNone/>
            </a:pPr>
            <a:r>
              <a:rPr lang="en-US" sz="2200" dirty="0">
                <a:solidFill>
                  <a:srgbClr val="FFFFFF"/>
                </a:solidFill>
                <a:latin typeface="Adobe Clean ExtraBold" pitchFamily="34" charset="0"/>
                <a:ea typeface="Adobe Clean ExtraBold" pitchFamily="34" charset="-122"/>
                <a:cs typeface="Adobe Clean ExtraBold" pitchFamily="34" charset="-120"/>
              </a:rPr>
              <a:t>02</a:t>
            </a:r>
            <a:endParaRPr lang="en-US" sz="2200" dirty="0"/>
          </a:p>
        </p:txBody>
      </p:sp>
      <p:sp>
        <p:nvSpPr>
          <p:cNvPr id="11" name="Text 9"/>
          <p:cNvSpPr/>
          <p:nvPr/>
        </p:nvSpPr>
        <p:spPr>
          <a:xfrm>
            <a:off x="7516368" y="1664208"/>
            <a:ext cx="4014216" cy="1225296"/>
          </a:xfrm>
          <a:prstGeom prst="rect">
            <a:avLst/>
          </a:prstGeom>
          <a:noFill/>
          <a:ln/>
        </p:spPr>
        <p:txBody>
          <a:bodyPr wrap="square" lIns="0" tIns="0" rIns="0" bIns="0" rtlCol="0" anchor="ctr"/>
          <a:lstStyle/>
          <a:p>
            <a:pPr algn="l" indent="0" marL="0">
              <a:lnSpc>
                <a:spcPct val="105000"/>
              </a:lnSpc>
              <a:spcAft>
                <a:spcPts val="300"/>
              </a:spcAft>
              <a:buNone/>
            </a:pPr>
            <a:r>
              <a:rPr lang="en-US" sz="1650" dirty="0">
                <a:solidFill>
                  <a:srgbClr val="21304A"/>
                </a:solidFill>
                <a:latin typeface="Adobe Clean ExtraBold" pitchFamily="34" charset="0"/>
                <a:ea typeface="Adobe Clean ExtraBold" pitchFamily="34" charset="-122"/>
                <a:cs typeface="Adobe Clean ExtraBold" pitchFamily="34" charset="-120"/>
              </a:rPr>
              <a:t>The headline result</a:t>
            </a:r>
            <a:endParaRPr lang="en-US" sz="1650" dirty="0"/>
          </a:p>
          <a:p>
            <a:pPr algn="l" indent="0" marL="0">
              <a:lnSpc>
                <a:spcPct val="105000"/>
              </a:lnSpc>
              <a:spcAft>
                <a:spcPts val="300"/>
              </a:spcAft>
              <a:buNone/>
            </a:pPr>
            <a:r>
              <a:rPr lang="en-US" sz="1200" dirty="0">
                <a:solidFill>
                  <a:srgbClr val="5A6473"/>
                </a:solidFill>
                <a:latin typeface="Adobe Clean" pitchFamily="34" charset="0"/>
                <a:ea typeface="Adobe Clean" pitchFamily="34" charset="-122"/>
                <a:cs typeface="Adobe Clean" pitchFamily="34" charset="-120"/>
              </a:rPr>
              <a:t>0% to 68% feasibility, and the five stages behind it</a:t>
            </a:r>
            <a:endParaRPr lang="en-US" sz="1650" dirty="0"/>
          </a:p>
        </p:txBody>
      </p:sp>
      <p:sp>
        <p:nvSpPr>
          <p:cNvPr id="12" name="Shape 10"/>
          <p:cNvSpPr/>
          <p:nvPr/>
        </p:nvSpPr>
        <p:spPr>
          <a:xfrm>
            <a:off x="566928" y="3182112"/>
            <a:ext cx="5431536" cy="1298448"/>
          </a:xfrm>
          <a:prstGeom prst="roundRect">
            <a:avLst>
              <a:gd name="adj" fmla="val 7042"/>
            </a:avLst>
          </a:prstGeom>
          <a:solidFill>
            <a:srgbClr val="F4F5F7"/>
          </a:solidFill>
          <a:ln w="12700">
            <a:solidFill>
              <a:srgbClr val="D9DEE6"/>
            </a:solidFill>
            <a:prstDash val="solid"/>
          </a:ln>
        </p:spPr>
      </p:sp>
      <p:sp>
        <p:nvSpPr>
          <p:cNvPr id="13" name="Shape 11"/>
          <p:cNvSpPr/>
          <p:nvPr/>
        </p:nvSpPr>
        <p:spPr>
          <a:xfrm>
            <a:off x="804672" y="3456432"/>
            <a:ext cx="749808" cy="749808"/>
          </a:xfrm>
          <a:prstGeom prst="ellipse">
            <a:avLst/>
          </a:prstGeom>
          <a:solidFill>
            <a:srgbClr val="21304A"/>
          </a:solidFill>
          <a:ln/>
        </p:spPr>
      </p:sp>
      <p:sp>
        <p:nvSpPr>
          <p:cNvPr id="14" name="Text 12"/>
          <p:cNvSpPr/>
          <p:nvPr/>
        </p:nvSpPr>
        <p:spPr>
          <a:xfrm>
            <a:off x="804672" y="3456432"/>
            <a:ext cx="749808" cy="749808"/>
          </a:xfrm>
          <a:prstGeom prst="rect">
            <a:avLst/>
          </a:prstGeom>
          <a:noFill/>
          <a:ln/>
        </p:spPr>
        <p:txBody>
          <a:bodyPr wrap="square" lIns="0" tIns="0" rIns="0" bIns="0" rtlCol="0" anchor="ctr"/>
          <a:lstStyle/>
          <a:p>
            <a:pPr algn="ctr" indent="0" marL="0">
              <a:buNone/>
            </a:pPr>
            <a:r>
              <a:rPr lang="en-US" sz="2200" dirty="0">
                <a:solidFill>
                  <a:srgbClr val="FFFFFF"/>
                </a:solidFill>
                <a:latin typeface="Adobe Clean ExtraBold" pitchFamily="34" charset="0"/>
                <a:ea typeface="Adobe Clean ExtraBold" pitchFamily="34" charset="-122"/>
                <a:cs typeface="Adobe Clean ExtraBold" pitchFamily="34" charset="-120"/>
              </a:rPr>
              <a:t>03</a:t>
            </a:r>
            <a:endParaRPr lang="en-US" sz="2200" dirty="0"/>
          </a:p>
        </p:txBody>
      </p:sp>
      <p:sp>
        <p:nvSpPr>
          <p:cNvPr id="15" name="Text 13"/>
          <p:cNvSpPr/>
          <p:nvPr/>
        </p:nvSpPr>
        <p:spPr>
          <a:xfrm>
            <a:off x="1773936" y="3218688"/>
            <a:ext cx="4014216" cy="1225296"/>
          </a:xfrm>
          <a:prstGeom prst="rect">
            <a:avLst/>
          </a:prstGeom>
          <a:noFill/>
          <a:ln/>
        </p:spPr>
        <p:txBody>
          <a:bodyPr wrap="square" lIns="0" tIns="0" rIns="0" bIns="0" rtlCol="0" anchor="ctr"/>
          <a:lstStyle/>
          <a:p>
            <a:pPr algn="l" indent="0" marL="0">
              <a:lnSpc>
                <a:spcPct val="105000"/>
              </a:lnSpc>
              <a:spcAft>
                <a:spcPts val="300"/>
              </a:spcAft>
              <a:buNone/>
            </a:pPr>
            <a:r>
              <a:rPr lang="en-US" sz="1650" dirty="0">
                <a:solidFill>
                  <a:srgbClr val="21304A"/>
                </a:solidFill>
                <a:latin typeface="Adobe Clean ExtraBold" pitchFamily="34" charset="0"/>
                <a:ea typeface="Adobe Clean ExtraBold" pitchFamily="34" charset="-122"/>
                <a:cs typeface="Adobe Clean ExtraBold" pitchFamily="34" charset="-120"/>
              </a:rPr>
              <a:t>The two key fixes</a:t>
            </a:r>
            <a:endParaRPr lang="en-US" sz="1650" dirty="0"/>
          </a:p>
          <a:p>
            <a:pPr algn="l" indent="0" marL="0">
              <a:lnSpc>
                <a:spcPct val="105000"/>
              </a:lnSpc>
              <a:spcAft>
                <a:spcPts val="300"/>
              </a:spcAft>
              <a:buNone/>
            </a:pPr>
            <a:r>
              <a:rPr lang="en-US" sz="1200" dirty="0">
                <a:solidFill>
                  <a:srgbClr val="5A6473"/>
                </a:solidFill>
                <a:latin typeface="Adobe Clean" pitchFamily="34" charset="0"/>
                <a:ea typeface="Adobe Clean" pitchFamily="34" charset="-122"/>
                <a:cs typeface="Adobe Clean" pitchFamily="34" charset="-120"/>
              </a:rPr>
              <a:t>How the model is run, then what it is told</a:t>
            </a:r>
            <a:endParaRPr lang="en-US" sz="1650" dirty="0"/>
          </a:p>
        </p:txBody>
      </p:sp>
      <p:sp>
        <p:nvSpPr>
          <p:cNvPr id="16" name="Shape 14"/>
          <p:cNvSpPr/>
          <p:nvPr/>
        </p:nvSpPr>
        <p:spPr>
          <a:xfrm>
            <a:off x="6309360" y="3182112"/>
            <a:ext cx="5431536" cy="1298448"/>
          </a:xfrm>
          <a:prstGeom prst="roundRect">
            <a:avLst>
              <a:gd name="adj" fmla="val 7042"/>
            </a:avLst>
          </a:prstGeom>
          <a:solidFill>
            <a:srgbClr val="F4F5F7"/>
          </a:solidFill>
          <a:ln w="12700">
            <a:solidFill>
              <a:srgbClr val="D9DEE6"/>
            </a:solidFill>
            <a:prstDash val="solid"/>
          </a:ln>
        </p:spPr>
      </p:sp>
      <p:sp>
        <p:nvSpPr>
          <p:cNvPr id="17" name="Shape 15"/>
          <p:cNvSpPr/>
          <p:nvPr/>
        </p:nvSpPr>
        <p:spPr>
          <a:xfrm>
            <a:off x="6547104" y="3456432"/>
            <a:ext cx="749808" cy="749808"/>
          </a:xfrm>
          <a:prstGeom prst="ellipse">
            <a:avLst/>
          </a:prstGeom>
          <a:solidFill>
            <a:srgbClr val="0E7C7B"/>
          </a:solidFill>
          <a:ln/>
        </p:spPr>
      </p:sp>
      <p:sp>
        <p:nvSpPr>
          <p:cNvPr id="18" name="Text 16"/>
          <p:cNvSpPr/>
          <p:nvPr/>
        </p:nvSpPr>
        <p:spPr>
          <a:xfrm>
            <a:off x="6547104" y="3456432"/>
            <a:ext cx="749808" cy="749808"/>
          </a:xfrm>
          <a:prstGeom prst="rect">
            <a:avLst/>
          </a:prstGeom>
          <a:noFill/>
          <a:ln/>
        </p:spPr>
        <p:txBody>
          <a:bodyPr wrap="square" lIns="0" tIns="0" rIns="0" bIns="0" rtlCol="0" anchor="ctr"/>
          <a:lstStyle/>
          <a:p>
            <a:pPr algn="ctr" indent="0" marL="0">
              <a:buNone/>
            </a:pPr>
            <a:r>
              <a:rPr lang="en-US" sz="2200" dirty="0">
                <a:solidFill>
                  <a:srgbClr val="FFFFFF"/>
                </a:solidFill>
                <a:latin typeface="Adobe Clean ExtraBold" pitchFamily="34" charset="0"/>
                <a:ea typeface="Adobe Clean ExtraBold" pitchFamily="34" charset="-122"/>
                <a:cs typeface="Adobe Clean ExtraBold" pitchFamily="34" charset="-120"/>
              </a:rPr>
              <a:t>04</a:t>
            </a:r>
            <a:endParaRPr lang="en-US" sz="2200" dirty="0"/>
          </a:p>
        </p:txBody>
      </p:sp>
      <p:sp>
        <p:nvSpPr>
          <p:cNvPr id="19" name="Text 17"/>
          <p:cNvSpPr/>
          <p:nvPr/>
        </p:nvSpPr>
        <p:spPr>
          <a:xfrm>
            <a:off x="7516368" y="3218688"/>
            <a:ext cx="4014216" cy="1225296"/>
          </a:xfrm>
          <a:prstGeom prst="rect">
            <a:avLst/>
          </a:prstGeom>
          <a:noFill/>
          <a:ln/>
        </p:spPr>
        <p:txBody>
          <a:bodyPr wrap="square" lIns="0" tIns="0" rIns="0" bIns="0" rtlCol="0" anchor="ctr"/>
          <a:lstStyle/>
          <a:p>
            <a:pPr algn="l" indent="0" marL="0">
              <a:lnSpc>
                <a:spcPct val="105000"/>
              </a:lnSpc>
              <a:spcAft>
                <a:spcPts val="300"/>
              </a:spcAft>
              <a:buNone/>
            </a:pPr>
            <a:r>
              <a:rPr lang="en-US" sz="1650" dirty="0">
                <a:solidFill>
                  <a:srgbClr val="21304A"/>
                </a:solidFill>
                <a:latin typeface="Adobe Clean ExtraBold" pitchFamily="34" charset="0"/>
                <a:ea typeface="Adobe Clean ExtraBold" pitchFamily="34" charset="-122"/>
                <a:cs typeface="Adobe Clean ExtraBold" pitchFamily="34" charset="-120"/>
              </a:rPr>
              <a:t>Reward and training behavior</a:t>
            </a:r>
            <a:endParaRPr lang="en-US" sz="1650" dirty="0"/>
          </a:p>
          <a:p>
            <a:pPr algn="l" indent="0" marL="0">
              <a:lnSpc>
                <a:spcPct val="105000"/>
              </a:lnSpc>
              <a:spcAft>
                <a:spcPts val="300"/>
              </a:spcAft>
              <a:buNone/>
            </a:pPr>
            <a:r>
              <a:rPr lang="en-US" sz="1200" dirty="0">
                <a:solidFill>
                  <a:srgbClr val="5A6473"/>
                </a:solidFill>
                <a:latin typeface="Adobe Clean" pitchFamily="34" charset="0"/>
                <a:ea typeface="Adobe Clean" pitchFamily="34" charset="-122"/>
                <a:cs typeface="Adobe Clean" pitchFamily="34" charset="-120"/>
              </a:rPr>
              <a:t>One reward signal, and how we know it is learning</a:t>
            </a:r>
            <a:endParaRPr lang="en-US" sz="1650" dirty="0"/>
          </a:p>
        </p:txBody>
      </p:sp>
      <p:sp>
        <p:nvSpPr>
          <p:cNvPr id="20" name="Shape 18"/>
          <p:cNvSpPr/>
          <p:nvPr/>
        </p:nvSpPr>
        <p:spPr>
          <a:xfrm>
            <a:off x="566928" y="4736592"/>
            <a:ext cx="5431536" cy="1298448"/>
          </a:xfrm>
          <a:prstGeom prst="roundRect">
            <a:avLst>
              <a:gd name="adj" fmla="val 7042"/>
            </a:avLst>
          </a:prstGeom>
          <a:solidFill>
            <a:srgbClr val="F4F5F7"/>
          </a:solidFill>
          <a:ln w="12700">
            <a:solidFill>
              <a:srgbClr val="D9DEE6"/>
            </a:solidFill>
            <a:prstDash val="solid"/>
          </a:ln>
        </p:spPr>
      </p:sp>
      <p:sp>
        <p:nvSpPr>
          <p:cNvPr id="21" name="Shape 19"/>
          <p:cNvSpPr/>
          <p:nvPr/>
        </p:nvSpPr>
        <p:spPr>
          <a:xfrm>
            <a:off x="804672" y="5010912"/>
            <a:ext cx="749808" cy="749808"/>
          </a:xfrm>
          <a:prstGeom prst="ellipse">
            <a:avLst/>
          </a:prstGeom>
          <a:solidFill>
            <a:srgbClr val="7030A0"/>
          </a:solidFill>
          <a:ln/>
        </p:spPr>
      </p:sp>
      <p:sp>
        <p:nvSpPr>
          <p:cNvPr id="22" name="Text 20"/>
          <p:cNvSpPr/>
          <p:nvPr/>
        </p:nvSpPr>
        <p:spPr>
          <a:xfrm>
            <a:off x="804672" y="5010912"/>
            <a:ext cx="749808" cy="749808"/>
          </a:xfrm>
          <a:prstGeom prst="rect">
            <a:avLst/>
          </a:prstGeom>
          <a:noFill/>
          <a:ln/>
        </p:spPr>
        <p:txBody>
          <a:bodyPr wrap="square" lIns="0" tIns="0" rIns="0" bIns="0" rtlCol="0" anchor="ctr"/>
          <a:lstStyle/>
          <a:p>
            <a:pPr algn="ctr" indent="0" marL="0">
              <a:buNone/>
            </a:pPr>
            <a:r>
              <a:rPr lang="en-US" sz="2200" dirty="0">
                <a:solidFill>
                  <a:srgbClr val="FFFFFF"/>
                </a:solidFill>
                <a:latin typeface="Adobe Clean ExtraBold" pitchFamily="34" charset="0"/>
                <a:ea typeface="Adobe Clean ExtraBold" pitchFamily="34" charset="-122"/>
                <a:cs typeface="Adobe Clean ExtraBold" pitchFamily="34" charset="-120"/>
              </a:rPr>
              <a:t>05</a:t>
            </a:r>
            <a:endParaRPr lang="en-US" sz="2200" dirty="0"/>
          </a:p>
        </p:txBody>
      </p:sp>
      <p:sp>
        <p:nvSpPr>
          <p:cNvPr id="23" name="Text 21"/>
          <p:cNvSpPr/>
          <p:nvPr/>
        </p:nvSpPr>
        <p:spPr>
          <a:xfrm>
            <a:off x="1773936" y="4773168"/>
            <a:ext cx="4014216" cy="1225296"/>
          </a:xfrm>
          <a:prstGeom prst="rect">
            <a:avLst/>
          </a:prstGeom>
          <a:noFill/>
          <a:ln/>
        </p:spPr>
        <p:txBody>
          <a:bodyPr wrap="square" lIns="0" tIns="0" rIns="0" bIns="0" rtlCol="0" anchor="ctr"/>
          <a:lstStyle/>
          <a:p>
            <a:pPr algn="l" indent="0" marL="0">
              <a:lnSpc>
                <a:spcPct val="105000"/>
              </a:lnSpc>
              <a:spcAft>
                <a:spcPts val="300"/>
              </a:spcAft>
              <a:buNone/>
            </a:pPr>
            <a:r>
              <a:rPr lang="en-US" sz="1650" dirty="0">
                <a:solidFill>
                  <a:srgbClr val="21304A"/>
                </a:solidFill>
                <a:latin typeface="Adobe Clean ExtraBold" pitchFamily="34" charset="0"/>
                <a:ea typeface="Adobe Clean ExtraBold" pitchFamily="34" charset="-122"/>
                <a:cs typeface="Adobe Clean ExtraBold" pitchFamily="34" charset="-120"/>
              </a:rPr>
              <a:t>Evaluation and the real bottleneck</a:t>
            </a:r>
            <a:endParaRPr lang="en-US" sz="1650" dirty="0"/>
          </a:p>
          <a:p>
            <a:pPr algn="l" indent="0" marL="0">
              <a:lnSpc>
                <a:spcPct val="105000"/>
              </a:lnSpc>
              <a:spcAft>
                <a:spcPts val="300"/>
              </a:spcAft>
              <a:buNone/>
            </a:pPr>
            <a:r>
              <a:rPr lang="en-US" sz="1200" dirty="0">
                <a:solidFill>
                  <a:srgbClr val="5A6473"/>
                </a:solidFill>
                <a:latin typeface="Adobe Clean" pitchFamily="34" charset="0"/>
                <a:ea typeface="Adobe Clean" pitchFamily="34" charset="-122"/>
                <a:cs typeface="Adobe Clean" pitchFamily="34" charset="-120"/>
              </a:rPr>
              <a:t>Held-out results, and a test that reframes it all</a:t>
            </a:r>
            <a:endParaRPr lang="en-US" sz="1650" dirty="0"/>
          </a:p>
        </p:txBody>
      </p:sp>
      <p:sp>
        <p:nvSpPr>
          <p:cNvPr id="24" name="Shape 22"/>
          <p:cNvSpPr/>
          <p:nvPr/>
        </p:nvSpPr>
        <p:spPr>
          <a:xfrm>
            <a:off x="6309360" y="4736592"/>
            <a:ext cx="5431536" cy="1298448"/>
          </a:xfrm>
          <a:prstGeom prst="roundRect">
            <a:avLst>
              <a:gd name="adj" fmla="val 7042"/>
            </a:avLst>
          </a:prstGeom>
          <a:solidFill>
            <a:srgbClr val="F4F5F7"/>
          </a:solidFill>
          <a:ln w="12700">
            <a:solidFill>
              <a:srgbClr val="D9DEE6"/>
            </a:solidFill>
            <a:prstDash val="solid"/>
          </a:ln>
        </p:spPr>
      </p:sp>
      <p:sp>
        <p:nvSpPr>
          <p:cNvPr id="25" name="Shape 23"/>
          <p:cNvSpPr/>
          <p:nvPr/>
        </p:nvSpPr>
        <p:spPr>
          <a:xfrm>
            <a:off x="6547104" y="5010912"/>
            <a:ext cx="749808" cy="749808"/>
          </a:xfrm>
          <a:prstGeom prst="ellipse">
            <a:avLst/>
          </a:prstGeom>
          <a:solidFill>
            <a:srgbClr val="B26B00"/>
          </a:solidFill>
          <a:ln/>
        </p:spPr>
      </p:sp>
      <p:sp>
        <p:nvSpPr>
          <p:cNvPr id="26" name="Text 24"/>
          <p:cNvSpPr/>
          <p:nvPr/>
        </p:nvSpPr>
        <p:spPr>
          <a:xfrm>
            <a:off x="6547104" y="5010912"/>
            <a:ext cx="749808" cy="749808"/>
          </a:xfrm>
          <a:prstGeom prst="rect">
            <a:avLst/>
          </a:prstGeom>
          <a:noFill/>
          <a:ln/>
        </p:spPr>
        <p:txBody>
          <a:bodyPr wrap="square" lIns="0" tIns="0" rIns="0" bIns="0" rtlCol="0" anchor="ctr"/>
          <a:lstStyle/>
          <a:p>
            <a:pPr algn="ctr" indent="0" marL="0">
              <a:buNone/>
            </a:pPr>
            <a:r>
              <a:rPr lang="en-US" sz="2200" dirty="0">
                <a:solidFill>
                  <a:srgbClr val="FFFFFF"/>
                </a:solidFill>
                <a:latin typeface="Adobe Clean ExtraBold" pitchFamily="34" charset="0"/>
                <a:ea typeface="Adobe Clean ExtraBold" pitchFamily="34" charset="-122"/>
                <a:cs typeface="Adobe Clean ExtraBold" pitchFamily="34" charset="-120"/>
              </a:rPr>
              <a:t>06</a:t>
            </a:r>
            <a:endParaRPr lang="en-US" sz="2200" dirty="0"/>
          </a:p>
        </p:txBody>
      </p:sp>
      <p:sp>
        <p:nvSpPr>
          <p:cNvPr id="27" name="Text 25"/>
          <p:cNvSpPr/>
          <p:nvPr/>
        </p:nvSpPr>
        <p:spPr>
          <a:xfrm>
            <a:off x="7516368" y="4773168"/>
            <a:ext cx="4014216" cy="1225296"/>
          </a:xfrm>
          <a:prstGeom prst="rect">
            <a:avLst/>
          </a:prstGeom>
          <a:noFill/>
          <a:ln/>
        </p:spPr>
        <p:txBody>
          <a:bodyPr wrap="square" lIns="0" tIns="0" rIns="0" bIns="0" rtlCol="0" anchor="ctr"/>
          <a:lstStyle/>
          <a:p>
            <a:pPr algn="l" indent="0" marL="0">
              <a:lnSpc>
                <a:spcPct val="105000"/>
              </a:lnSpc>
              <a:spcAft>
                <a:spcPts val="300"/>
              </a:spcAft>
              <a:buNone/>
            </a:pPr>
            <a:r>
              <a:rPr lang="en-US" sz="1650" dirty="0">
                <a:solidFill>
                  <a:srgbClr val="21304A"/>
                </a:solidFill>
                <a:latin typeface="Adobe Clean ExtraBold" pitchFamily="34" charset="0"/>
                <a:ea typeface="Adobe Clean ExtraBold" pitchFamily="34" charset="-122"/>
                <a:cs typeface="Adobe Clean ExtraBold" pitchFamily="34" charset="-120"/>
              </a:rPr>
              <a:t>The remaining failures and next steps</a:t>
            </a:r>
            <a:endParaRPr lang="en-US" sz="1650" dirty="0"/>
          </a:p>
          <a:p>
            <a:pPr algn="l" indent="0" marL="0">
              <a:lnSpc>
                <a:spcPct val="105000"/>
              </a:lnSpc>
              <a:spcAft>
                <a:spcPts val="300"/>
              </a:spcAft>
              <a:buNone/>
            </a:pPr>
            <a:r>
              <a:rPr lang="en-US" sz="1200" dirty="0">
                <a:solidFill>
                  <a:srgbClr val="5A6473"/>
                </a:solidFill>
                <a:latin typeface="Adobe Clean" pitchFamily="34" charset="0"/>
                <a:ea typeface="Adobe Clean" pitchFamily="34" charset="-122"/>
                <a:cs typeface="Adobe Clean" pitchFamily="34" charset="-120"/>
              </a:rPr>
              <a:t>What still breaks, mapped to concrete fixes</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64240" cy="676656"/>
          </a:xfrm>
          <a:prstGeom prst="rect">
            <a:avLst/>
          </a:prstGeom>
          <a:noFill/>
          <a:ln/>
        </p:spPr>
        <p:txBody>
          <a:bodyPr wrap="square" lIns="0" tIns="0" rIns="0" bIns="0" rtlCol="0" anchor="t"/>
          <a:lstStyle/>
          <a:p>
            <a:pPr algn="l" indent="0" marL="0">
              <a:buNone/>
            </a:pPr>
            <a:r>
              <a:rPr lang="en-US" sz="2800" dirty="0">
                <a:solidFill>
                  <a:srgbClr val="EB1000"/>
                </a:solidFill>
                <a:latin typeface="Adobe Clean ExtraBold" pitchFamily="34" charset="0"/>
                <a:ea typeface="Adobe Clean ExtraBold" pitchFamily="34" charset="-122"/>
                <a:cs typeface="Adobe Clean ExtraBold" pitchFamily="34" charset="-120"/>
              </a:rPr>
              <a:t>The Optimization Task</a:t>
            </a:r>
            <a:endParaRPr lang="en-US" sz="2800" dirty="0"/>
          </a:p>
        </p:txBody>
      </p:sp>
      <p:sp>
        <p:nvSpPr>
          <p:cNvPr id="3" name="Text 1"/>
          <p:cNvSpPr/>
          <p:nvPr/>
        </p:nvSpPr>
        <p:spPr>
          <a:xfrm>
            <a:off x="566928" y="1060704"/>
            <a:ext cx="11064240" cy="384048"/>
          </a:xfrm>
          <a:prstGeom prst="rect">
            <a:avLst/>
          </a:prstGeom>
          <a:noFill/>
          <a:ln/>
        </p:spPr>
        <p:txBody>
          <a:bodyPr wrap="square" lIns="0" tIns="0" rIns="0" bIns="0" rtlCol="0" anchor="t"/>
          <a:lstStyle/>
          <a:p>
            <a:pPr algn="l" indent="0" marL="0">
              <a:buNone/>
            </a:pPr>
            <a:r>
              <a:rPr lang="en-US" sz="1450" dirty="0">
                <a:solidFill>
                  <a:srgbClr val="5A6473"/>
                </a:solidFill>
                <a:latin typeface="Adobe Clean" pitchFamily="34" charset="0"/>
                <a:ea typeface="Adobe Clean" pitchFamily="34" charset="-122"/>
                <a:cs typeface="Adobe Clean" pitchFamily="34" charset="-120"/>
              </a:rPr>
              <a:t>Reshape a pin-jointed frame until it is structurally sound, changing one member at a time.</a:t>
            </a:r>
            <a:endParaRPr lang="en-US" sz="1450" dirty="0"/>
          </a:p>
        </p:txBody>
      </p:sp>
      <p:pic>
        <p:nvPicPr>
          <p:cNvPr id="4" name="Image 0" descr="asset_truss_problem.png">    </p:cNvPr>
          <p:cNvPicPr>
            <a:picLocks noChangeAspect="1"/>
          </p:cNvPicPr>
          <p:nvPr/>
        </p:nvPicPr>
        <p:blipFill>
          <a:blip r:embed="rId1"/>
          <a:stretch>
            <a:fillRect/>
          </a:stretch>
        </p:blipFill>
        <p:spPr>
          <a:xfrm>
            <a:off x="521208" y="2011680"/>
            <a:ext cx="5486400" cy="2321169"/>
          </a:xfrm>
          <a:prstGeom prst="rect">
            <a:avLst/>
          </a:prstGeom>
        </p:spPr>
      </p:pic>
      <p:sp>
        <p:nvSpPr>
          <p:cNvPr id="5" name="Text 2"/>
          <p:cNvSpPr/>
          <p:nvPr/>
        </p:nvSpPr>
        <p:spPr>
          <a:xfrm>
            <a:off x="6400800" y="1627632"/>
            <a:ext cx="5212080" cy="365760"/>
          </a:xfrm>
          <a:prstGeom prst="rect">
            <a:avLst/>
          </a:prstGeom>
          <a:noFill/>
          <a:ln/>
        </p:spPr>
        <p:txBody>
          <a:bodyPr wrap="square" lIns="0" tIns="0" rIns="0" bIns="0" rtlCol="0" anchor="t"/>
          <a:lstStyle/>
          <a:p>
            <a:pPr algn="l" indent="0" marL="0">
              <a:buNone/>
            </a:pPr>
            <a:r>
              <a:rPr lang="en-US" sz="1500" dirty="0">
                <a:solidFill>
                  <a:srgbClr val="21304A"/>
                </a:solidFill>
                <a:latin typeface="Adobe Clean ExtraBold" pitchFamily="34" charset="0"/>
                <a:ea typeface="Adobe Clean ExtraBold" pitchFamily="34" charset="-122"/>
                <a:cs typeface="Adobe Clean ExtraBold" pitchFamily="34" charset="-120"/>
              </a:rPr>
              <a:t>Sound means three checks pass at the same time</a:t>
            </a:r>
            <a:endParaRPr lang="en-US" sz="1500" dirty="0"/>
          </a:p>
        </p:txBody>
      </p:sp>
      <p:sp>
        <p:nvSpPr>
          <p:cNvPr id="6" name="Shape 3"/>
          <p:cNvSpPr/>
          <p:nvPr/>
        </p:nvSpPr>
        <p:spPr>
          <a:xfrm>
            <a:off x="6400800" y="2084832"/>
            <a:ext cx="5212080" cy="713232"/>
          </a:xfrm>
          <a:prstGeom prst="roundRect">
            <a:avLst>
              <a:gd name="adj" fmla="val 11538"/>
            </a:avLst>
          </a:prstGeom>
          <a:solidFill>
            <a:srgbClr val="FFFFFF"/>
          </a:solidFill>
          <a:ln w="12700">
            <a:solidFill>
              <a:srgbClr val="D9DEE6"/>
            </a:solidFill>
            <a:prstDash val="solid"/>
          </a:ln>
        </p:spPr>
      </p:sp>
      <p:sp>
        <p:nvSpPr>
          <p:cNvPr id="7" name="Shape 4"/>
          <p:cNvSpPr/>
          <p:nvPr/>
        </p:nvSpPr>
        <p:spPr>
          <a:xfrm>
            <a:off x="6396228" y="2231136"/>
            <a:ext cx="68580" cy="420624"/>
          </a:xfrm>
          <a:prstGeom prst="roundRect">
            <a:avLst>
              <a:gd name="adj" fmla="val 53333"/>
            </a:avLst>
          </a:prstGeom>
          <a:solidFill>
            <a:srgbClr val="EB1000"/>
          </a:solidFill>
          <a:ln/>
        </p:spPr>
      </p:sp>
      <p:sp>
        <p:nvSpPr>
          <p:cNvPr id="8" name="Text 5"/>
          <p:cNvSpPr/>
          <p:nvPr/>
        </p:nvSpPr>
        <p:spPr>
          <a:xfrm>
            <a:off x="6647688" y="2121408"/>
            <a:ext cx="4828032" cy="640080"/>
          </a:xfrm>
          <a:prstGeom prst="rect">
            <a:avLst/>
          </a:prstGeom>
          <a:noFill/>
          <a:ln/>
        </p:spPr>
        <p:txBody>
          <a:bodyPr wrap="square" lIns="0" tIns="0" rIns="0" bIns="0" rtlCol="0" anchor="ctr"/>
          <a:lstStyle/>
          <a:p>
            <a:pPr algn="l" indent="0" marL="0">
              <a:lnSpc>
                <a:spcPct val="104000"/>
              </a:lnSpc>
              <a:spcAft>
                <a:spcPts val="200"/>
              </a:spcAft>
              <a:buNone/>
            </a:pPr>
            <a:r>
              <a:rPr lang="en-US" sz="1500" dirty="0">
                <a:solidFill>
                  <a:srgbClr val="21304A"/>
                </a:solidFill>
                <a:latin typeface="Adobe Clean ExtraBold" pitchFamily="34" charset="0"/>
                <a:ea typeface="Adobe Clean ExtraBold" pitchFamily="34" charset="-122"/>
                <a:cs typeface="Adobe Clean ExtraBold" pitchFamily="34" charset="-120"/>
              </a:rPr>
              <a:t>FOS_buckling ≥ 1.5</a:t>
            </a:r>
            <a:endParaRPr lang="en-US" sz="1500" dirty="0"/>
          </a:p>
          <a:p>
            <a:pPr algn="l" indent="0" marL="0">
              <a:lnSpc>
                <a:spcPct val="104000"/>
              </a:lnSpc>
              <a:spcAft>
                <a:spcPts val="200"/>
              </a:spcAft>
              <a:buNone/>
            </a:pPr>
            <a:r>
              <a:rPr lang="en-US" sz="1150" dirty="0">
                <a:solidFill>
                  <a:srgbClr val="5A6473"/>
                </a:solidFill>
                <a:latin typeface="Adobe Clean" pitchFamily="34" charset="0"/>
                <a:ea typeface="Adobe Clean" pitchFamily="34" charset="-122"/>
                <a:cs typeface="Adobe Clean" pitchFamily="34" charset="-120"/>
              </a:rPr>
              <a:t>the binding check, since slender members buckle first</a:t>
            </a:r>
            <a:endParaRPr lang="en-US" sz="1500" dirty="0"/>
          </a:p>
        </p:txBody>
      </p:sp>
      <p:sp>
        <p:nvSpPr>
          <p:cNvPr id="9" name="Shape 6"/>
          <p:cNvSpPr/>
          <p:nvPr/>
        </p:nvSpPr>
        <p:spPr>
          <a:xfrm>
            <a:off x="6400800" y="2926080"/>
            <a:ext cx="5212080" cy="713232"/>
          </a:xfrm>
          <a:prstGeom prst="roundRect">
            <a:avLst>
              <a:gd name="adj" fmla="val 11538"/>
            </a:avLst>
          </a:prstGeom>
          <a:solidFill>
            <a:srgbClr val="FFFFFF"/>
          </a:solidFill>
          <a:ln w="12700">
            <a:solidFill>
              <a:srgbClr val="D9DEE6"/>
            </a:solidFill>
            <a:prstDash val="solid"/>
          </a:ln>
        </p:spPr>
      </p:sp>
      <p:sp>
        <p:nvSpPr>
          <p:cNvPr id="10" name="Shape 7"/>
          <p:cNvSpPr/>
          <p:nvPr/>
        </p:nvSpPr>
        <p:spPr>
          <a:xfrm>
            <a:off x="6396228" y="3072384"/>
            <a:ext cx="68580" cy="420624"/>
          </a:xfrm>
          <a:prstGeom prst="roundRect">
            <a:avLst>
              <a:gd name="adj" fmla="val 53333"/>
            </a:avLst>
          </a:prstGeom>
          <a:solidFill>
            <a:srgbClr val="21304A"/>
          </a:solidFill>
          <a:ln/>
        </p:spPr>
      </p:sp>
      <p:sp>
        <p:nvSpPr>
          <p:cNvPr id="11" name="Text 8"/>
          <p:cNvSpPr/>
          <p:nvPr/>
        </p:nvSpPr>
        <p:spPr>
          <a:xfrm>
            <a:off x="6647688" y="2962656"/>
            <a:ext cx="4828032" cy="640080"/>
          </a:xfrm>
          <a:prstGeom prst="rect">
            <a:avLst/>
          </a:prstGeom>
          <a:noFill/>
          <a:ln/>
        </p:spPr>
        <p:txBody>
          <a:bodyPr wrap="square" lIns="0" tIns="0" rIns="0" bIns="0" rtlCol="0" anchor="ctr"/>
          <a:lstStyle/>
          <a:p>
            <a:pPr algn="l" indent="0" marL="0">
              <a:lnSpc>
                <a:spcPct val="104000"/>
              </a:lnSpc>
              <a:spcAft>
                <a:spcPts val="200"/>
              </a:spcAft>
              <a:buNone/>
            </a:pPr>
            <a:r>
              <a:rPr lang="en-US" sz="1500" dirty="0">
                <a:solidFill>
                  <a:srgbClr val="21304A"/>
                </a:solidFill>
                <a:latin typeface="Adobe Clean ExtraBold" pitchFamily="34" charset="0"/>
                <a:ea typeface="Adobe Clean ExtraBold" pitchFamily="34" charset="-122"/>
                <a:cs typeface="Adobe Clean ExtraBold" pitchFamily="34" charset="-120"/>
              </a:rPr>
              <a:t>FOS_yielding ≥ 1.5</a:t>
            </a:r>
            <a:endParaRPr lang="en-US" sz="1500" dirty="0"/>
          </a:p>
          <a:p>
            <a:pPr algn="l" indent="0" marL="0">
              <a:lnSpc>
                <a:spcPct val="104000"/>
              </a:lnSpc>
              <a:spcAft>
                <a:spcPts val="200"/>
              </a:spcAft>
              <a:buNone/>
            </a:pPr>
            <a:r>
              <a:rPr lang="en-US" sz="1150" dirty="0">
                <a:solidFill>
                  <a:srgbClr val="5A6473"/>
                </a:solidFill>
                <a:latin typeface="Adobe Clean" pitchFamily="34" charset="0"/>
                <a:ea typeface="Adobe Clean" pitchFamily="34" charset="-122"/>
                <a:cs typeface="Adobe Clean" pitchFamily="34" charset="-120"/>
              </a:rPr>
              <a:t>the material must not yield under the load</a:t>
            </a:r>
            <a:endParaRPr lang="en-US" sz="1500" dirty="0"/>
          </a:p>
        </p:txBody>
      </p:sp>
      <p:sp>
        <p:nvSpPr>
          <p:cNvPr id="12" name="Shape 9"/>
          <p:cNvSpPr/>
          <p:nvPr/>
        </p:nvSpPr>
        <p:spPr>
          <a:xfrm>
            <a:off x="6400800" y="3767328"/>
            <a:ext cx="5212080" cy="713232"/>
          </a:xfrm>
          <a:prstGeom prst="roundRect">
            <a:avLst>
              <a:gd name="adj" fmla="val 11538"/>
            </a:avLst>
          </a:prstGeom>
          <a:solidFill>
            <a:srgbClr val="FFFFFF"/>
          </a:solidFill>
          <a:ln w="12700">
            <a:solidFill>
              <a:srgbClr val="D9DEE6"/>
            </a:solidFill>
            <a:prstDash val="solid"/>
          </a:ln>
        </p:spPr>
      </p:sp>
      <p:sp>
        <p:nvSpPr>
          <p:cNvPr id="13" name="Shape 10"/>
          <p:cNvSpPr/>
          <p:nvPr/>
        </p:nvSpPr>
        <p:spPr>
          <a:xfrm>
            <a:off x="6396228" y="3913632"/>
            <a:ext cx="68580" cy="420624"/>
          </a:xfrm>
          <a:prstGeom prst="roundRect">
            <a:avLst>
              <a:gd name="adj" fmla="val 53333"/>
            </a:avLst>
          </a:prstGeom>
          <a:solidFill>
            <a:srgbClr val="0E7C7B"/>
          </a:solidFill>
          <a:ln/>
        </p:spPr>
      </p:sp>
      <p:sp>
        <p:nvSpPr>
          <p:cNvPr id="14" name="Text 11"/>
          <p:cNvSpPr/>
          <p:nvPr/>
        </p:nvSpPr>
        <p:spPr>
          <a:xfrm>
            <a:off x="6647688" y="3803904"/>
            <a:ext cx="4828032" cy="640080"/>
          </a:xfrm>
          <a:prstGeom prst="rect">
            <a:avLst/>
          </a:prstGeom>
          <a:noFill/>
          <a:ln/>
        </p:spPr>
        <p:txBody>
          <a:bodyPr wrap="square" lIns="0" tIns="0" rIns="0" bIns="0" rtlCol="0" anchor="ctr"/>
          <a:lstStyle/>
          <a:p>
            <a:pPr algn="l" indent="0" marL="0">
              <a:lnSpc>
                <a:spcPct val="104000"/>
              </a:lnSpc>
              <a:spcAft>
                <a:spcPts val="200"/>
              </a:spcAft>
              <a:buNone/>
            </a:pPr>
            <a:r>
              <a:rPr lang="en-US" sz="1500" dirty="0">
                <a:solidFill>
                  <a:srgbClr val="21304A"/>
                </a:solidFill>
                <a:latin typeface="Adobe Clean ExtraBold" pitchFamily="34" charset="0"/>
                <a:ea typeface="Adobe Clean ExtraBold" pitchFamily="34" charset="-122"/>
                <a:cs typeface="Adobe Clean ExtraBold" pitchFamily="34" charset="-120"/>
              </a:rPr>
              <a:t>mass ≤ limit</a:t>
            </a:r>
            <a:endParaRPr lang="en-US" sz="1500" dirty="0"/>
          </a:p>
          <a:p>
            <a:pPr algn="l" indent="0" marL="0">
              <a:lnSpc>
                <a:spcPct val="104000"/>
              </a:lnSpc>
              <a:spcAft>
                <a:spcPts val="200"/>
              </a:spcAft>
              <a:buNone/>
            </a:pPr>
            <a:r>
              <a:rPr lang="en-US" sz="1150" dirty="0">
                <a:solidFill>
                  <a:srgbClr val="5A6473"/>
                </a:solidFill>
                <a:latin typeface="Adobe Clean" pitchFamily="34" charset="0"/>
                <a:ea typeface="Adobe Clean" pitchFamily="34" charset="-122"/>
                <a:cs typeface="Adobe Clean" pitchFamily="34" charset="-120"/>
              </a:rPr>
              <a:t>and it must stay light, since strength alone is not enough</a:t>
            </a:r>
            <a:endParaRPr lang="en-US" sz="1500" dirty="0"/>
          </a:p>
        </p:txBody>
      </p:sp>
      <p:sp>
        <p:nvSpPr>
          <p:cNvPr id="15" name="Shape 12"/>
          <p:cNvSpPr/>
          <p:nvPr/>
        </p:nvSpPr>
        <p:spPr>
          <a:xfrm>
            <a:off x="6400800" y="4553712"/>
            <a:ext cx="5212080" cy="1783080"/>
          </a:xfrm>
          <a:prstGeom prst="roundRect">
            <a:avLst>
              <a:gd name="adj" fmla="val 5128"/>
            </a:avLst>
          </a:prstGeom>
          <a:solidFill>
            <a:srgbClr val="EEF1F6"/>
          </a:solidFill>
          <a:ln w="12700">
            <a:solidFill>
              <a:srgbClr val="D9DEE6"/>
            </a:solidFill>
            <a:prstDash val="solid"/>
          </a:ln>
        </p:spPr>
      </p:sp>
      <p:sp>
        <p:nvSpPr>
          <p:cNvPr id="16" name="Text 13"/>
          <p:cNvSpPr/>
          <p:nvPr/>
        </p:nvSpPr>
        <p:spPr>
          <a:xfrm>
            <a:off x="6620256" y="4718304"/>
            <a:ext cx="4773168" cy="384048"/>
          </a:xfrm>
          <a:prstGeom prst="rect">
            <a:avLst/>
          </a:prstGeom>
          <a:noFill/>
          <a:ln/>
        </p:spPr>
        <p:txBody>
          <a:bodyPr wrap="square" lIns="0" tIns="0" rIns="0" bIns="0" rtlCol="0" anchor="t"/>
          <a:lstStyle/>
          <a:p>
            <a:pPr algn="l" indent="0" marL="0">
              <a:buNone/>
            </a:pPr>
            <a:r>
              <a:rPr lang="en-US" sz="1400" dirty="0">
                <a:solidFill>
                  <a:srgbClr val="21304A"/>
                </a:solidFill>
                <a:latin typeface="Adobe Clean ExtraBold" pitchFamily="34" charset="0"/>
                <a:ea typeface="Adobe Clean ExtraBold" pitchFamily="34" charset="-122"/>
                <a:cs typeface="Adobe Clean ExtraBold" pitchFamily="34" charset="-120"/>
              </a:rPr>
              <a:t>The only move is one edit per turn</a:t>
            </a:r>
            <a:endParaRPr lang="en-US" sz="1400" dirty="0"/>
          </a:p>
        </p:txBody>
      </p:sp>
      <p:sp>
        <p:nvSpPr>
          <p:cNvPr id="17" name="Text 14"/>
          <p:cNvSpPr/>
          <p:nvPr/>
        </p:nvSpPr>
        <p:spPr>
          <a:xfrm>
            <a:off x="6620256" y="5138928"/>
            <a:ext cx="4773168" cy="1069848"/>
          </a:xfrm>
          <a:prstGeom prst="rect">
            <a:avLst/>
          </a:prstGeom>
          <a:noFill/>
          <a:ln/>
        </p:spPr>
        <p:txBody>
          <a:bodyPr wrap="square" lIns="0" tIns="0" rIns="0" bIns="0" rtlCol="0" anchor="t"/>
          <a:lstStyle/>
          <a:p>
            <a:pPr algn="l" indent="0" marL="0">
              <a:lnSpc>
                <a:spcPct val="112000"/>
              </a:lnSpc>
              <a:spcAft>
                <a:spcPts val="500"/>
              </a:spcAft>
              <a:buNone/>
            </a:pPr>
            <a:r>
              <a:rPr lang="en-US" sz="1250" dirty="0">
                <a:solidFill>
                  <a:srgbClr val="2C2C2C"/>
                </a:solidFill>
                <a:latin typeface="Adobe Clean" pitchFamily="34" charset="0"/>
                <a:ea typeface="Adobe Clean" pitchFamily="34" charset="-122"/>
                <a:cs typeface="Adobe Clean" pitchFamily="34" charset="-120"/>
              </a:rPr>
              <a:t>For example </a:t>
            </a:r>
            <a:pPr algn="l" indent="0" marL="0">
              <a:lnSpc>
                <a:spcPct val="112000"/>
              </a:lnSpc>
              <a:spcAft>
                <a:spcPts val="500"/>
              </a:spcAft>
              <a:buNone/>
            </a:pPr>
            <a:r>
              <a:rPr lang="en-US" sz="1200" dirty="0">
                <a:solidFill>
                  <a:srgbClr val="EB1000"/>
                </a:solidFill>
                <a:latin typeface="Courier New" pitchFamily="34" charset="0"/>
                <a:ea typeface="Courier New" pitchFamily="34" charset="-122"/>
                <a:cs typeface="Courier New" pitchFamily="34" charset="-120"/>
              </a:rPr>
              <a:t>SCALE_PARAM(4, r, 1.36)</a:t>
            </a:r>
            <a:pPr algn="l" indent="0" marL="0">
              <a:lnSpc>
                <a:spcPct val="112000"/>
              </a:lnSpc>
              <a:spcAft>
                <a:spcPts val="500"/>
              </a:spcAft>
              <a:buNone/>
            </a:pPr>
            <a:r>
              <a:rPr lang="en-US" sz="1250" dirty="0">
                <a:solidFill>
                  <a:srgbClr val="2C2C2C"/>
                </a:solidFill>
                <a:latin typeface="Adobe Clean" pitchFamily="34" charset="0"/>
                <a:ea typeface="Adobe Clean" pitchFamily="34" charset="-122"/>
                <a:cs typeface="Adobe Clean" pitchFamily="34" charset="-120"/>
              </a:rPr>
              <a:t>, which scales the radius of member 4. A physics solver then re-scores the design. The hard part is choosing which member to change. Here, member 4 (shown in red) is the one most likely to buckle.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64240" cy="676656"/>
          </a:xfrm>
          <a:prstGeom prst="rect">
            <a:avLst/>
          </a:prstGeom>
          <a:noFill/>
          <a:ln/>
        </p:spPr>
        <p:txBody>
          <a:bodyPr wrap="square" lIns="0" tIns="0" rIns="0" bIns="0" rtlCol="0" anchor="t"/>
          <a:lstStyle/>
          <a:p>
            <a:pPr algn="l" indent="0" marL="0">
              <a:buNone/>
            </a:pPr>
            <a:r>
              <a:rPr lang="en-US" sz="2800" dirty="0">
                <a:solidFill>
                  <a:srgbClr val="EB1000"/>
                </a:solidFill>
                <a:latin typeface="Adobe Clean ExtraBold" pitchFamily="34" charset="0"/>
                <a:ea typeface="Adobe Clean ExtraBold" pitchFamily="34" charset="-122"/>
                <a:cs typeface="Adobe Clean ExtraBold" pitchFamily="34" charset="-120"/>
              </a:rPr>
              <a:t>The Overall Method</a:t>
            </a:r>
            <a:endParaRPr lang="en-US" sz="2800" dirty="0"/>
          </a:p>
        </p:txBody>
      </p:sp>
      <p:sp>
        <p:nvSpPr>
          <p:cNvPr id="3" name="Text 1"/>
          <p:cNvSpPr/>
          <p:nvPr/>
        </p:nvSpPr>
        <p:spPr>
          <a:xfrm>
            <a:off x="566928" y="1060704"/>
            <a:ext cx="11064240" cy="384048"/>
          </a:xfrm>
          <a:prstGeom prst="rect">
            <a:avLst/>
          </a:prstGeom>
          <a:noFill/>
          <a:ln/>
        </p:spPr>
        <p:txBody>
          <a:bodyPr wrap="square" lIns="0" tIns="0" rIns="0" bIns="0" rtlCol="0" anchor="t"/>
          <a:lstStyle/>
          <a:p>
            <a:pPr algn="l" indent="0" marL="0">
              <a:buNone/>
            </a:pPr>
            <a:r>
              <a:rPr lang="en-US" sz="1450" dirty="0">
                <a:solidFill>
                  <a:srgbClr val="5A6473"/>
                </a:solidFill>
                <a:latin typeface="Adobe Clean" pitchFamily="34" charset="0"/>
                <a:ea typeface="Adobe Clean" pitchFamily="34" charset="-122"/>
                <a:cs typeface="Adobe Clean" pitchFamily="34" charset="-120"/>
              </a:rPr>
              <a:t>We train a language model to repair the truss step by step, then let it work with a physics solver.</a:t>
            </a:r>
            <a:endParaRPr lang="en-US" sz="1450" dirty="0"/>
          </a:p>
        </p:txBody>
      </p:sp>
      <p:sp>
        <p:nvSpPr>
          <p:cNvPr id="4" name="Text 2"/>
          <p:cNvSpPr/>
          <p:nvPr/>
        </p:nvSpPr>
        <p:spPr>
          <a:xfrm>
            <a:off x="566928" y="1554480"/>
            <a:ext cx="3657600" cy="274320"/>
          </a:xfrm>
          <a:prstGeom prst="rect">
            <a:avLst/>
          </a:prstGeom>
          <a:noFill/>
          <a:ln/>
        </p:spPr>
        <p:txBody>
          <a:bodyPr wrap="square" lIns="0" tIns="0" rIns="0" bIns="0" rtlCol="0" anchor="ctr"/>
          <a:lstStyle/>
          <a:p>
            <a:pPr indent="0" marL="0">
              <a:buNone/>
            </a:pPr>
            <a:r>
              <a:rPr lang="en-US" sz="1200" spc="100" kern="0" dirty="0">
                <a:solidFill>
                  <a:srgbClr val="5A6473"/>
                </a:solidFill>
                <a:latin typeface="Adobe Clean ExtraBold" pitchFamily="34" charset="0"/>
                <a:ea typeface="Adobe Clean ExtraBold" pitchFamily="34" charset="-122"/>
                <a:cs typeface="Adobe Clean ExtraBold" pitchFamily="34" charset="-120"/>
              </a:rPr>
              <a:t>Two training phases</a:t>
            </a:r>
            <a:endParaRPr lang="en-US" sz="1200" dirty="0"/>
          </a:p>
        </p:txBody>
      </p:sp>
      <p:sp>
        <p:nvSpPr>
          <p:cNvPr id="5" name="Shape 3"/>
          <p:cNvSpPr/>
          <p:nvPr/>
        </p:nvSpPr>
        <p:spPr>
          <a:xfrm>
            <a:off x="566928" y="1847088"/>
            <a:ext cx="3520440" cy="914400"/>
          </a:xfrm>
          <a:prstGeom prst="roundRect">
            <a:avLst>
              <a:gd name="adj" fmla="val 9000"/>
            </a:avLst>
          </a:prstGeom>
          <a:solidFill>
            <a:srgbClr val="FFFFFF"/>
          </a:solidFill>
          <a:ln w="12700">
            <a:solidFill>
              <a:srgbClr val="D9DEE6"/>
            </a:solidFill>
            <a:prstDash val="solid"/>
          </a:ln>
        </p:spPr>
      </p:sp>
      <p:sp>
        <p:nvSpPr>
          <p:cNvPr id="6" name="Shape 4"/>
          <p:cNvSpPr/>
          <p:nvPr/>
        </p:nvSpPr>
        <p:spPr>
          <a:xfrm>
            <a:off x="562356" y="1993392"/>
            <a:ext cx="68580" cy="621792"/>
          </a:xfrm>
          <a:prstGeom prst="roundRect">
            <a:avLst>
              <a:gd name="adj" fmla="val 53333"/>
            </a:avLst>
          </a:prstGeom>
          <a:solidFill>
            <a:srgbClr val="21304A"/>
          </a:solidFill>
          <a:ln/>
        </p:spPr>
      </p:sp>
      <p:sp>
        <p:nvSpPr>
          <p:cNvPr id="7" name="Text 5"/>
          <p:cNvSpPr/>
          <p:nvPr/>
        </p:nvSpPr>
        <p:spPr>
          <a:xfrm>
            <a:off x="813816" y="1883664"/>
            <a:ext cx="3136392" cy="841248"/>
          </a:xfrm>
          <a:prstGeom prst="rect">
            <a:avLst/>
          </a:prstGeom>
          <a:noFill/>
          <a:ln/>
        </p:spPr>
        <p:txBody>
          <a:bodyPr wrap="square" lIns="0" tIns="0" rIns="0" bIns="0" rtlCol="0" anchor="ctr"/>
          <a:lstStyle/>
          <a:p>
            <a:pPr algn="l" indent="0" marL="0">
              <a:lnSpc>
                <a:spcPct val="104000"/>
              </a:lnSpc>
              <a:spcAft>
                <a:spcPts val="200"/>
              </a:spcAft>
              <a:buNone/>
            </a:pPr>
            <a:r>
              <a:rPr lang="en-US" sz="1500" dirty="0">
                <a:solidFill>
                  <a:srgbClr val="21304A"/>
                </a:solidFill>
                <a:latin typeface="Adobe Clean ExtraBold" pitchFamily="34" charset="0"/>
                <a:ea typeface="Adobe Clean ExtraBold" pitchFamily="34" charset="-122"/>
                <a:cs typeface="Adobe Clean ExtraBold" pitchFamily="34" charset="-120"/>
              </a:rPr>
              <a:t>1. SFT warmstart</a:t>
            </a:r>
            <a:endParaRPr lang="en-US" sz="1500" dirty="0"/>
          </a:p>
          <a:p>
            <a:pPr algn="l" indent="0" marL="0">
              <a:lnSpc>
                <a:spcPct val="104000"/>
              </a:lnSpc>
              <a:spcAft>
                <a:spcPts val="200"/>
              </a:spcAft>
              <a:buNone/>
            </a:pPr>
            <a:r>
              <a:rPr lang="en-US" sz="1150" dirty="0">
                <a:solidFill>
                  <a:srgbClr val="5A6473"/>
                </a:solidFill>
                <a:latin typeface="Adobe Clean" pitchFamily="34" charset="0"/>
                <a:ea typeface="Adobe Clean" pitchFamily="34" charset="-122"/>
                <a:cs typeface="Adobe Clean" pitchFamily="34" charset="-120"/>
              </a:rPr>
              <a:t>teach the model the response format</a:t>
            </a:r>
            <a:endParaRPr lang="en-US" sz="1500" dirty="0"/>
          </a:p>
        </p:txBody>
      </p:sp>
      <p:sp>
        <p:nvSpPr>
          <p:cNvPr id="8" name="Shape 6"/>
          <p:cNvSpPr/>
          <p:nvPr/>
        </p:nvSpPr>
        <p:spPr>
          <a:xfrm>
            <a:off x="4224528" y="2121408"/>
            <a:ext cx="314919" cy="384048"/>
          </a:xfrm>
          <a:prstGeom prst="chevron">
            <a:avLst/>
          </a:prstGeom>
          <a:solidFill>
            <a:srgbClr val="C4CAD4"/>
          </a:solidFill>
          <a:ln/>
        </p:spPr>
      </p:sp>
      <p:sp>
        <p:nvSpPr>
          <p:cNvPr id="9" name="Shape 7"/>
          <p:cNvSpPr/>
          <p:nvPr/>
        </p:nvSpPr>
        <p:spPr>
          <a:xfrm>
            <a:off x="4727448" y="1847088"/>
            <a:ext cx="3611880" cy="914400"/>
          </a:xfrm>
          <a:prstGeom prst="roundRect">
            <a:avLst>
              <a:gd name="adj" fmla="val 9000"/>
            </a:avLst>
          </a:prstGeom>
          <a:solidFill>
            <a:srgbClr val="FFFFFF"/>
          </a:solidFill>
          <a:ln w="12700">
            <a:solidFill>
              <a:srgbClr val="D9DEE6"/>
            </a:solidFill>
            <a:prstDash val="solid"/>
          </a:ln>
        </p:spPr>
      </p:sp>
      <p:sp>
        <p:nvSpPr>
          <p:cNvPr id="10" name="Shape 8"/>
          <p:cNvSpPr/>
          <p:nvPr/>
        </p:nvSpPr>
        <p:spPr>
          <a:xfrm>
            <a:off x="4722876" y="1993392"/>
            <a:ext cx="68580" cy="621792"/>
          </a:xfrm>
          <a:prstGeom prst="roundRect">
            <a:avLst>
              <a:gd name="adj" fmla="val 53333"/>
            </a:avLst>
          </a:prstGeom>
          <a:solidFill>
            <a:srgbClr val="EB1000"/>
          </a:solidFill>
          <a:ln/>
        </p:spPr>
      </p:sp>
      <p:sp>
        <p:nvSpPr>
          <p:cNvPr id="11" name="Text 9"/>
          <p:cNvSpPr/>
          <p:nvPr/>
        </p:nvSpPr>
        <p:spPr>
          <a:xfrm>
            <a:off x="4974336" y="1883664"/>
            <a:ext cx="3227832" cy="841248"/>
          </a:xfrm>
          <a:prstGeom prst="rect">
            <a:avLst/>
          </a:prstGeom>
          <a:noFill/>
          <a:ln/>
        </p:spPr>
        <p:txBody>
          <a:bodyPr wrap="square" lIns="0" tIns="0" rIns="0" bIns="0" rtlCol="0" anchor="ctr"/>
          <a:lstStyle/>
          <a:p>
            <a:pPr algn="l" indent="0" marL="0">
              <a:lnSpc>
                <a:spcPct val="104000"/>
              </a:lnSpc>
              <a:spcAft>
                <a:spcPts val="200"/>
              </a:spcAft>
              <a:buNone/>
            </a:pPr>
            <a:r>
              <a:rPr lang="en-US" sz="1500" dirty="0">
                <a:solidFill>
                  <a:srgbClr val="21304A"/>
                </a:solidFill>
                <a:latin typeface="Adobe Clean ExtraBold" pitchFamily="34" charset="0"/>
                <a:ea typeface="Adobe Clean ExtraBold" pitchFamily="34" charset="-122"/>
                <a:cs typeface="Adobe Clean ExtraBold" pitchFamily="34" charset="-120"/>
              </a:rPr>
              <a:t>2. GRPO</a:t>
            </a:r>
            <a:endParaRPr lang="en-US" sz="1500" dirty="0"/>
          </a:p>
          <a:p>
            <a:pPr algn="l" indent="0" marL="0">
              <a:lnSpc>
                <a:spcPct val="104000"/>
              </a:lnSpc>
              <a:spcAft>
                <a:spcPts val="200"/>
              </a:spcAft>
              <a:buNone/>
            </a:pPr>
            <a:r>
              <a:rPr lang="en-US" sz="1150" dirty="0">
                <a:solidFill>
                  <a:srgbClr val="5A6473"/>
                </a:solidFill>
                <a:latin typeface="Adobe Clean" pitchFamily="34" charset="0"/>
                <a:ea typeface="Adobe Clean" pitchFamily="34" charset="-122"/>
                <a:cs typeface="Adobe Clean" pitchFamily="34" charset="-120"/>
              </a:rPr>
              <a:t>reward it for getting closer to feasible</a:t>
            </a:r>
            <a:endParaRPr lang="en-US" sz="1500" dirty="0"/>
          </a:p>
        </p:txBody>
      </p:sp>
      <p:sp>
        <p:nvSpPr>
          <p:cNvPr id="12" name="Text 10"/>
          <p:cNvSpPr/>
          <p:nvPr/>
        </p:nvSpPr>
        <p:spPr>
          <a:xfrm>
            <a:off x="8567928" y="1993392"/>
            <a:ext cx="3383280" cy="640080"/>
          </a:xfrm>
          <a:prstGeom prst="rect">
            <a:avLst/>
          </a:prstGeom>
          <a:noFill/>
          <a:ln/>
        </p:spPr>
        <p:txBody>
          <a:bodyPr wrap="square" lIns="0" tIns="0" rIns="0" bIns="0" rtlCol="0" anchor="ctr"/>
          <a:lstStyle/>
          <a:p>
            <a:pPr algn="l" indent="0" marL="0">
              <a:lnSpc>
                <a:spcPct val="105000"/>
              </a:lnSpc>
              <a:buNone/>
            </a:pPr>
            <a:r>
              <a:rPr lang="en-US" sz="1100" dirty="0">
                <a:solidFill>
                  <a:srgbClr val="5A6473"/>
                </a:solidFill>
                <a:latin typeface="Adobe Clean" pitchFamily="34" charset="0"/>
                <a:ea typeface="Adobe Clean" pitchFamily="34" charset="-122"/>
                <a:cs typeface="Adobe Clean" pitchFamily="34" charset="-120"/>
              </a:rPr>
              <a:t>base model
</a:t>
            </a:r>
            <a:pPr algn="l" indent="0" marL="0">
              <a:lnSpc>
                <a:spcPct val="105000"/>
              </a:lnSpc>
              <a:buNone/>
            </a:pPr>
            <a:r>
              <a:rPr lang="en-US" sz="1350" dirty="0">
                <a:solidFill>
                  <a:srgbClr val="21304A"/>
                </a:solidFill>
                <a:latin typeface="Adobe Clean ExtraBold" pitchFamily="34" charset="0"/>
                <a:ea typeface="Adobe Clean ExtraBold" pitchFamily="34" charset="-122"/>
                <a:cs typeface="Adobe Clean ExtraBold" pitchFamily="34" charset="-120"/>
              </a:rPr>
              <a:t>Qwen3-14B · LoRA r = 32</a:t>
            </a:r>
            <a:endParaRPr lang="en-US" sz="1100" dirty="0"/>
          </a:p>
        </p:txBody>
      </p:sp>
      <p:sp>
        <p:nvSpPr>
          <p:cNvPr id="13" name="Text 11"/>
          <p:cNvSpPr/>
          <p:nvPr/>
        </p:nvSpPr>
        <p:spPr>
          <a:xfrm>
            <a:off x="566928" y="3154680"/>
            <a:ext cx="4572000" cy="274320"/>
          </a:xfrm>
          <a:prstGeom prst="rect">
            <a:avLst/>
          </a:prstGeom>
          <a:noFill/>
          <a:ln/>
        </p:spPr>
        <p:txBody>
          <a:bodyPr wrap="square" lIns="0" tIns="0" rIns="0" bIns="0" rtlCol="0" anchor="ctr"/>
          <a:lstStyle/>
          <a:p>
            <a:pPr indent="0" marL="0">
              <a:buNone/>
            </a:pPr>
            <a:r>
              <a:rPr lang="en-US" sz="1200" spc="100" kern="0" dirty="0">
                <a:solidFill>
                  <a:srgbClr val="5A6473"/>
                </a:solidFill>
                <a:latin typeface="Adobe Clean ExtraBold" pitchFamily="34" charset="0"/>
                <a:ea typeface="Adobe Clean ExtraBold" pitchFamily="34" charset="-122"/>
                <a:cs typeface="Adobe Clean ExtraBold" pitchFamily="34" charset="-120"/>
              </a:rPr>
              <a:t>Then it works one turn at a time</a:t>
            </a:r>
            <a:endParaRPr lang="en-US" sz="1200" dirty="0"/>
          </a:p>
        </p:txBody>
      </p:sp>
      <p:sp>
        <p:nvSpPr>
          <p:cNvPr id="14" name="Shape 12"/>
          <p:cNvSpPr/>
          <p:nvPr/>
        </p:nvSpPr>
        <p:spPr>
          <a:xfrm>
            <a:off x="566928" y="3511296"/>
            <a:ext cx="2542032" cy="1234440"/>
          </a:xfrm>
          <a:prstGeom prst="roundRect">
            <a:avLst>
              <a:gd name="adj" fmla="val 6667"/>
            </a:avLst>
          </a:prstGeom>
          <a:solidFill>
            <a:srgbClr val="FFFFFF"/>
          </a:solidFill>
          <a:ln w="12700">
            <a:solidFill>
              <a:srgbClr val="D9DEE6"/>
            </a:solidFill>
            <a:prstDash val="solid"/>
          </a:ln>
        </p:spPr>
      </p:sp>
      <p:sp>
        <p:nvSpPr>
          <p:cNvPr id="15" name="Shape 13"/>
          <p:cNvSpPr/>
          <p:nvPr/>
        </p:nvSpPr>
        <p:spPr>
          <a:xfrm>
            <a:off x="562356" y="3657600"/>
            <a:ext cx="68580" cy="941832"/>
          </a:xfrm>
          <a:prstGeom prst="roundRect">
            <a:avLst>
              <a:gd name="adj" fmla="val 53333"/>
            </a:avLst>
          </a:prstGeom>
          <a:solidFill>
            <a:srgbClr val="21304A"/>
          </a:solidFill>
          <a:ln/>
        </p:spPr>
      </p:sp>
      <p:sp>
        <p:nvSpPr>
          <p:cNvPr id="16" name="Text 14"/>
          <p:cNvSpPr/>
          <p:nvPr/>
        </p:nvSpPr>
        <p:spPr>
          <a:xfrm>
            <a:off x="804672" y="3657600"/>
            <a:ext cx="2130552" cy="365760"/>
          </a:xfrm>
          <a:prstGeom prst="rect">
            <a:avLst/>
          </a:prstGeom>
          <a:noFill/>
          <a:ln/>
        </p:spPr>
        <p:txBody>
          <a:bodyPr wrap="square" lIns="0" tIns="0" rIns="0" bIns="0" rtlCol="0" anchor="t"/>
          <a:lstStyle/>
          <a:p>
            <a:pPr algn="l" indent="0" marL="0">
              <a:buNone/>
            </a:pPr>
            <a:r>
              <a:rPr lang="en-US" sz="1700" dirty="0">
                <a:solidFill>
                  <a:srgbClr val="21304A"/>
                </a:solidFill>
                <a:latin typeface="Adobe Clean ExtraBold" pitchFamily="34" charset="0"/>
                <a:ea typeface="Adobe Clean ExtraBold" pitchFamily="34" charset="-122"/>
                <a:cs typeface="Adobe Clean ExtraBold" pitchFamily="34" charset="-120"/>
              </a:rPr>
              <a:t>think</a:t>
            </a:r>
            <a:endParaRPr lang="en-US" sz="1700" dirty="0"/>
          </a:p>
        </p:txBody>
      </p:sp>
      <p:sp>
        <p:nvSpPr>
          <p:cNvPr id="17" name="Text 15"/>
          <p:cNvSpPr/>
          <p:nvPr/>
        </p:nvSpPr>
        <p:spPr>
          <a:xfrm>
            <a:off x="804672" y="4078224"/>
            <a:ext cx="2130552" cy="576072"/>
          </a:xfrm>
          <a:prstGeom prst="rect">
            <a:avLst/>
          </a:prstGeom>
          <a:noFill/>
          <a:ln/>
        </p:spPr>
        <p:txBody>
          <a:bodyPr wrap="square" lIns="0" tIns="0" rIns="0" bIns="0" rtlCol="0" anchor="t"/>
          <a:lstStyle/>
          <a:p>
            <a:pPr algn="l" indent="0" marL="0">
              <a:lnSpc>
                <a:spcPct val="108000"/>
              </a:lnSpc>
              <a:buNone/>
            </a:pPr>
            <a:r>
              <a:rPr lang="en-US" sz="1150" dirty="0">
                <a:solidFill>
                  <a:srgbClr val="5A6473"/>
                </a:solidFill>
                <a:latin typeface="Adobe Clean" pitchFamily="34" charset="0"/>
                <a:ea typeface="Adobe Clean" pitchFamily="34" charset="-122"/>
                <a:cs typeface="Adobe Clean" pitchFamily="34" charset="-120"/>
              </a:rPr>
              <a:t>read the results and</a:t>
            </a:r>
            <a:endParaRPr lang="en-US" sz="1150" dirty="0"/>
          </a:p>
          <a:p>
            <a:pPr algn="l" indent="0" marL="0">
              <a:lnSpc>
                <a:spcPct val="108000"/>
              </a:lnSpc>
              <a:buNone/>
            </a:pPr>
            <a:r>
              <a:rPr lang="en-US" sz="1150" dirty="0">
                <a:solidFill>
                  <a:srgbClr val="5A6473"/>
                </a:solidFill>
                <a:latin typeface="Adobe Clean" pitchFamily="34" charset="0"/>
                <a:ea typeface="Adobe Clean" pitchFamily="34" charset="-122"/>
                <a:cs typeface="Adobe Clean" pitchFamily="34" charset="-120"/>
              </a:rPr>
              <a:t>decide what is wrong</a:t>
            </a:r>
            <a:endParaRPr lang="en-US" sz="1150" dirty="0"/>
          </a:p>
        </p:txBody>
      </p:sp>
      <p:sp>
        <p:nvSpPr>
          <p:cNvPr id="18" name="Shape 16"/>
          <p:cNvSpPr/>
          <p:nvPr/>
        </p:nvSpPr>
        <p:spPr>
          <a:xfrm>
            <a:off x="3163824" y="3945636"/>
            <a:ext cx="299923" cy="365760"/>
          </a:xfrm>
          <a:prstGeom prst="chevron">
            <a:avLst/>
          </a:prstGeom>
          <a:solidFill>
            <a:srgbClr val="C4CAD4"/>
          </a:solidFill>
          <a:ln/>
        </p:spPr>
      </p:sp>
      <p:sp>
        <p:nvSpPr>
          <p:cNvPr id="19" name="Shape 17"/>
          <p:cNvSpPr/>
          <p:nvPr/>
        </p:nvSpPr>
        <p:spPr>
          <a:xfrm>
            <a:off x="3493008" y="3511296"/>
            <a:ext cx="2542032" cy="1234440"/>
          </a:xfrm>
          <a:prstGeom prst="roundRect">
            <a:avLst>
              <a:gd name="adj" fmla="val 6667"/>
            </a:avLst>
          </a:prstGeom>
          <a:solidFill>
            <a:srgbClr val="FFFFFF"/>
          </a:solidFill>
          <a:ln w="12700">
            <a:solidFill>
              <a:srgbClr val="D9DEE6"/>
            </a:solidFill>
            <a:prstDash val="solid"/>
          </a:ln>
        </p:spPr>
      </p:sp>
      <p:sp>
        <p:nvSpPr>
          <p:cNvPr id="20" name="Shape 18"/>
          <p:cNvSpPr/>
          <p:nvPr/>
        </p:nvSpPr>
        <p:spPr>
          <a:xfrm>
            <a:off x="3488436" y="3657600"/>
            <a:ext cx="68580" cy="941832"/>
          </a:xfrm>
          <a:prstGeom prst="roundRect">
            <a:avLst>
              <a:gd name="adj" fmla="val 53333"/>
            </a:avLst>
          </a:prstGeom>
          <a:solidFill>
            <a:srgbClr val="1E8449"/>
          </a:solidFill>
          <a:ln/>
        </p:spPr>
      </p:sp>
      <p:sp>
        <p:nvSpPr>
          <p:cNvPr id="21" name="Text 19"/>
          <p:cNvSpPr/>
          <p:nvPr/>
        </p:nvSpPr>
        <p:spPr>
          <a:xfrm>
            <a:off x="3730752" y="3657600"/>
            <a:ext cx="2130552" cy="365760"/>
          </a:xfrm>
          <a:prstGeom prst="rect">
            <a:avLst/>
          </a:prstGeom>
          <a:noFill/>
          <a:ln/>
        </p:spPr>
        <p:txBody>
          <a:bodyPr wrap="square" lIns="0" tIns="0" rIns="0" bIns="0" rtlCol="0" anchor="t"/>
          <a:lstStyle/>
          <a:p>
            <a:pPr algn="l" indent="0" marL="0">
              <a:buNone/>
            </a:pPr>
            <a:r>
              <a:rPr lang="en-US" sz="1700" dirty="0">
                <a:solidFill>
                  <a:srgbClr val="1E8449"/>
                </a:solidFill>
                <a:latin typeface="Adobe Clean ExtraBold" pitchFamily="34" charset="0"/>
                <a:ea typeface="Adobe Clean ExtraBold" pitchFamily="34" charset="-122"/>
                <a:cs typeface="Adobe Clean ExtraBold" pitchFamily="34" charset="-120"/>
              </a:rPr>
              <a:t>act</a:t>
            </a:r>
            <a:endParaRPr lang="en-US" sz="1700" dirty="0"/>
          </a:p>
        </p:txBody>
      </p:sp>
      <p:sp>
        <p:nvSpPr>
          <p:cNvPr id="22" name="Text 20"/>
          <p:cNvSpPr/>
          <p:nvPr/>
        </p:nvSpPr>
        <p:spPr>
          <a:xfrm>
            <a:off x="3730752" y="4078224"/>
            <a:ext cx="2130552" cy="576072"/>
          </a:xfrm>
          <a:prstGeom prst="rect">
            <a:avLst/>
          </a:prstGeom>
          <a:noFill/>
          <a:ln/>
        </p:spPr>
        <p:txBody>
          <a:bodyPr wrap="square" lIns="0" tIns="0" rIns="0" bIns="0" rtlCol="0" anchor="t"/>
          <a:lstStyle/>
          <a:p>
            <a:pPr algn="l" indent="0" marL="0">
              <a:lnSpc>
                <a:spcPct val="108000"/>
              </a:lnSpc>
              <a:buNone/>
            </a:pPr>
            <a:r>
              <a:rPr lang="en-US" sz="1150" dirty="0">
                <a:solidFill>
                  <a:srgbClr val="5A6473"/>
                </a:solidFill>
                <a:latin typeface="Adobe Clean" pitchFamily="34" charset="0"/>
                <a:ea typeface="Adobe Clean" pitchFamily="34" charset="-122"/>
                <a:cs typeface="Adobe Clean" pitchFamily="34" charset="-120"/>
              </a:rPr>
              <a:t>make one change</a:t>
            </a:r>
            <a:endParaRPr lang="en-US" sz="1150" dirty="0"/>
          </a:p>
          <a:p>
            <a:pPr algn="l" indent="0" marL="0">
              <a:lnSpc>
                <a:spcPct val="108000"/>
              </a:lnSpc>
              <a:buNone/>
            </a:pPr>
            <a:r>
              <a:rPr lang="en-US" sz="1150" dirty="0">
                <a:solidFill>
                  <a:srgbClr val="5A6473"/>
                </a:solidFill>
                <a:latin typeface="Adobe Clean" pitchFamily="34" charset="0"/>
                <a:ea typeface="Adobe Clean" pitchFamily="34" charset="-122"/>
                <a:cs typeface="Adobe Clean" pitchFamily="34" charset="-120"/>
              </a:rPr>
              <a:t>to the truss</a:t>
            </a:r>
            <a:endParaRPr lang="en-US" sz="1150" dirty="0"/>
          </a:p>
        </p:txBody>
      </p:sp>
      <p:sp>
        <p:nvSpPr>
          <p:cNvPr id="23" name="Shape 21"/>
          <p:cNvSpPr/>
          <p:nvPr/>
        </p:nvSpPr>
        <p:spPr>
          <a:xfrm>
            <a:off x="6089904" y="3945636"/>
            <a:ext cx="299923" cy="365760"/>
          </a:xfrm>
          <a:prstGeom prst="chevron">
            <a:avLst/>
          </a:prstGeom>
          <a:solidFill>
            <a:srgbClr val="C4CAD4"/>
          </a:solidFill>
          <a:ln/>
        </p:spPr>
      </p:sp>
      <p:sp>
        <p:nvSpPr>
          <p:cNvPr id="24" name="Shape 22"/>
          <p:cNvSpPr/>
          <p:nvPr/>
        </p:nvSpPr>
        <p:spPr>
          <a:xfrm>
            <a:off x="6419088" y="3511296"/>
            <a:ext cx="2542032" cy="1234440"/>
          </a:xfrm>
          <a:prstGeom prst="roundRect">
            <a:avLst>
              <a:gd name="adj" fmla="val 6667"/>
            </a:avLst>
          </a:prstGeom>
          <a:solidFill>
            <a:srgbClr val="FFFFFF"/>
          </a:solidFill>
          <a:ln w="12700">
            <a:solidFill>
              <a:srgbClr val="D9DEE6"/>
            </a:solidFill>
            <a:prstDash val="solid"/>
          </a:ln>
        </p:spPr>
      </p:sp>
      <p:sp>
        <p:nvSpPr>
          <p:cNvPr id="25" name="Shape 23"/>
          <p:cNvSpPr/>
          <p:nvPr/>
        </p:nvSpPr>
        <p:spPr>
          <a:xfrm>
            <a:off x="6414516" y="3657600"/>
            <a:ext cx="68580" cy="941832"/>
          </a:xfrm>
          <a:prstGeom prst="roundRect">
            <a:avLst>
              <a:gd name="adj" fmla="val 53333"/>
            </a:avLst>
          </a:prstGeom>
          <a:solidFill>
            <a:srgbClr val="0E7C7B"/>
          </a:solidFill>
          <a:ln/>
        </p:spPr>
      </p:sp>
      <p:sp>
        <p:nvSpPr>
          <p:cNvPr id="26" name="Text 24"/>
          <p:cNvSpPr/>
          <p:nvPr/>
        </p:nvSpPr>
        <p:spPr>
          <a:xfrm>
            <a:off x="6656832" y="3657600"/>
            <a:ext cx="2130552" cy="365760"/>
          </a:xfrm>
          <a:prstGeom prst="rect">
            <a:avLst/>
          </a:prstGeom>
          <a:noFill/>
          <a:ln/>
        </p:spPr>
        <p:txBody>
          <a:bodyPr wrap="square" lIns="0" tIns="0" rIns="0" bIns="0" rtlCol="0" anchor="t"/>
          <a:lstStyle/>
          <a:p>
            <a:pPr algn="l" indent="0" marL="0">
              <a:buNone/>
            </a:pPr>
            <a:r>
              <a:rPr lang="en-US" sz="1700" dirty="0">
                <a:solidFill>
                  <a:srgbClr val="0E7C7B"/>
                </a:solidFill>
                <a:latin typeface="Adobe Clean ExtraBold" pitchFamily="34" charset="0"/>
                <a:ea typeface="Adobe Clean ExtraBold" pitchFamily="34" charset="-122"/>
                <a:cs typeface="Adobe Clean ExtraBold" pitchFamily="34" charset="-120"/>
              </a:rPr>
              <a:t>simulate</a:t>
            </a:r>
            <a:endParaRPr lang="en-US" sz="1700" dirty="0"/>
          </a:p>
        </p:txBody>
      </p:sp>
      <p:sp>
        <p:nvSpPr>
          <p:cNvPr id="27" name="Text 25"/>
          <p:cNvSpPr/>
          <p:nvPr/>
        </p:nvSpPr>
        <p:spPr>
          <a:xfrm>
            <a:off x="6656832" y="4078224"/>
            <a:ext cx="2130552" cy="576072"/>
          </a:xfrm>
          <a:prstGeom prst="rect">
            <a:avLst/>
          </a:prstGeom>
          <a:noFill/>
          <a:ln/>
        </p:spPr>
        <p:txBody>
          <a:bodyPr wrap="square" lIns="0" tIns="0" rIns="0" bIns="0" rtlCol="0" anchor="t"/>
          <a:lstStyle/>
          <a:p>
            <a:pPr algn="l" indent="0" marL="0">
              <a:lnSpc>
                <a:spcPct val="108000"/>
              </a:lnSpc>
              <a:buNone/>
            </a:pPr>
            <a:r>
              <a:rPr lang="en-US" sz="1150" dirty="0">
                <a:solidFill>
                  <a:srgbClr val="5A6473"/>
                </a:solidFill>
                <a:latin typeface="Adobe Clean" pitchFamily="34" charset="0"/>
                <a:ea typeface="Adobe Clean" pitchFamily="34" charset="-122"/>
                <a:cs typeface="Adobe Clean" pitchFamily="34" charset="-120"/>
              </a:rPr>
              <a:t>a physics solver tests</a:t>
            </a:r>
            <a:endParaRPr lang="en-US" sz="1150" dirty="0"/>
          </a:p>
          <a:p>
            <a:pPr algn="l" indent="0" marL="0">
              <a:lnSpc>
                <a:spcPct val="108000"/>
              </a:lnSpc>
              <a:buNone/>
            </a:pPr>
            <a:r>
              <a:rPr lang="en-US" sz="1150" dirty="0">
                <a:solidFill>
                  <a:srgbClr val="5A6473"/>
                </a:solidFill>
                <a:latin typeface="Adobe Clean" pitchFamily="34" charset="0"/>
                <a:ea typeface="Adobe Clean" pitchFamily="34" charset="-122"/>
                <a:cs typeface="Adobe Clean" pitchFamily="34" charset="-120"/>
              </a:rPr>
              <a:t>the new design</a:t>
            </a:r>
            <a:endParaRPr lang="en-US" sz="1150" dirty="0"/>
          </a:p>
        </p:txBody>
      </p:sp>
      <p:sp>
        <p:nvSpPr>
          <p:cNvPr id="28" name="Shape 26"/>
          <p:cNvSpPr/>
          <p:nvPr/>
        </p:nvSpPr>
        <p:spPr>
          <a:xfrm>
            <a:off x="9015984" y="3945636"/>
            <a:ext cx="299923" cy="365760"/>
          </a:xfrm>
          <a:prstGeom prst="chevron">
            <a:avLst/>
          </a:prstGeom>
          <a:solidFill>
            <a:srgbClr val="C4CAD4"/>
          </a:solidFill>
          <a:ln/>
        </p:spPr>
      </p:sp>
      <p:sp>
        <p:nvSpPr>
          <p:cNvPr id="29" name="Shape 27"/>
          <p:cNvSpPr/>
          <p:nvPr/>
        </p:nvSpPr>
        <p:spPr>
          <a:xfrm>
            <a:off x="9345168" y="3511296"/>
            <a:ext cx="2542032" cy="1234440"/>
          </a:xfrm>
          <a:prstGeom prst="roundRect">
            <a:avLst>
              <a:gd name="adj" fmla="val 6667"/>
            </a:avLst>
          </a:prstGeom>
          <a:solidFill>
            <a:srgbClr val="FFFFFF"/>
          </a:solidFill>
          <a:ln w="12700">
            <a:solidFill>
              <a:srgbClr val="D9DEE6"/>
            </a:solidFill>
            <a:prstDash val="solid"/>
          </a:ln>
        </p:spPr>
      </p:sp>
      <p:sp>
        <p:nvSpPr>
          <p:cNvPr id="30" name="Shape 28"/>
          <p:cNvSpPr/>
          <p:nvPr/>
        </p:nvSpPr>
        <p:spPr>
          <a:xfrm>
            <a:off x="9340596" y="3657600"/>
            <a:ext cx="68580" cy="941832"/>
          </a:xfrm>
          <a:prstGeom prst="roundRect">
            <a:avLst>
              <a:gd name="adj" fmla="val 53333"/>
            </a:avLst>
          </a:prstGeom>
          <a:solidFill>
            <a:srgbClr val="7030A0"/>
          </a:solidFill>
          <a:ln/>
        </p:spPr>
      </p:sp>
      <p:sp>
        <p:nvSpPr>
          <p:cNvPr id="31" name="Text 29"/>
          <p:cNvSpPr/>
          <p:nvPr/>
        </p:nvSpPr>
        <p:spPr>
          <a:xfrm>
            <a:off x="9582912" y="3657600"/>
            <a:ext cx="2130552" cy="365760"/>
          </a:xfrm>
          <a:prstGeom prst="rect">
            <a:avLst/>
          </a:prstGeom>
          <a:noFill/>
          <a:ln/>
        </p:spPr>
        <p:txBody>
          <a:bodyPr wrap="square" lIns="0" tIns="0" rIns="0" bIns="0" rtlCol="0" anchor="t"/>
          <a:lstStyle/>
          <a:p>
            <a:pPr algn="l" indent="0" marL="0">
              <a:buNone/>
            </a:pPr>
            <a:r>
              <a:rPr lang="en-US" sz="1700" dirty="0">
                <a:solidFill>
                  <a:srgbClr val="7030A0"/>
                </a:solidFill>
                <a:latin typeface="Adobe Clean ExtraBold" pitchFamily="34" charset="0"/>
                <a:ea typeface="Adobe Clean ExtraBold" pitchFamily="34" charset="-122"/>
                <a:cs typeface="Adobe Clean ExtraBold" pitchFamily="34" charset="-120"/>
              </a:rPr>
              <a:t>feedback</a:t>
            </a:r>
            <a:endParaRPr lang="en-US" sz="1700" dirty="0"/>
          </a:p>
        </p:txBody>
      </p:sp>
      <p:sp>
        <p:nvSpPr>
          <p:cNvPr id="32" name="Text 30"/>
          <p:cNvSpPr/>
          <p:nvPr/>
        </p:nvSpPr>
        <p:spPr>
          <a:xfrm>
            <a:off x="9582912" y="4078224"/>
            <a:ext cx="2130552" cy="576072"/>
          </a:xfrm>
          <a:prstGeom prst="rect">
            <a:avLst/>
          </a:prstGeom>
          <a:noFill/>
          <a:ln/>
        </p:spPr>
        <p:txBody>
          <a:bodyPr wrap="square" lIns="0" tIns="0" rIns="0" bIns="0" rtlCol="0" anchor="t"/>
          <a:lstStyle/>
          <a:p>
            <a:pPr algn="l" indent="0" marL="0">
              <a:lnSpc>
                <a:spcPct val="108000"/>
              </a:lnSpc>
              <a:buNone/>
            </a:pPr>
            <a:r>
              <a:rPr lang="en-US" sz="1150" dirty="0">
                <a:solidFill>
                  <a:srgbClr val="5A6473"/>
                </a:solidFill>
                <a:latin typeface="Adobe Clean" pitchFamily="34" charset="0"/>
                <a:ea typeface="Adobe Clean" pitchFamily="34" charset="-122"/>
                <a:cs typeface="Adobe Clean" pitchFamily="34" charset="-120"/>
              </a:rPr>
              <a:t>the model sees</a:t>
            </a:r>
            <a:endParaRPr lang="en-US" sz="1150" dirty="0"/>
          </a:p>
          <a:p>
            <a:pPr algn="l" indent="0" marL="0">
              <a:lnSpc>
                <a:spcPct val="108000"/>
              </a:lnSpc>
              <a:buNone/>
            </a:pPr>
            <a:r>
              <a:rPr lang="en-US" sz="1150" dirty="0">
                <a:solidFill>
                  <a:srgbClr val="5A6473"/>
                </a:solidFill>
                <a:latin typeface="Adobe Clean" pitchFamily="34" charset="0"/>
                <a:ea typeface="Adobe Clean" pitchFamily="34" charset="-122"/>
                <a:cs typeface="Adobe Clean" pitchFamily="34" charset="-120"/>
              </a:rPr>
              <a:t>the new results</a:t>
            </a:r>
            <a:endParaRPr lang="en-US" sz="1150" dirty="0"/>
          </a:p>
        </p:txBody>
      </p:sp>
      <p:sp>
        <p:nvSpPr>
          <p:cNvPr id="33" name="Shape 31"/>
          <p:cNvSpPr/>
          <p:nvPr/>
        </p:nvSpPr>
        <p:spPr>
          <a:xfrm>
            <a:off x="932688" y="5056632"/>
            <a:ext cx="10040112" cy="0"/>
          </a:xfrm>
          <a:prstGeom prst="line">
            <a:avLst/>
          </a:prstGeom>
          <a:noFill/>
          <a:ln w="19050">
            <a:solidFill>
              <a:srgbClr val="5A6473"/>
            </a:solidFill>
            <a:prstDash val="solid"/>
            <a:headEnd type="none"/>
            <a:tailEnd type="triangle"/>
          </a:ln>
        </p:spPr>
      </p:sp>
      <p:sp>
        <p:nvSpPr>
          <p:cNvPr id="34" name="Text 32"/>
          <p:cNvSpPr/>
          <p:nvPr/>
        </p:nvSpPr>
        <p:spPr>
          <a:xfrm>
            <a:off x="566928" y="5148072"/>
            <a:ext cx="10789920" cy="365760"/>
          </a:xfrm>
          <a:prstGeom prst="rect">
            <a:avLst/>
          </a:prstGeom>
          <a:noFill/>
          <a:ln/>
        </p:spPr>
        <p:txBody>
          <a:bodyPr wrap="square" lIns="0" tIns="0" rIns="0" bIns="0" rtlCol="0" anchor="t"/>
          <a:lstStyle/>
          <a:p>
            <a:pPr algn="ctr" indent="0" marL="0">
              <a:buNone/>
            </a:pPr>
            <a:r>
              <a:rPr lang="en-US" sz="1350" dirty="0">
                <a:solidFill>
                  <a:srgbClr val="2C2C2C"/>
                </a:solidFill>
                <a:latin typeface="Adobe Clean" pitchFamily="34" charset="0"/>
                <a:ea typeface="Adobe Clean" pitchFamily="34" charset="-122"/>
                <a:cs typeface="Adobe Clean" pitchFamily="34" charset="-120"/>
              </a:rPr>
              <a:t>The model repeats this loop until the truss passes all three checks, building the fix one change at a time.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64240" cy="676656"/>
          </a:xfrm>
          <a:prstGeom prst="rect">
            <a:avLst/>
          </a:prstGeom>
          <a:noFill/>
          <a:ln/>
        </p:spPr>
        <p:txBody>
          <a:bodyPr wrap="square" lIns="0" tIns="0" rIns="0" bIns="0" rtlCol="0" anchor="t"/>
          <a:lstStyle/>
          <a:p>
            <a:pPr algn="l" indent="0" marL="0">
              <a:buNone/>
            </a:pPr>
            <a:r>
              <a:rPr lang="en-US" sz="2800" dirty="0">
                <a:solidFill>
                  <a:srgbClr val="EB1000"/>
                </a:solidFill>
                <a:latin typeface="Adobe Clean ExtraBold" pitchFamily="34" charset="0"/>
                <a:ea typeface="Adobe Clean ExtraBold" pitchFamily="34" charset="-122"/>
                <a:cs typeface="Adobe Clean ExtraBold" pitchFamily="34" charset="-120"/>
              </a:rPr>
              <a:t>From 0% to 68% Feasible</a:t>
            </a:r>
            <a:endParaRPr lang="en-US" sz="2800" dirty="0"/>
          </a:p>
        </p:txBody>
      </p:sp>
      <p:sp>
        <p:nvSpPr>
          <p:cNvPr id="3" name="Text 1"/>
          <p:cNvSpPr/>
          <p:nvPr/>
        </p:nvSpPr>
        <p:spPr>
          <a:xfrm>
            <a:off x="566928" y="1060704"/>
            <a:ext cx="11064240" cy="384048"/>
          </a:xfrm>
          <a:prstGeom prst="rect">
            <a:avLst/>
          </a:prstGeom>
          <a:noFill/>
          <a:ln/>
        </p:spPr>
        <p:txBody>
          <a:bodyPr wrap="square" lIns="0" tIns="0" rIns="0" bIns="0" rtlCol="0" anchor="t"/>
          <a:lstStyle/>
          <a:p>
            <a:pPr algn="l" indent="0" marL="0">
              <a:buNone/>
            </a:pPr>
            <a:r>
              <a:rPr lang="en-US" sz="1450" dirty="0">
                <a:solidFill>
                  <a:srgbClr val="5A6473"/>
                </a:solidFill>
                <a:latin typeface="Adobe Clean" pitchFamily="34" charset="0"/>
                <a:ea typeface="Adobe Clean" pitchFamily="34" charset="-122"/>
                <a:cs typeface="Adobe Clean" pitchFamily="34" charset="-120"/>
              </a:rPr>
              <a:t>These are the five stages recorded in the audit log. The gains came from what the training was missing.</a:t>
            </a:r>
            <a:endParaRPr lang="en-US" sz="1450" dirty="0"/>
          </a:p>
        </p:txBody>
      </p:sp>
      <p:sp>
        <p:nvSpPr>
          <p:cNvPr id="4" name="Shape 2"/>
          <p:cNvSpPr/>
          <p:nvPr/>
        </p:nvSpPr>
        <p:spPr>
          <a:xfrm>
            <a:off x="653796" y="2148840"/>
            <a:ext cx="1956816" cy="1783080"/>
          </a:xfrm>
          <a:prstGeom prst="roundRect">
            <a:avLst>
              <a:gd name="adj" fmla="val 5641"/>
            </a:avLst>
          </a:prstGeom>
          <a:solidFill>
            <a:srgbClr val="F4F5F7"/>
          </a:solidFill>
          <a:ln w="12700">
            <a:solidFill>
              <a:srgbClr val="D9DEE6"/>
            </a:solidFill>
            <a:prstDash val="solid"/>
          </a:ln>
        </p:spPr>
      </p:sp>
      <p:sp>
        <p:nvSpPr>
          <p:cNvPr id="5" name="Text 3"/>
          <p:cNvSpPr/>
          <p:nvPr/>
        </p:nvSpPr>
        <p:spPr>
          <a:xfrm>
            <a:off x="690372" y="2240280"/>
            <a:ext cx="1883664" cy="998525"/>
          </a:xfrm>
          <a:prstGeom prst="rect">
            <a:avLst/>
          </a:prstGeom>
          <a:noFill/>
          <a:ln/>
        </p:spPr>
        <p:txBody>
          <a:bodyPr wrap="square" lIns="0" tIns="0" rIns="0" bIns="0" rtlCol="0" anchor="ctr"/>
          <a:lstStyle/>
          <a:p>
            <a:pPr algn="ctr" indent="0" marL="0">
              <a:buNone/>
            </a:pPr>
            <a:r>
              <a:rPr lang="en-US" sz="4600" dirty="0">
                <a:solidFill>
                  <a:srgbClr val="21304A"/>
                </a:solidFill>
                <a:latin typeface="Adobe Clean ExtraBold" pitchFamily="34" charset="0"/>
                <a:ea typeface="Adobe Clean ExtraBold" pitchFamily="34" charset="-122"/>
                <a:cs typeface="Adobe Clean ExtraBold" pitchFamily="34" charset="-120"/>
              </a:rPr>
              <a:t>0%</a:t>
            </a:r>
            <a:endParaRPr lang="en-US" sz="4600" dirty="0"/>
          </a:p>
        </p:txBody>
      </p:sp>
      <p:sp>
        <p:nvSpPr>
          <p:cNvPr id="6" name="Text 4"/>
          <p:cNvSpPr/>
          <p:nvPr/>
        </p:nvSpPr>
        <p:spPr>
          <a:xfrm>
            <a:off x="690372" y="3254350"/>
            <a:ext cx="1883664" cy="570586"/>
          </a:xfrm>
          <a:prstGeom prst="rect">
            <a:avLst/>
          </a:prstGeom>
          <a:noFill/>
          <a:ln/>
        </p:spPr>
        <p:txBody>
          <a:bodyPr wrap="square" lIns="0" tIns="0" rIns="0" bIns="0" rtlCol="0" anchor="t"/>
          <a:lstStyle/>
          <a:p>
            <a:pPr algn="ctr" indent="0" marL="0">
              <a:buNone/>
            </a:pPr>
            <a:r>
              <a:rPr lang="en-US" sz="1200" dirty="0">
                <a:solidFill>
                  <a:srgbClr val="5F5F5F"/>
                </a:solidFill>
                <a:latin typeface="Adobe Clean" pitchFamily="34" charset="0"/>
                <a:ea typeface="Adobe Clean" pitchFamily="34" charset="-122"/>
                <a:cs typeface="Adobe Clean" pitchFamily="34" charset="-120"/>
              </a:rPr>
              <a:t>warmstart (SFT only)</a:t>
            </a:r>
            <a:endParaRPr lang="en-US" sz="1200" dirty="0"/>
          </a:p>
        </p:txBody>
      </p:sp>
      <p:sp>
        <p:nvSpPr>
          <p:cNvPr id="7" name="Shape 5"/>
          <p:cNvSpPr/>
          <p:nvPr/>
        </p:nvSpPr>
        <p:spPr>
          <a:xfrm>
            <a:off x="2628900" y="2798064"/>
            <a:ext cx="237744" cy="457200"/>
          </a:xfrm>
          <a:prstGeom prst="chevron">
            <a:avLst/>
          </a:prstGeom>
          <a:solidFill>
            <a:srgbClr val="C4CAD4"/>
          </a:solidFill>
          <a:ln/>
        </p:spPr>
      </p:sp>
      <p:sp>
        <p:nvSpPr>
          <p:cNvPr id="8" name="Shape 6"/>
          <p:cNvSpPr/>
          <p:nvPr/>
        </p:nvSpPr>
        <p:spPr>
          <a:xfrm>
            <a:off x="2884932" y="2148840"/>
            <a:ext cx="1956816" cy="1783080"/>
          </a:xfrm>
          <a:prstGeom prst="roundRect">
            <a:avLst>
              <a:gd name="adj" fmla="val 5641"/>
            </a:avLst>
          </a:prstGeom>
          <a:solidFill>
            <a:srgbClr val="F4F5F7"/>
          </a:solidFill>
          <a:ln w="12700">
            <a:solidFill>
              <a:srgbClr val="D9DEE6"/>
            </a:solidFill>
            <a:prstDash val="solid"/>
          </a:ln>
        </p:spPr>
      </p:sp>
      <p:sp>
        <p:nvSpPr>
          <p:cNvPr id="9" name="Text 7"/>
          <p:cNvSpPr/>
          <p:nvPr/>
        </p:nvSpPr>
        <p:spPr>
          <a:xfrm>
            <a:off x="2921508" y="2240280"/>
            <a:ext cx="1883664" cy="998525"/>
          </a:xfrm>
          <a:prstGeom prst="rect">
            <a:avLst/>
          </a:prstGeom>
          <a:noFill/>
          <a:ln/>
        </p:spPr>
        <p:txBody>
          <a:bodyPr wrap="square" lIns="0" tIns="0" rIns="0" bIns="0" rtlCol="0" anchor="ctr"/>
          <a:lstStyle/>
          <a:p>
            <a:pPr algn="ctr" indent="0" marL="0">
              <a:buNone/>
            </a:pPr>
            <a:r>
              <a:rPr lang="en-US" sz="4600" dirty="0">
                <a:solidFill>
                  <a:srgbClr val="21304A"/>
                </a:solidFill>
                <a:latin typeface="Adobe Clean ExtraBold" pitchFamily="34" charset="0"/>
                <a:ea typeface="Adobe Clean ExtraBold" pitchFamily="34" charset="-122"/>
                <a:cs typeface="Adobe Clean ExtraBold" pitchFamily="34" charset="-120"/>
              </a:rPr>
              <a:t>~0%</a:t>
            </a:r>
            <a:endParaRPr lang="en-US" sz="4600" dirty="0"/>
          </a:p>
        </p:txBody>
      </p:sp>
      <p:sp>
        <p:nvSpPr>
          <p:cNvPr id="10" name="Text 8"/>
          <p:cNvSpPr/>
          <p:nvPr/>
        </p:nvSpPr>
        <p:spPr>
          <a:xfrm>
            <a:off x="2921508" y="3254350"/>
            <a:ext cx="1883664" cy="570586"/>
          </a:xfrm>
          <a:prstGeom prst="rect">
            <a:avLst/>
          </a:prstGeom>
          <a:noFill/>
          <a:ln/>
        </p:spPr>
        <p:txBody>
          <a:bodyPr wrap="square" lIns="0" tIns="0" rIns="0" bIns="0" rtlCol="0" anchor="t"/>
          <a:lstStyle/>
          <a:p>
            <a:pPr algn="ctr" indent="0" marL="0">
              <a:buNone/>
            </a:pPr>
            <a:r>
              <a:rPr lang="en-US" sz="1200" dirty="0">
                <a:solidFill>
                  <a:srgbClr val="5F5F5F"/>
                </a:solidFill>
                <a:latin typeface="Adobe Clean" pitchFamily="34" charset="0"/>
                <a:ea typeface="Adobe Clean" pitchFamily="34" charset="-122"/>
                <a:cs typeface="Adobe Clean" pitchFamily="34" charset="-120"/>
              </a:rPr>
              <a:t>GRPO, single-turn</a:t>
            </a:r>
            <a:endParaRPr lang="en-US" sz="1200" dirty="0"/>
          </a:p>
        </p:txBody>
      </p:sp>
      <p:sp>
        <p:nvSpPr>
          <p:cNvPr id="11" name="Shape 9"/>
          <p:cNvSpPr/>
          <p:nvPr/>
        </p:nvSpPr>
        <p:spPr>
          <a:xfrm>
            <a:off x="4860036" y="2798064"/>
            <a:ext cx="237744" cy="457200"/>
          </a:xfrm>
          <a:prstGeom prst="chevron">
            <a:avLst/>
          </a:prstGeom>
          <a:solidFill>
            <a:srgbClr val="C4CAD4"/>
          </a:solidFill>
          <a:ln/>
        </p:spPr>
      </p:sp>
      <p:sp>
        <p:nvSpPr>
          <p:cNvPr id="12" name="Shape 10"/>
          <p:cNvSpPr/>
          <p:nvPr/>
        </p:nvSpPr>
        <p:spPr>
          <a:xfrm>
            <a:off x="5116068" y="2148840"/>
            <a:ext cx="1956816" cy="1783080"/>
          </a:xfrm>
          <a:prstGeom prst="roundRect">
            <a:avLst>
              <a:gd name="adj" fmla="val 5641"/>
            </a:avLst>
          </a:prstGeom>
          <a:solidFill>
            <a:srgbClr val="F4F5F7"/>
          </a:solidFill>
          <a:ln w="12700">
            <a:solidFill>
              <a:srgbClr val="D9DEE6"/>
            </a:solidFill>
            <a:prstDash val="solid"/>
          </a:ln>
        </p:spPr>
      </p:sp>
      <p:sp>
        <p:nvSpPr>
          <p:cNvPr id="13" name="Text 11"/>
          <p:cNvSpPr/>
          <p:nvPr/>
        </p:nvSpPr>
        <p:spPr>
          <a:xfrm>
            <a:off x="5152644" y="2240280"/>
            <a:ext cx="1883664" cy="998525"/>
          </a:xfrm>
          <a:prstGeom prst="rect">
            <a:avLst/>
          </a:prstGeom>
          <a:noFill/>
          <a:ln/>
        </p:spPr>
        <p:txBody>
          <a:bodyPr wrap="square" lIns="0" tIns="0" rIns="0" bIns="0" rtlCol="0" anchor="ctr"/>
          <a:lstStyle/>
          <a:p>
            <a:pPr algn="ctr" indent="0" marL="0">
              <a:buNone/>
            </a:pPr>
            <a:r>
              <a:rPr lang="en-US" sz="4600" dirty="0">
                <a:solidFill>
                  <a:srgbClr val="21304A"/>
                </a:solidFill>
                <a:latin typeface="Adobe Clean ExtraBold" pitchFamily="34" charset="0"/>
                <a:ea typeface="Adobe Clean ExtraBold" pitchFamily="34" charset="-122"/>
                <a:cs typeface="Adobe Clean ExtraBold" pitchFamily="34" charset="-120"/>
              </a:rPr>
              <a:t>12%</a:t>
            </a:r>
            <a:endParaRPr lang="en-US" sz="4600" dirty="0"/>
          </a:p>
        </p:txBody>
      </p:sp>
      <p:sp>
        <p:nvSpPr>
          <p:cNvPr id="14" name="Text 12"/>
          <p:cNvSpPr/>
          <p:nvPr/>
        </p:nvSpPr>
        <p:spPr>
          <a:xfrm>
            <a:off x="5152644" y="3254350"/>
            <a:ext cx="1883664" cy="570586"/>
          </a:xfrm>
          <a:prstGeom prst="rect">
            <a:avLst/>
          </a:prstGeom>
          <a:noFill/>
          <a:ln/>
        </p:spPr>
        <p:txBody>
          <a:bodyPr wrap="square" lIns="0" tIns="0" rIns="0" bIns="0" rtlCol="0" anchor="t"/>
          <a:lstStyle/>
          <a:p>
            <a:pPr algn="ctr" indent="0" marL="0">
              <a:buNone/>
            </a:pPr>
            <a:r>
              <a:rPr lang="en-US" sz="1200" dirty="0">
                <a:solidFill>
                  <a:srgbClr val="5F5F5F"/>
                </a:solidFill>
                <a:latin typeface="Adobe Clean" pitchFamily="34" charset="0"/>
                <a:ea typeface="Adobe Clean" pitchFamily="34" charset="-122"/>
                <a:cs typeface="Adobe Clean" pitchFamily="34" charset="-120"/>
              </a:rPr>
              <a:t>multi-turn, no fix</a:t>
            </a:r>
            <a:endParaRPr lang="en-US" sz="1200" dirty="0"/>
          </a:p>
        </p:txBody>
      </p:sp>
      <p:sp>
        <p:nvSpPr>
          <p:cNvPr id="15" name="Shape 13"/>
          <p:cNvSpPr/>
          <p:nvPr/>
        </p:nvSpPr>
        <p:spPr>
          <a:xfrm>
            <a:off x="7091172" y="2798064"/>
            <a:ext cx="237744" cy="457200"/>
          </a:xfrm>
          <a:prstGeom prst="chevron">
            <a:avLst/>
          </a:prstGeom>
          <a:solidFill>
            <a:srgbClr val="C4CAD4"/>
          </a:solidFill>
          <a:ln/>
        </p:spPr>
      </p:sp>
      <p:sp>
        <p:nvSpPr>
          <p:cNvPr id="16" name="Shape 14"/>
          <p:cNvSpPr/>
          <p:nvPr/>
        </p:nvSpPr>
        <p:spPr>
          <a:xfrm>
            <a:off x="7347204" y="2148840"/>
            <a:ext cx="1956816" cy="1783080"/>
          </a:xfrm>
          <a:prstGeom prst="roundRect">
            <a:avLst>
              <a:gd name="adj" fmla="val 5641"/>
            </a:avLst>
          </a:prstGeom>
          <a:solidFill>
            <a:srgbClr val="F4F5F7"/>
          </a:solidFill>
          <a:ln w="12700">
            <a:solidFill>
              <a:srgbClr val="D9DEE6"/>
            </a:solidFill>
            <a:prstDash val="solid"/>
          </a:ln>
        </p:spPr>
      </p:sp>
      <p:sp>
        <p:nvSpPr>
          <p:cNvPr id="17" name="Text 15"/>
          <p:cNvSpPr/>
          <p:nvPr/>
        </p:nvSpPr>
        <p:spPr>
          <a:xfrm>
            <a:off x="7383780" y="2240280"/>
            <a:ext cx="1883664" cy="998525"/>
          </a:xfrm>
          <a:prstGeom prst="rect">
            <a:avLst/>
          </a:prstGeom>
          <a:noFill/>
          <a:ln/>
        </p:spPr>
        <p:txBody>
          <a:bodyPr wrap="square" lIns="0" tIns="0" rIns="0" bIns="0" rtlCol="0" anchor="ctr"/>
          <a:lstStyle/>
          <a:p>
            <a:pPr algn="ctr" indent="0" marL="0">
              <a:buNone/>
            </a:pPr>
            <a:r>
              <a:rPr lang="en-US" sz="4600" dirty="0">
                <a:solidFill>
                  <a:srgbClr val="EB1000"/>
                </a:solidFill>
                <a:latin typeface="Adobe Clean ExtraBold" pitchFamily="34" charset="0"/>
                <a:ea typeface="Adobe Clean ExtraBold" pitchFamily="34" charset="-122"/>
                <a:cs typeface="Adobe Clean ExtraBold" pitchFamily="34" charset="-120"/>
              </a:rPr>
              <a:t>68%</a:t>
            </a:r>
            <a:endParaRPr lang="en-US" sz="4600" dirty="0"/>
          </a:p>
        </p:txBody>
      </p:sp>
      <p:sp>
        <p:nvSpPr>
          <p:cNvPr id="18" name="Text 16"/>
          <p:cNvSpPr/>
          <p:nvPr/>
        </p:nvSpPr>
        <p:spPr>
          <a:xfrm>
            <a:off x="7383780" y="3254350"/>
            <a:ext cx="1883664" cy="570586"/>
          </a:xfrm>
          <a:prstGeom prst="rect">
            <a:avLst/>
          </a:prstGeom>
          <a:noFill/>
          <a:ln/>
        </p:spPr>
        <p:txBody>
          <a:bodyPr wrap="square" lIns="0" tIns="0" rIns="0" bIns="0" rtlCol="0" anchor="t"/>
          <a:lstStyle/>
          <a:p>
            <a:pPr algn="ctr" indent="0" marL="0">
              <a:buNone/>
            </a:pPr>
            <a:r>
              <a:rPr lang="en-US" sz="1200" dirty="0">
                <a:solidFill>
                  <a:srgbClr val="5F5F5F"/>
                </a:solidFill>
                <a:latin typeface="Adobe Clean" pitchFamily="34" charset="0"/>
                <a:ea typeface="Adobe Clean" pitchFamily="34" charset="-122"/>
                <a:cs typeface="Adobe Clean" pitchFamily="34" charset="-120"/>
              </a:rPr>
              <a:t>+ critical-member fb</a:t>
            </a:r>
            <a:endParaRPr lang="en-US" sz="1200" dirty="0"/>
          </a:p>
        </p:txBody>
      </p:sp>
      <p:sp>
        <p:nvSpPr>
          <p:cNvPr id="19" name="Shape 17"/>
          <p:cNvSpPr/>
          <p:nvPr/>
        </p:nvSpPr>
        <p:spPr>
          <a:xfrm>
            <a:off x="9322308" y="2798064"/>
            <a:ext cx="237744" cy="457200"/>
          </a:xfrm>
          <a:prstGeom prst="chevron">
            <a:avLst/>
          </a:prstGeom>
          <a:solidFill>
            <a:srgbClr val="C4CAD4"/>
          </a:solidFill>
          <a:ln/>
        </p:spPr>
      </p:sp>
      <p:sp>
        <p:nvSpPr>
          <p:cNvPr id="20" name="Shape 18"/>
          <p:cNvSpPr/>
          <p:nvPr/>
        </p:nvSpPr>
        <p:spPr>
          <a:xfrm>
            <a:off x="9578340" y="2148840"/>
            <a:ext cx="1956816" cy="1783080"/>
          </a:xfrm>
          <a:prstGeom prst="roundRect">
            <a:avLst>
              <a:gd name="adj" fmla="val 5641"/>
            </a:avLst>
          </a:prstGeom>
          <a:solidFill>
            <a:srgbClr val="F4F5F7"/>
          </a:solidFill>
          <a:ln w="12700">
            <a:solidFill>
              <a:srgbClr val="D9DEE6"/>
            </a:solidFill>
            <a:prstDash val="solid"/>
          </a:ln>
        </p:spPr>
      </p:sp>
      <p:sp>
        <p:nvSpPr>
          <p:cNvPr id="21" name="Text 19"/>
          <p:cNvSpPr/>
          <p:nvPr/>
        </p:nvSpPr>
        <p:spPr>
          <a:xfrm>
            <a:off x="9614916" y="2240280"/>
            <a:ext cx="1883664" cy="998525"/>
          </a:xfrm>
          <a:prstGeom prst="rect">
            <a:avLst/>
          </a:prstGeom>
          <a:noFill/>
          <a:ln/>
        </p:spPr>
        <p:txBody>
          <a:bodyPr wrap="square" lIns="0" tIns="0" rIns="0" bIns="0" rtlCol="0" anchor="ctr"/>
          <a:lstStyle/>
          <a:p>
            <a:pPr algn="ctr" indent="0" marL="0">
              <a:buNone/>
            </a:pPr>
            <a:r>
              <a:rPr lang="en-US" sz="4600" dirty="0">
                <a:solidFill>
                  <a:srgbClr val="B26B00"/>
                </a:solidFill>
                <a:latin typeface="Adobe Clean ExtraBold" pitchFamily="34" charset="0"/>
                <a:ea typeface="Adobe Clean ExtraBold" pitchFamily="34" charset="-122"/>
                <a:cs typeface="Adobe Clean ExtraBold" pitchFamily="34" charset="-120"/>
              </a:rPr>
              <a:t>52%</a:t>
            </a:r>
            <a:endParaRPr lang="en-US" sz="4600" dirty="0"/>
          </a:p>
        </p:txBody>
      </p:sp>
      <p:sp>
        <p:nvSpPr>
          <p:cNvPr id="22" name="Text 20"/>
          <p:cNvSpPr/>
          <p:nvPr/>
        </p:nvSpPr>
        <p:spPr>
          <a:xfrm>
            <a:off x="9614916" y="3254350"/>
            <a:ext cx="1883664" cy="570586"/>
          </a:xfrm>
          <a:prstGeom prst="rect">
            <a:avLst/>
          </a:prstGeom>
          <a:noFill/>
          <a:ln/>
        </p:spPr>
        <p:txBody>
          <a:bodyPr wrap="square" lIns="0" tIns="0" rIns="0" bIns="0" rtlCol="0" anchor="t"/>
          <a:lstStyle/>
          <a:p>
            <a:pPr algn="ctr" indent="0" marL="0">
              <a:buNone/>
            </a:pPr>
            <a:r>
              <a:rPr lang="en-US" sz="1200" dirty="0">
                <a:solidFill>
                  <a:srgbClr val="5F5F5F"/>
                </a:solidFill>
                <a:latin typeface="Adobe Clean" pitchFamily="34" charset="0"/>
                <a:ea typeface="Adobe Clean" pitchFamily="34" charset="-122"/>
                <a:cs typeface="Adobe Clean" pitchFamily="34" charset="-120"/>
              </a:rPr>
              <a:t>+ mass fb (regressed)</a:t>
            </a:r>
            <a:endParaRPr lang="en-US" sz="1200" dirty="0"/>
          </a:p>
        </p:txBody>
      </p:sp>
      <p:sp>
        <p:nvSpPr>
          <p:cNvPr id="23" name="Shape 21"/>
          <p:cNvSpPr/>
          <p:nvPr/>
        </p:nvSpPr>
        <p:spPr>
          <a:xfrm>
            <a:off x="653796" y="4343400"/>
            <a:ext cx="10881360" cy="1417320"/>
          </a:xfrm>
          <a:prstGeom prst="roundRect">
            <a:avLst>
              <a:gd name="adj" fmla="val 6452"/>
            </a:avLst>
          </a:prstGeom>
          <a:solidFill>
            <a:srgbClr val="EEF1F6"/>
          </a:solidFill>
          <a:ln w="12700">
            <a:solidFill>
              <a:srgbClr val="D9DEE6"/>
            </a:solidFill>
            <a:prstDash val="solid"/>
          </a:ln>
        </p:spPr>
      </p:sp>
      <p:sp>
        <p:nvSpPr>
          <p:cNvPr id="24" name="Text 22"/>
          <p:cNvSpPr/>
          <p:nvPr/>
        </p:nvSpPr>
        <p:spPr>
          <a:xfrm>
            <a:off x="873252" y="4507992"/>
            <a:ext cx="10442448" cy="384048"/>
          </a:xfrm>
          <a:prstGeom prst="rect">
            <a:avLst/>
          </a:prstGeom>
          <a:noFill/>
          <a:ln/>
        </p:spPr>
        <p:txBody>
          <a:bodyPr wrap="square" lIns="0" tIns="0" rIns="0" bIns="0" rtlCol="0" anchor="t"/>
          <a:lstStyle/>
          <a:p>
            <a:pPr algn="l" indent="0" marL="0">
              <a:buNone/>
            </a:pPr>
            <a:r>
              <a:rPr lang="en-US" sz="1600" dirty="0">
                <a:solidFill>
                  <a:srgbClr val="EB1000"/>
                </a:solidFill>
                <a:latin typeface="Adobe Clean ExtraBold" pitchFamily="34" charset="0"/>
                <a:ea typeface="Adobe Clean ExtraBold" pitchFamily="34" charset="-122"/>
                <a:cs typeface="Adobe Clean ExtraBold" pitchFamily="34" charset="-120"/>
              </a:rPr>
              <a:t>The headline</a:t>
            </a:r>
            <a:endParaRPr lang="en-US" sz="1600" dirty="0"/>
          </a:p>
        </p:txBody>
      </p:sp>
      <p:sp>
        <p:nvSpPr>
          <p:cNvPr id="25" name="Text 23"/>
          <p:cNvSpPr/>
          <p:nvPr/>
        </p:nvSpPr>
        <p:spPr>
          <a:xfrm>
            <a:off x="873252" y="4928616"/>
            <a:ext cx="10442448" cy="704088"/>
          </a:xfrm>
          <a:prstGeom prst="rect">
            <a:avLst/>
          </a:prstGeom>
          <a:noFill/>
          <a:ln/>
        </p:spPr>
        <p:txBody>
          <a:bodyPr wrap="square" lIns="0" tIns="0" rIns="0" bIns="0" rtlCol="0" anchor="ctr"/>
          <a:lstStyle/>
          <a:p>
            <a:pPr algn="l" indent="0" marL="0">
              <a:lnSpc>
                <a:spcPct val="112000"/>
              </a:lnSpc>
              <a:spcAft>
                <a:spcPts val="500"/>
              </a:spcAft>
              <a:buNone/>
            </a:pPr>
            <a:r>
              <a:rPr lang="en-US" sz="1350" dirty="0">
                <a:solidFill>
                  <a:srgbClr val="21304A"/>
                </a:solidFill>
                <a:latin typeface="Adobe Clean ExtraBold" pitchFamily="34" charset="0"/>
                <a:ea typeface="Adobe Clean ExtraBold" pitchFamily="34" charset="-122"/>
                <a:cs typeface="Adobe Clean ExtraBold" pitchFamily="34" charset="-120"/>
              </a:rPr>
              <a:t>A 14B model with the right feedback and the right loop solves a majority of problems. </a:t>
            </a:r>
            <a:pPr algn="l" indent="0" marL="0">
              <a:lnSpc>
                <a:spcPct val="112000"/>
              </a:lnSpc>
              <a:spcAft>
                <a:spcPts val="500"/>
              </a:spcAft>
              <a:buNone/>
            </a:pPr>
            <a:r>
              <a:rPr lang="en-US" sz="1350" dirty="0">
                <a:solidFill>
                  <a:srgbClr val="2C2C2C"/>
                </a:solidFill>
                <a:latin typeface="Adobe Clean" pitchFamily="34" charset="0"/>
                <a:ea typeface="Adobe Clean" pitchFamily="34" charset="-122"/>
                <a:cs typeface="Adobe Clean" pitchFamily="34" charset="-120"/>
              </a:rPr>
              <a:t>The jump from 12% to 68% came from one fix to the information the model receives, not from the RL algorithm, a bigger model, or more reasoning capacity. The final 52% shows that piling on more signal can over-correct.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64240" cy="676656"/>
          </a:xfrm>
          <a:prstGeom prst="rect">
            <a:avLst/>
          </a:prstGeom>
          <a:noFill/>
          <a:ln/>
        </p:spPr>
        <p:txBody>
          <a:bodyPr wrap="square" lIns="0" tIns="0" rIns="0" bIns="0" rtlCol="0" anchor="t"/>
          <a:lstStyle/>
          <a:p>
            <a:pPr algn="l" indent="0" marL="0">
              <a:buNone/>
            </a:pPr>
            <a:r>
              <a:rPr lang="en-US" sz="2800" dirty="0">
                <a:solidFill>
                  <a:srgbClr val="EB1000"/>
                </a:solidFill>
                <a:latin typeface="Adobe Clean ExtraBold" pitchFamily="34" charset="0"/>
                <a:ea typeface="Adobe Clean ExtraBold" pitchFamily="34" charset="-122"/>
                <a:cs typeface="Adobe Clean ExtraBold" pitchFamily="34" charset="-120"/>
              </a:rPr>
              <a:t>Results by Stage</a:t>
            </a:r>
            <a:endParaRPr lang="en-US" sz="2800" dirty="0"/>
          </a:p>
        </p:txBody>
      </p:sp>
      <p:sp>
        <p:nvSpPr>
          <p:cNvPr id="3" name="Text 1"/>
          <p:cNvSpPr/>
          <p:nvPr/>
        </p:nvSpPr>
        <p:spPr>
          <a:xfrm>
            <a:off x="566928" y="1060704"/>
            <a:ext cx="11064240" cy="384048"/>
          </a:xfrm>
          <a:prstGeom prst="rect">
            <a:avLst/>
          </a:prstGeom>
          <a:noFill/>
          <a:ln/>
        </p:spPr>
        <p:txBody>
          <a:bodyPr wrap="square" lIns="0" tIns="0" rIns="0" bIns="0" rtlCol="0" anchor="t"/>
          <a:lstStyle/>
          <a:p>
            <a:pPr algn="l" indent="0" marL="0">
              <a:buNone/>
            </a:pPr>
            <a:r>
              <a:rPr lang="en-US" sz="1450" dirty="0">
                <a:solidFill>
                  <a:srgbClr val="5A6473"/>
                </a:solidFill>
                <a:latin typeface="Adobe Clean" pitchFamily="34" charset="0"/>
                <a:ea typeface="Adobe Clean" pitchFamily="34" charset="-122"/>
                <a:cs typeface="Adobe Clean" pitchFamily="34" charset="-120"/>
              </a:rPr>
              <a:t>Each row is one change, scored on held-out problems. The best run is multi-turn with critical-member feedback.</a:t>
            </a:r>
            <a:endParaRPr lang="en-US" sz="14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64240" cy="914400"/>
        </p:xfrm>
        <a:graphic>
          <a:graphicData uri="http://schemas.openxmlformats.org/drawingml/2006/table">
            <a:tbl>
              <a:tblPr/>
              <a:tblGrid>
                <a:gridCol w="4572000"/>
                <a:gridCol w="2468880"/>
                <a:gridCol w="2011680"/>
                <a:gridCol w="2011680"/>
              </a:tblGrid>
              <a:tr h="457200">
                <a:tc>
                  <a:txBody>
                    <a:bodyPr/>
                    <a:lstStyle/>
                    <a:p>
                      <a:pPr algn="l" indent="0" marL="0">
                        <a:buNone/>
                      </a:pPr>
                      <a:r>
                        <a:rPr lang="en-US" sz="1300" b="1" dirty="0">
                          <a:solidFill>
                            <a:srgbClr val="FFFFFF"/>
                          </a:solidFill>
                          <a:latin typeface="Adobe Clean ExtraBold" pitchFamily="34" charset="0"/>
                          <a:ea typeface="Adobe Clean ExtraBold" pitchFamily="34" charset="-122"/>
                          <a:cs typeface="Adobe Clean ExtraBold" pitchFamily="34" charset="-120"/>
                        </a:rPr>
                        <a:t> Stage</a:t>
                      </a:r>
                      <a:endParaRPr lang="en-US" sz="1300" dirty="0">
                        <a:latin typeface="Adobe Clean ExtraBold" charset="0"/>
                        <a:ea typeface="Adobe Clean ExtraBold" charset="0"/>
                        <a:cs typeface="Adobe Clean ExtraBold"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21304A"/>
                    </a:solidFill>
                  </a:tcPr>
                </a:tc>
                <a:tc>
                  <a:txBody>
                    <a:bodyPr/>
                    <a:lstStyle/>
                    <a:p>
                      <a:pPr algn="l" indent="0" marL="0">
                        <a:buNone/>
                      </a:pPr>
                      <a:r>
                        <a:rPr lang="en-US" sz="1300" b="1" dirty="0">
                          <a:solidFill>
                            <a:srgbClr val="FFFFFF"/>
                          </a:solidFill>
                          <a:latin typeface="Adobe Clean ExtraBold" pitchFamily="34" charset="0"/>
                          <a:ea typeface="Adobe Clean ExtraBold" pitchFamily="34" charset="-122"/>
                          <a:cs typeface="Adobe Clean ExtraBold" pitchFamily="34" charset="-120"/>
                        </a:rPr>
                        <a:t>What changed</a:t>
                      </a:r>
                      <a:endParaRPr lang="en-US" sz="1300" dirty="0">
                        <a:latin typeface="Adobe Clean ExtraBold" charset="0"/>
                        <a:ea typeface="Adobe Clean ExtraBold" charset="0"/>
                        <a:cs typeface="Adobe Clean ExtraBold"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21304A"/>
                    </a:solidFill>
                  </a:tcPr>
                </a:tc>
                <a:tc>
                  <a:txBody>
                    <a:bodyPr/>
                    <a:lstStyle/>
                    <a:p>
                      <a:pPr algn="l" indent="0" marL="0">
                        <a:buNone/>
                      </a:pPr>
                      <a:r>
                        <a:rPr lang="en-US" sz="1300" b="1" dirty="0">
                          <a:solidFill>
                            <a:srgbClr val="FFFFFF"/>
                          </a:solidFill>
                          <a:latin typeface="Adobe Clean ExtraBold" pitchFamily="34" charset="0"/>
                          <a:ea typeface="Adobe Clean ExtraBold" pitchFamily="34" charset="-122"/>
                          <a:cs typeface="Adobe Clean ExtraBold" pitchFamily="34" charset="-120"/>
                        </a:rPr>
                        <a:t>Eval feasibility</a:t>
                      </a:r>
                      <a:endParaRPr lang="en-US" sz="1300" dirty="0">
                        <a:latin typeface="Adobe Clean ExtraBold" charset="0"/>
                        <a:ea typeface="Adobe Clean ExtraBold" charset="0"/>
                        <a:cs typeface="Adobe Clean ExtraBold"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21304A"/>
                    </a:solidFill>
                  </a:tcPr>
                </a:tc>
                <a:tc>
                  <a:txBody>
                    <a:bodyPr/>
                    <a:lstStyle/>
                    <a:p>
                      <a:pPr algn="l" indent="0" marL="0">
                        <a:buNone/>
                      </a:pPr>
                      <a:r>
                        <a:rPr lang="en-US" sz="1300" b="1" dirty="0">
                          <a:solidFill>
                            <a:srgbClr val="FFFFFF"/>
                          </a:solidFill>
                          <a:latin typeface="Adobe Clean ExtraBold" pitchFamily="34" charset="0"/>
                          <a:ea typeface="Adobe Clean ExtraBold" pitchFamily="34" charset="-122"/>
                          <a:cs typeface="Adobe Clean ExtraBold" pitchFamily="34" charset="-120"/>
                        </a:rPr>
                        <a:t>Mean FOS_buckling</a:t>
                      </a:r>
                      <a:endParaRPr lang="en-US" sz="1300" dirty="0">
                        <a:latin typeface="Adobe Clean ExtraBold" charset="0"/>
                        <a:ea typeface="Adobe Clean ExtraBold" charset="0"/>
                        <a:cs typeface="Adobe Clean ExtraBold"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21304A"/>
                    </a:solidFill>
                  </a:tcPr>
                </a:tc>
              </a:tr>
              <a:tr h="566928">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 warmstart (SFT only)</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format, no policy</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0%</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0.41</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r>
              <a:tr h="566928">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 GRPO, single-turn (v2)</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broken protocol</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~0%</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 </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r>
              <a:tr h="566928">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 GRPO, multi-turn, no feedback fix</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correct protocol</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21304A"/>
                          </a:solidFill>
                          <a:latin typeface="Adobe Clean" pitchFamily="34" charset="0"/>
                          <a:ea typeface="Adobe Clean" pitchFamily="34" charset="-122"/>
                          <a:cs typeface="Adobe Clean" pitchFamily="34" charset="-120"/>
                        </a:rPr>
                        <a:t>12%</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1.42</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r>
              <a:tr h="658368">
                <a:tc>
                  <a:txBody>
                    <a:bodyPr/>
                    <a:lstStyle/>
                    <a:p>
                      <a:pPr algn="l" indent="0" marL="0">
                        <a:buNone/>
                      </a:pPr>
                      <a:r>
                        <a:rPr lang="en-US" sz="1250" b="1" dirty="0">
                          <a:solidFill>
                            <a:srgbClr val="2C2C2C"/>
                          </a:solidFill>
                          <a:latin typeface="Adobe Clean" pitchFamily="34" charset="0"/>
                          <a:ea typeface="Adobe Clean" pitchFamily="34" charset="-122"/>
                          <a:cs typeface="Adobe Clean" pitchFamily="34" charset="-120"/>
                        </a:rPr>
                        <a:t> GRPO, multi-turn + critical-member fb</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EAF6EE"/>
                    </a:solidFill>
                  </a:tcPr>
                </a:tc>
                <a:tc>
                  <a:txBody>
                    <a:bodyPr/>
                    <a:lstStyle/>
                    <a:p>
                      <a:pPr algn="l" indent="0" marL="0">
                        <a:buNone/>
                      </a:pPr>
                      <a:r>
                        <a:rPr lang="en-US" sz="1250" b="1" dirty="0">
                          <a:solidFill>
                            <a:srgbClr val="1E8449"/>
                          </a:solidFill>
                          <a:latin typeface="Adobe Clean ExtraBold" pitchFamily="34" charset="0"/>
                          <a:ea typeface="Adobe Clean ExtraBold" pitchFamily="34" charset="-122"/>
                          <a:cs typeface="Adobe Clean ExtraBold" pitchFamily="34" charset="-120"/>
                        </a:rPr>
                        <a:t>← CHAMPION</a:t>
                      </a:r>
                      <a:endParaRPr lang="en-US" sz="1250" dirty="0">
                        <a:latin typeface="Adobe Clean ExtraBold" charset="0"/>
                        <a:ea typeface="Adobe Clean ExtraBold" charset="0"/>
                        <a:cs typeface="Adobe Clean ExtraBold"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EAF6EE"/>
                    </a:solidFill>
                  </a:tcPr>
                </a:tc>
                <a:tc>
                  <a:txBody>
                    <a:bodyPr/>
                    <a:lstStyle/>
                    <a:p>
                      <a:pPr algn="l" indent="0" marL="0">
                        <a:buNone/>
                      </a:pPr>
                      <a:r>
                        <a:rPr lang="en-US" sz="1400" b="1" dirty="0">
                          <a:solidFill>
                            <a:srgbClr val="EB1000"/>
                          </a:solidFill>
                          <a:latin typeface="Adobe Clean ExtraBold" pitchFamily="34" charset="0"/>
                          <a:ea typeface="Adobe Clean ExtraBold" pitchFamily="34" charset="-122"/>
                          <a:cs typeface="Adobe Clean ExtraBold" pitchFamily="34" charset="-120"/>
                        </a:rPr>
                        <a:t>68%</a:t>
                      </a:r>
                      <a:endParaRPr lang="en-US" sz="1400" dirty="0">
                        <a:latin typeface="Adobe Clean ExtraBold" charset="0"/>
                        <a:ea typeface="Adobe Clean ExtraBold" charset="0"/>
                        <a:cs typeface="Adobe Clean ExtraBold"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EAF6EE"/>
                    </a:solidFill>
                  </a:tcPr>
                </a:tc>
                <a:tc>
                  <a:txBody>
                    <a:bodyPr/>
                    <a:lstStyle/>
                    <a:p>
                      <a:pPr algn="l" indent="0" marL="0">
                        <a:buNone/>
                      </a:pPr>
                      <a:r>
                        <a:rPr lang="en-US" sz="1250" b="1" dirty="0">
                          <a:solidFill>
                            <a:srgbClr val="2C2C2C"/>
                          </a:solidFill>
                          <a:latin typeface="Adobe Clean" pitchFamily="34" charset="0"/>
                          <a:ea typeface="Adobe Clean" pitchFamily="34" charset="-122"/>
                          <a:cs typeface="Adobe Clean" pitchFamily="34" charset="-120"/>
                        </a:rPr>
                        <a:t>1.4 – 1.6</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EAF6EE"/>
                    </a:solidFill>
                  </a:tcPr>
                </a:tc>
              </a:tr>
              <a:tr h="566928">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 GRPO, multi-turn + critical-member + mass</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B26B00"/>
                          </a:solidFill>
                          <a:latin typeface="Adobe Clean" pitchFamily="34" charset="0"/>
                          <a:ea typeface="Adobe Clean" pitchFamily="34" charset="-122"/>
                          <a:cs typeface="Adobe Clean" pitchFamily="34" charset="-120"/>
                        </a:rPr>
                        <a:t>over-corrected</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B26B00"/>
                          </a:solidFill>
                          <a:latin typeface="Adobe Clean" pitchFamily="34" charset="0"/>
                          <a:ea typeface="Adobe Clean" pitchFamily="34" charset="-122"/>
                          <a:cs typeface="Adobe Clean" pitchFamily="34" charset="-120"/>
                        </a:rPr>
                        <a:t>52%</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1.50</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5074920"/>
            <a:ext cx="11064240" cy="914400"/>
          </a:xfrm>
          <a:prstGeom prst="roundRect">
            <a:avLst>
              <a:gd name="adj" fmla="val 10000"/>
            </a:avLst>
          </a:prstGeom>
          <a:solidFill>
            <a:srgbClr val="F4F5F7"/>
          </a:solidFill>
          <a:ln w="12700">
            <a:solidFill>
              <a:srgbClr val="D9DEE6"/>
            </a:solidFill>
            <a:prstDash val="solid"/>
          </a:ln>
        </p:spPr>
      </p:sp>
      <p:sp>
        <p:nvSpPr>
          <p:cNvPr id="6" name="Text 3"/>
          <p:cNvSpPr/>
          <p:nvPr/>
        </p:nvSpPr>
        <p:spPr>
          <a:xfrm>
            <a:off x="786384" y="5239512"/>
            <a:ext cx="10625328" cy="621792"/>
          </a:xfrm>
          <a:prstGeom prst="rect">
            <a:avLst/>
          </a:prstGeom>
          <a:noFill/>
          <a:ln/>
        </p:spPr>
        <p:txBody>
          <a:bodyPr wrap="square" lIns="0" tIns="0" rIns="0" bIns="0" rtlCol="0" anchor="ctr"/>
          <a:lstStyle/>
          <a:p>
            <a:pPr algn="l" indent="0" marL="0">
              <a:lnSpc>
                <a:spcPct val="112000"/>
              </a:lnSpc>
              <a:spcAft>
                <a:spcPts val="500"/>
              </a:spcAft>
              <a:buNone/>
            </a:pPr>
            <a:r>
              <a:rPr lang="en-US" sz="1350" dirty="0">
                <a:solidFill>
                  <a:srgbClr val="21304A"/>
                </a:solidFill>
                <a:latin typeface="Adobe Clean ExtraBold" pitchFamily="34" charset="0"/>
                <a:ea typeface="Adobe Clean ExtraBold" pitchFamily="34" charset="-122"/>
                <a:cs typeface="Adobe Clean ExtraBold" pitchFamily="34" charset="-120"/>
              </a:rPr>
              <a:t>How to read it.  </a:t>
            </a:r>
            <a:pPr algn="l" indent="0" marL="0">
              <a:lnSpc>
                <a:spcPct val="112000"/>
              </a:lnSpc>
              <a:spcAft>
                <a:spcPts val="500"/>
              </a:spcAft>
              <a:buNone/>
            </a:pPr>
            <a:r>
              <a:rPr lang="en-US" sz="1350" dirty="0">
                <a:solidFill>
                  <a:srgbClr val="2C2C2C"/>
                </a:solidFill>
                <a:latin typeface="Adobe Clean" pitchFamily="34" charset="0"/>
                <a:ea typeface="Adobe Clean" pitchFamily="34" charset="-122"/>
                <a:cs typeface="Adobe Clean" pitchFamily="34" charset="-120"/>
              </a:rPr>
              <a:t>The first fix unfroze learning, from 0% to 12%. The second fix carried the result, from 12% to 68%. Adding a hard mass rule over-corrected back to 52%, the first sign that more signal is not always better.</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64240" cy="676656"/>
          </a:xfrm>
          <a:prstGeom prst="rect">
            <a:avLst/>
          </a:prstGeom>
          <a:noFill/>
          <a:ln/>
        </p:spPr>
        <p:txBody>
          <a:bodyPr wrap="square" lIns="0" tIns="0" rIns="0" bIns="0" rtlCol="0" anchor="t"/>
          <a:lstStyle/>
          <a:p>
            <a:pPr algn="l" indent="0" marL="0">
              <a:buNone/>
            </a:pPr>
            <a:r>
              <a:rPr lang="en-US" sz="2800" dirty="0">
                <a:solidFill>
                  <a:srgbClr val="EB1000"/>
                </a:solidFill>
                <a:latin typeface="Adobe Clean ExtraBold" pitchFamily="34" charset="0"/>
                <a:ea typeface="Adobe Clean ExtraBold" pitchFamily="34" charset="-122"/>
                <a:cs typeface="Adobe Clean ExtraBold" pitchFamily="34" charset="-120"/>
              </a:rPr>
              <a:t>The Two Key Fixes</a:t>
            </a:r>
            <a:endParaRPr lang="en-US" sz="2800" dirty="0"/>
          </a:p>
        </p:txBody>
      </p:sp>
      <p:sp>
        <p:nvSpPr>
          <p:cNvPr id="3" name="Text 1"/>
          <p:cNvSpPr/>
          <p:nvPr/>
        </p:nvSpPr>
        <p:spPr>
          <a:xfrm>
            <a:off x="566928" y="1060704"/>
            <a:ext cx="11064240" cy="384048"/>
          </a:xfrm>
          <a:prstGeom prst="rect">
            <a:avLst/>
          </a:prstGeom>
          <a:noFill/>
          <a:ln/>
        </p:spPr>
        <p:txBody>
          <a:bodyPr wrap="square" lIns="0" tIns="0" rIns="0" bIns="0" rtlCol="0" anchor="t"/>
          <a:lstStyle/>
          <a:p>
            <a:pPr algn="l" indent="0" marL="0">
              <a:buNone/>
            </a:pPr>
            <a:r>
              <a:rPr lang="en-US" sz="1450" dirty="0">
                <a:solidFill>
                  <a:srgbClr val="5A6473"/>
                </a:solidFill>
                <a:latin typeface="Adobe Clean" pitchFamily="34" charset="0"/>
                <a:ea typeface="Adobe Clean" pitchFamily="34" charset="-122"/>
                <a:cs typeface="Adobe Clean" pitchFamily="34" charset="-120"/>
              </a:rPr>
              <a:t>The pipeline was failing for two separate reasons. Fixing each one produced a large jump.</a:t>
            </a:r>
            <a:endParaRPr lang="en-US" sz="1450" dirty="0"/>
          </a:p>
        </p:txBody>
      </p:sp>
      <p:sp>
        <p:nvSpPr>
          <p:cNvPr id="4" name="Shape 2"/>
          <p:cNvSpPr/>
          <p:nvPr/>
        </p:nvSpPr>
        <p:spPr>
          <a:xfrm>
            <a:off x="566928" y="1828800"/>
            <a:ext cx="5394960" cy="3703320"/>
          </a:xfrm>
          <a:prstGeom prst="roundRect">
            <a:avLst>
              <a:gd name="adj" fmla="val 2963"/>
            </a:avLst>
          </a:prstGeom>
          <a:solidFill>
            <a:srgbClr val="FFFFFF"/>
          </a:solidFill>
          <a:ln w="15875">
            <a:solidFill>
              <a:srgbClr val="D9DEE6"/>
            </a:solidFill>
            <a:prstDash val="solid"/>
          </a:ln>
        </p:spPr>
      </p:sp>
      <p:sp>
        <p:nvSpPr>
          <p:cNvPr id="5" name="Shape 3"/>
          <p:cNvSpPr/>
          <p:nvPr/>
        </p:nvSpPr>
        <p:spPr>
          <a:xfrm>
            <a:off x="562356" y="2011680"/>
            <a:ext cx="82296" cy="3337560"/>
          </a:xfrm>
          <a:prstGeom prst="roundRect">
            <a:avLst>
              <a:gd name="adj" fmla="val 50000"/>
            </a:avLst>
          </a:prstGeom>
          <a:solidFill>
            <a:srgbClr val="21304A"/>
          </a:solidFill>
          <a:ln/>
        </p:spPr>
      </p:sp>
      <p:sp>
        <p:nvSpPr>
          <p:cNvPr id="6" name="Shape 4"/>
          <p:cNvSpPr/>
          <p:nvPr/>
        </p:nvSpPr>
        <p:spPr>
          <a:xfrm>
            <a:off x="841248" y="2121408"/>
            <a:ext cx="1371600" cy="384048"/>
          </a:xfrm>
          <a:prstGeom prst="roundRect">
            <a:avLst>
              <a:gd name="adj" fmla="val 50000"/>
            </a:avLst>
          </a:prstGeom>
          <a:solidFill>
            <a:srgbClr val="21304A"/>
          </a:solidFill>
          <a:ln/>
        </p:spPr>
      </p:sp>
      <p:sp>
        <p:nvSpPr>
          <p:cNvPr id="7" name="Text 5"/>
          <p:cNvSpPr/>
          <p:nvPr/>
        </p:nvSpPr>
        <p:spPr>
          <a:xfrm>
            <a:off x="841248" y="2121408"/>
            <a:ext cx="1371600" cy="384048"/>
          </a:xfrm>
          <a:prstGeom prst="rect">
            <a:avLst/>
          </a:prstGeom>
          <a:noFill/>
          <a:ln/>
        </p:spPr>
        <p:txBody>
          <a:bodyPr wrap="square" lIns="0" tIns="0" rIns="0" bIns="0" rtlCol="0" anchor="ctr"/>
          <a:lstStyle/>
          <a:p>
            <a:pPr algn="ctr" indent="0" marL="0">
              <a:buNone/>
            </a:pPr>
            <a:r>
              <a:rPr lang="en-US" sz="1300" spc="100" kern="0" dirty="0">
                <a:solidFill>
                  <a:srgbClr val="FFFFFF"/>
                </a:solidFill>
                <a:latin typeface="Adobe Clean ExtraBold" pitchFamily="34" charset="0"/>
                <a:ea typeface="Adobe Clean ExtraBold" pitchFamily="34" charset="-122"/>
                <a:cs typeface="Adobe Clean ExtraBold" pitchFamily="34" charset="-120"/>
              </a:rPr>
              <a:t>FIX 1</a:t>
            </a:r>
            <a:endParaRPr lang="en-US" sz="1300" dirty="0"/>
          </a:p>
        </p:txBody>
      </p:sp>
      <p:sp>
        <p:nvSpPr>
          <p:cNvPr id="8" name="Text 6"/>
          <p:cNvSpPr/>
          <p:nvPr/>
        </p:nvSpPr>
        <p:spPr>
          <a:xfrm>
            <a:off x="2350008" y="2103120"/>
            <a:ext cx="3383280" cy="457200"/>
          </a:xfrm>
          <a:prstGeom prst="rect">
            <a:avLst/>
          </a:prstGeom>
          <a:noFill/>
          <a:ln/>
        </p:spPr>
        <p:txBody>
          <a:bodyPr wrap="square" lIns="0" tIns="0" rIns="0" bIns="0" rtlCol="0" anchor="ctr"/>
          <a:lstStyle/>
          <a:p>
            <a:pPr algn="l" indent="0" marL="0">
              <a:buNone/>
            </a:pPr>
            <a:r>
              <a:rPr lang="en-US" sz="1600" dirty="0">
                <a:solidFill>
                  <a:srgbClr val="21304A"/>
                </a:solidFill>
                <a:latin typeface="Adobe Clean ExtraBold" pitchFamily="34" charset="0"/>
                <a:ea typeface="Adobe Clean ExtraBold" pitchFamily="34" charset="-122"/>
                <a:cs typeface="Adobe Clean ExtraBold" pitchFamily="34" charset="-120"/>
              </a:rPr>
              <a:t>Run the model one step at a time</a:t>
            </a:r>
            <a:endParaRPr lang="en-US" sz="1600" dirty="0"/>
          </a:p>
        </p:txBody>
      </p:sp>
      <p:sp>
        <p:nvSpPr>
          <p:cNvPr id="9" name="Text 7"/>
          <p:cNvSpPr/>
          <p:nvPr/>
        </p:nvSpPr>
        <p:spPr>
          <a:xfrm>
            <a:off x="877824" y="2743200"/>
            <a:ext cx="4791456" cy="1828800"/>
          </a:xfrm>
          <a:prstGeom prst="rect">
            <a:avLst/>
          </a:prstGeom>
          <a:noFill/>
          <a:ln/>
        </p:spPr>
        <p:txBody>
          <a:bodyPr wrap="square" lIns="0" tIns="0" rIns="0" bIns="0" rtlCol="0" anchor="t"/>
          <a:lstStyle/>
          <a:p>
            <a:pPr algn="l" indent="0" marL="0">
              <a:lnSpc>
                <a:spcPct val="116000"/>
              </a:lnSpc>
              <a:buNone/>
            </a:pPr>
            <a:r>
              <a:rPr lang="en-US" sz="1350" dirty="0">
                <a:solidFill>
                  <a:srgbClr val="2C2C2C"/>
                </a:solidFill>
                <a:latin typeface="Adobe Clean" pitchFamily="34" charset="0"/>
                <a:ea typeface="Adobe Clean" pitchFamily="34" charset="-122"/>
                <a:cs typeface="Adobe Clean" pitchFamily="34" charset="-120"/>
              </a:rPr>
              <a:t>The model is built to make one edit per turn. But during training it was given the whole problem and asked for the entire solution in a single response. It could not learn that way. We switched training to the same step-by-step loop the model uses at test time.</a:t>
            </a:r>
            <a:endParaRPr lang="en-US" sz="1350" dirty="0"/>
          </a:p>
        </p:txBody>
      </p:sp>
      <p:sp>
        <p:nvSpPr>
          <p:cNvPr id="10" name="Text 8"/>
          <p:cNvSpPr/>
          <p:nvPr/>
        </p:nvSpPr>
        <p:spPr>
          <a:xfrm>
            <a:off x="877824" y="4709160"/>
            <a:ext cx="4791456" cy="731520"/>
          </a:xfrm>
          <a:prstGeom prst="rect">
            <a:avLst/>
          </a:prstGeom>
          <a:noFill/>
          <a:ln/>
        </p:spPr>
        <p:txBody>
          <a:bodyPr wrap="square" lIns="0" tIns="0" rIns="0" bIns="0" rtlCol="0" anchor="t"/>
          <a:lstStyle/>
          <a:p>
            <a:pPr algn="l" indent="0" marL="0">
              <a:lnSpc>
                <a:spcPct val="116000"/>
              </a:lnSpc>
              <a:buNone/>
            </a:pPr>
            <a:r>
              <a:rPr lang="en-US" sz="1350" dirty="0">
                <a:solidFill>
                  <a:srgbClr val="1E8449"/>
                </a:solidFill>
                <a:latin typeface="Adobe Clean ExtraBold" pitchFamily="34" charset="0"/>
                <a:ea typeface="Adobe Clean ExtraBold" pitchFamily="34" charset="-122"/>
                <a:cs typeface="Adobe Clean ExtraBold" pitchFamily="34" charset="-120"/>
              </a:rPr>
              <a:t>Result  </a:t>
            </a:r>
            <a:pPr algn="l" indent="0" marL="0">
              <a:lnSpc>
                <a:spcPct val="116000"/>
              </a:lnSpc>
              <a:buNone/>
            </a:pPr>
            <a:r>
              <a:rPr lang="en-US" sz="1350" dirty="0">
                <a:solidFill>
                  <a:srgbClr val="2C2C2C"/>
                </a:solidFill>
                <a:latin typeface="Adobe Clean" pitchFamily="34" charset="0"/>
                <a:ea typeface="Adobe Clean" pitchFamily="34" charset="-122"/>
                <a:cs typeface="Adobe Clean" pitchFamily="34" charset="-120"/>
              </a:rPr>
              <a:t>the model could finally learn. Feasibility rose from about 0% to 12%.</a:t>
            </a:r>
            <a:endParaRPr lang="en-US" sz="1350" dirty="0"/>
          </a:p>
        </p:txBody>
      </p:sp>
      <p:sp>
        <p:nvSpPr>
          <p:cNvPr id="11" name="Shape 9"/>
          <p:cNvSpPr/>
          <p:nvPr/>
        </p:nvSpPr>
        <p:spPr>
          <a:xfrm>
            <a:off x="6236208" y="1828800"/>
            <a:ext cx="5394960" cy="3703320"/>
          </a:xfrm>
          <a:prstGeom prst="roundRect">
            <a:avLst>
              <a:gd name="adj" fmla="val 2963"/>
            </a:avLst>
          </a:prstGeom>
          <a:solidFill>
            <a:srgbClr val="FFFFFF"/>
          </a:solidFill>
          <a:ln w="15875">
            <a:solidFill>
              <a:srgbClr val="D9DEE6"/>
            </a:solidFill>
            <a:prstDash val="solid"/>
          </a:ln>
        </p:spPr>
      </p:sp>
      <p:sp>
        <p:nvSpPr>
          <p:cNvPr id="12" name="Shape 10"/>
          <p:cNvSpPr/>
          <p:nvPr/>
        </p:nvSpPr>
        <p:spPr>
          <a:xfrm>
            <a:off x="6231636" y="2011680"/>
            <a:ext cx="82296" cy="3337560"/>
          </a:xfrm>
          <a:prstGeom prst="roundRect">
            <a:avLst>
              <a:gd name="adj" fmla="val 50000"/>
            </a:avLst>
          </a:prstGeom>
          <a:solidFill>
            <a:srgbClr val="EB1000"/>
          </a:solidFill>
          <a:ln/>
        </p:spPr>
      </p:sp>
      <p:sp>
        <p:nvSpPr>
          <p:cNvPr id="13" name="Shape 11"/>
          <p:cNvSpPr/>
          <p:nvPr/>
        </p:nvSpPr>
        <p:spPr>
          <a:xfrm>
            <a:off x="6510528" y="2121408"/>
            <a:ext cx="1371600" cy="384048"/>
          </a:xfrm>
          <a:prstGeom prst="roundRect">
            <a:avLst>
              <a:gd name="adj" fmla="val 50000"/>
            </a:avLst>
          </a:prstGeom>
          <a:solidFill>
            <a:srgbClr val="EB1000"/>
          </a:solidFill>
          <a:ln/>
        </p:spPr>
      </p:sp>
      <p:sp>
        <p:nvSpPr>
          <p:cNvPr id="14" name="Text 12"/>
          <p:cNvSpPr/>
          <p:nvPr/>
        </p:nvSpPr>
        <p:spPr>
          <a:xfrm>
            <a:off x="6510528" y="2121408"/>
            <a:ext cx="1371600" cy="384048"/>
          </a:xfrm>
          <a:prstGeom prst="rect">
            <a:avLst/>
          </a:prstGeom>
          <a:noFill/>
          <a:ln/>
        </p:spPr>
        <p:txBody>
          <a:bodyPr wrap="square" lIns="0" tIns="0" rIns="0" bIns="0" rtlCol="0" anchor="ctr"/>
          <a:lstStyle/>
          <a:p>
            <a:pPr algn="ctr" indent="0" marL="0">
              <a:buNone/>
            </a:pPr>
            <a:r>
              <a:rPr lang="en-US" sz="1300" spc="100" kern="0" dirty="0">
                <a:solidFill>
                  <a:srgbClr val="FFFFFF"/>
                </a:solidFill>
                <a:latin typeface="Adobe Clean ExtraBold" pitchFamily="34" charset="0"/>
                <a:ea typeface="Adobe Clean ExtraBold" pitchFamily="34" charset="-122"/>
                <a:cs typeface="Adobe Clean ExtraBold" pitchFamily="34" charset="-120"/>
              </a:rPr>
              <a:t>FIX 2</a:t>
            </a:r>
            <a:endParaRPr lang="en-US" sz="1300" dirty="0"/>
          </a:p>
        </p:txBody>
      </p:sp>
      <p:sp>
        <p:nvSpPr>
          <p:cNvPr id="15" name="Text 13"/>
          <p:cNvSpPr/>
          <p:nvPr/>
        </p:nvSpPr>
        <p:spPr>
          <a:xfrm>
            <a:off x="8019288" y="2103120"/>
            <a:ext cx="3383280" cy="457200"/>
          </a:xfrm>
          <a:prstGeom prst="rect">
            <a:avLst/>
          </a:prstGeom>
          <a:noFill/>
          <a:ln/>
        </p:spPr>
        <p:txBody>
          <a:bodyPr wrap="square" lIns="0" tIns="0" rIns="0" bIns="0" rtlCol="0" anchor="ctr"/>
          <a:lstStyle/>
          <a:p>
            <a:pPr algn="l" indent="0" marL="0">
              <a:buNone/>
            </a:pPr>
            <a:r>
              <a:rPr lang="en-US" sz="1600" dirty="0">
                <a:solidFill>
                  <a:srgbClr val="21304A"/>
                </a:solidFill>
                <a:latin typeface="Adobe Clean ExtraBold" pitchFamily="34" charset="0"/>
                <a:ea typeface="Adobe Clean ExtraBold" pitchFamily="34" charset="-122"/>
                <a:cs typeface="Adobe Clean ExtraBold" pitchFamily="34" charset="-120"/>
              </a:rPr>
              <a:t>Tell it which member is failing</a:t>
            </a:r>
            <a:endParaRPr lang="en-US" sz="1600" dirty="0"/>
          </a:p>
        </p:txBody>
      </p:sp>
      <p:sp>
        <p:nvSpPr>
          <p:cNvPr id="16" name="Text 14"/>
          <p:cNvSpPr/>
          <p:nvPr/>
        </p:nvSpPr>
        <p:spPr>
          <a:xfrm>
            <a:off x="6547104" y="2743200"/>
            <a:ext cx="4791456" cy="1828800"/>
          </a:xfrm>
          <a:prstGeom prst="rect">
            <a:avLst/>
          </a:prstGeom>
          <a:noFill/>
          <a:ln/>
        </p:spPr>
        <p:txBody>
          <a:bodyPr wrap="square" lIns="0" tIns="0" rIns="0" bIns="0" rtlCol="0" anchor="t"/>
          <a:lstStyle/>
          <a:p>
            <a:pPr algn="l" indent="0" marL="0">
              <a:lnSpc>
                <a:spcPct val="116000"/>
              </a:lnSpc>
              <a:buNone/>
            </a:pPr>
            <a:r>
              <a:rPr lang="en-US" sz="1350" dirty="0">
                <a:solidFill>
                  <a:srgbClr val="2C2C2C"/>
                </a:solidFill>
                <a:latin typeface="Adobe Clean" pitchFamily="34" charset="0"/>
                <a:ea typeface="Adobe Clean" pitchFamily="34" charset="-122"/>
                <a:cs typeface="Adobe Clean" pitchFamily="34" charset="-120"/>
              </a:rPr>
              <a:t>The physics solver identifies the member that is about to buckle. That detail had been left out of what the model was shown, so it had to guess which member to change. We put it back into the feedback.</a:t>
            </a:r>
            <a:endParaRPr lang="en-US" sz="1350" dirty="0"/>
          </a:p>
        </p:txBody>
      </p:sp>
      <p:sp>
        <p:nvSpPr>
          <p:cNvPr id="17" name="Text 15"/>
          <p:cNvSpPr/>
          <p:nvPr/>
        </p:nvSpPr>
        <p:spPr>
          <a:xfrm>
            <a:off x="6547104" y="4709160"/>
            <a:ext cx="4791456" cy="731520"/>
          </a:xfrm>
          <a:prstGeom prst="rect">
            <a:avLst/>
          </a:prstGeom>
          <a:noFill/>
          <a:ln/>
        </p:spPr>
        <p:txBody>
          <a:bodyPr wrap="square" lIns="0" tIns="0" rIns="0" bIns="0" rtlCol="0" anchor="t"/>
          <a:lstStyle/>
          <a:p>
            <a:pPr algn="l" indent="0" marL="0">
              <a:lnSpc>
                <a:spcPct val="116000"/>
              </a:lnSpc>
              <a:buNone/>
            </a:pPr>
            <a:r>
              <a:rPr lang="en-US" sz="1350" dirty="0">
                <a:solidFill>
                  <a:srgbClr val="1E8449"/>
                </a:solidFill>
                <a:latin typeface="Adobe Clean ExtraBold" pitchFamily="34" charset="0"/>
                <a:ea typeface="Adobe Clean ExtraBold" pitchFamily="34" charset="-122"/>
                <a:cs typeface="Adobe Clean ExtraBold" pitchFamily="34" charset="-120"/>
              </a:rPr>
              <a:t>Result  </a:t>
            </a:r>
            <a:pPr algn="l" indent="0" marL="0">
              <a:lnSpc>
                <a:spcPct val="116000"/>
              </a:lnSpc>
              <a:buNone/>
            </a:pPr>
            <a:r>
              <a:rPr lang="en-US" sz="1350" dirty="0">
                <a:solidFill>
                  <a:srgbClr val="2C2C2C"/>
                </a:solidFill>
                <a:latin typeface="Adobe Clean" pitchFamily="34" charset="0"/>
                <a:ea typeface="Adobe Clean" pitchFamily="34" charset="-122"/>
                <a:cs typeface="Adobe Clean" pitchFamily="34" charset="-120"/>
              </a:rPr>
              <a:t>feasibility rose from 12% to 68%. A strong model with no training went from 0 of 6 to 4 of 6.</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64240" cy="676656"/>
          </a:xfrm>
          <a:prstGeom prst="rect">
            <a:avLst/>
          </a:prstGeom>
          <a:noFill/>
          <a:ln/>
        </p:spPr>
        <p:txBody>
          <a:bodyPr wrap="square" lIns="0" tIns="0" rIns="0" bIns="0" rtlCol="0" anchor="t"/>
          <a:lstStyle/>
          <a:p>
            <a:pPr algn="l" indent="0" marL="0">
              <a:buNone/>
            </a:pPr>
            <a:r>
              <a:rPr lang="en-US" sz="2800" dirty="0">
                <a:solidFill>
                  <a:srgbClr val="EB1000"/>
                </a:solidFill>
                <a:latin typeface="Adobe Clean ExtraBold" pitchFamily="34" charset="0"/>
                <a:ea typeface="Adobe Clean ExtraBold" pitchFamily="34" charset="-122"/>
                <a:cs typeface="Adobe Clean ExtraBold" pitchFamily="34" charset="-120"/>
              </a:rPr>
              <a:t>Running the Model One Step at a Time</a:t>
            </a:r>
            <a:endParaRPr lang="en-US" sz="2800" dirty="0"/>
          </a:p>
        </p:txBody>
      </p:sp>
      <p:sp>
        <p:nvSpPr>
          <p:cNvPr id="3" name="Text 1"/>
          <p:cNvSpPr/>
          <p:nvPr/>
        </p:nvSpPr>
        <p:spPr>
          <a:xfrm>
            <a:off x="566928" y="1060704"/>
            <a:ext cx="11064240" cy="384048"/>
          </a:xfrm>
          <a:prstGeom prst="rect">
            <a:avLst/>
          </a:prstGeom>
          <a:noFill/>
          <a:ln/>
        </p:spPr>
        <p:txBody>
          <a:bodyPr wrap="square" lIns="0" tIns="0" rIns="0" bIns="0" rtlCol="0" anchor="t"/>
          <a:lstStyle/>
          <a:p>
            <a:pPr algn="l" indent="0" marL="0">
              <a:buNone/>
            </a:pPr>
            <a:r>
              <a:rPr lang="en-US" sz="1450" dirty="0">
                <a:solidFill>
                  <a:srgbClr val="5A6473"/>
                </a:solidFill>
                <a:latin typeface="Adobe Clean" pitchFamily="34" charset="0"/>
                <a:ea typeface="Adobe Clean" pitchFamily="34" charset="-122"/>
                <a:cs typeface="Adobe Clean" pitchFamily="34" charset="-120"/>
              </a:rPr>
              <a:t>During training the model was asked for the whole solution at once, instead of one edit at a time.</a:t>
            </a:r>
            <a:endParaRPr lang="en-US" sz="1450" dirty="0"/>
          </a:p>
        </p:txBody>
      </p:sp>
      <p:sp>
        <p:nvSpPr>
          <p:cNvPr id="4" name="Shape 2"/>
          <p:cNvSpPr/>
          <p:nvPr/>
        </p:nvSpPr>
        <p:spPr>
          <a:xfrm>
            <a:off x="566928" y="1828800"/>
            <a:ext cx="5394960" cy="2286000"/>
          </a:xfrm>
          <a:prstGeom prst="roundRect">
            <a:avLst>
              <a:gd name="adj" fmla="val 4000"/>
            </a:avLst>
          </a:prstGeom>
          <a:solidFill>
            <a:srgbClr val="FBEAE7"/>
          </a:solidFill>
          <a:ln w="12700">
            <a:solidFill>
              <a:srgbClr val="E7C3BD"/>
            </a:solidFill>
            <a:prstDash val="solid"/>
          </a:ln>
        </p:spPr>
      </p:sp>
      <p:sp>
        <p:nvSpPr>
          <p:cNvPr id="5" name="Text 3"/>
          <p:cNvSpPr/>
          <p:nvPr/>
        </p:nvSpPr>
        <p:spPr>
          <a:xfrm>
            <a:off x="786384" y="1993392"/>
            <a:ext cx="4956048" cy="384048"/>
          </a:xfrm>
          <a:prstGeom prst="rect">
            <a:avLst/>
          </a:prstGeom>
          <a:noFill/>
          <a:ln/>
        </p:spPr>
        <p:txBody>
          <a:bodyPr wrap="square" lIns="0" tIns="0" rIns="0" bIns="0" rtlCol="0" anchor="t"/>
          <a:lstStyle/>
          <a:p>
            <a:pPr algn="l" indent="0" marL="0">
              <a:buNone/>
            </a:pPr>
            <a:r>
              <a:rPr lang="en-US" sz="1500" dirty="0">
                <a:solidFill>
                  <a:srgbClr val="EB1000"/>
                </a:solidFill>
                <a:latin typeface="Adobe Clean ExtraBold" pitchFamily="34" charset="0"/>
                <a:ea typeface="Adobe Clean ExtraBold" pitchFamily="34" charset="-122"/>
                <a:cs typeface="Adobe Clean ExtraBold" pitchFamily="34" charset="-120"/>
              </a:rPr>
              <a:t>Before</a:t>
            </a:r>
            <a:endParaRPr lang="en-US" sz="1500" dirty="0"/>
          </a:p>
        </p:txBody>
      </p:sp>
      <p:sp>
        <p:nvSpPr>
          <p:cNvPr id="6" name="Text 4"/>
          <p:cNvSpPr/>
          <p:nvPr/>
        </p:nvSpPr>
        <p:spPr>
          <a:xfrm>
            <a:off x="786384" y="2414016"/>
            <a:ext cx="4956048" cy="1572768"/>
          </a:xfrm>
          <a:prstGeom prst="rect">
            <a:avLst/>
          </a:prstGeom>
          <a:noFill/>
          <a:ln/>
        </p:spPr>
        <p:txBody>
          <a:bodyPr wrap="square" lIns="0" tIns="0" rIns="0" bIns="0" rtlCol="0" anchor="t"/>
          <a:lstStyle/>
          <a:p>
            <a:pPr algn="l" indent="0" marL="0">
              <a:lnSpc>
                <a:spcPct val="112000"/>
              </a:lnSpc>
              <a:spcAft>
                <a:spcPts val="500"/>
              </a:spcAft>
              <a:buNone/>
            </a:pPr>
            <a:r>
              <a:rPr lang="en-US" sz="1300" dirty="0">
                <a:solidFill>
                  <a:srgbClr val="2C2C2C"/>
                </a:solidFill>
                <a:latin typeface="Adobe Clean" pitchFamily="34" charset="0"/>
                <a:ea typeface="Adobe Clean" pitchFamily="34" charset="-122"/>
                <a:cs typeface="Adobe Clean" pitchFamily="34" charset="-120"/>
              </a:rPr>
              <a:t>Training asked the model for the entire sequence of edits in one response. That is not how the model runs in practice, so it could not improve.</a:t>
            </a:r>
            <a:endParaRPr lang="en-US" sz="1300" dirty="0"/>
          </a:p>
        </p:txBody>
      </p:sp>
      <p:sp>
        <p:nvSpPr>
          <p:cNvPr id="7" name="Text 5"/>
          <p:cNvSpPr/>
          <p:nvPr/>
        </p:nvSpPr>
        <p:spPr>
          <a:xfrm>
            <a:off x="786384" y="3566160"/>
            <a:ext cx="4956048" cy="457200"/>
          </a:xfrm>
          <a:prstGeom prst="rect">
            <a:avLst/>
          </a:prstGeom>
          <a:noFill/>
          <a:ln/>
        </p:spPr>
        <p:txBody>
          <a:bodyPr wrap="square" lIns="0" tIns="0" rIns="0" bIns="0" rtlCol="0" anchor="ctr"/>
          <a:lstStyle/>
          <a:p>
            <a:pPr algn="l" indent="0" marL="0">
              <a:buNone/>
            </a:pPr>
            <a:r>
              <a:rPr lang="en-US" sz="1300" dirty="0">
                <a:solidFill>
                  <a:srgbClr val="21304A"/>
                </a:solidFill>
                <a:latin typeface="Adobe Clean ExtraBold" pitchFamily="34" charset="0"/>
                <a:ea typeface="Adobe Clean ExtraBold" pitchFamily="34" charset="-122"/>
                <a:cs typeface="Adobe Clean ExtraBold" pitchFamily="34" charset="-120"/>
              </a:rPr>
              <a:t>The model barely changed over the whole run.</a:t>
            </a:r>
            <a:endParaRPr lang="en-US" sz="1300" dirty="0"/>
          </a:p>
        </p:txBody>
      </p:sp>
      <p:sp>
        <p:nvSpPr>
          <p:cNvPr id="8" name="Shape 6"/>
          <p:cNvSpPr/>
          <p:nvPr/>
        </p:nvSpPr>
        <p:spPr>
          <a:xfrm>
            <a:off x="6236208" y="1828800"/>
            <a:ext cx="5394960" cy="2286000"/>
          </a:xfrm>
          <a:prstGeom prst="roundRect">
            <a:avLst>
              <a:gd name="adj" fmla="val 4000"/>
            </a:avLst>
          </a:prstGeom>
          <a:solidFill>
            <a:srgbClr val="EAF6EE"/>
          </a:solidFill>
          <a:ln w="12700">
            <a:solidFill>
              <a:srgbClr val="BFE0CA"/>
            </a:solidFill>
            <a:prstDash val="solid"/>
          </a:ln>
        </p:spPr>
      </p:sp>
      <p:sp>
        <p:nvSpPr>
          <p:cNvPr id="9" name="Text 7"/>
          <p:cNvSpPr/>
          <p:nvPr/>
        </p:nvSpPr>
        <p:spPr>
          <a:xfrm>
            <a:off x="6455664" y="1993392"/>
            <a:ext cx="4956048" cy="384048"/>
          </a:xfrm>
          <a:prstGeom prst="rect">
            <a:avLst/>
          </a:prstGeom>
          <a:noFill/>
          <a:ln/>
        </p:spPr>
        <p:txBody>
          <a:bodyPr wrap="square" lIns="0" tIns="0" rIns="0" bIns="0" rtlCol="0" anchor="t"/>
          <a:lstStyle/>
          <a:p>
            <a:pPr algn="l" indent="0" marL="0">
              <a:buNone/>
            </a:pPr>
            <a:r>
              <a:rPr lang="en-US" sz="1500" dirty="0">
                <a:solidFill>
                  <a:srgbClr val="1E8449"/>
                </a:solidFill>
                <a:latin typeface="Adobe Clean ExtraBold" pitchFamily="34" charset="0"/>
                <a:ea typeface="Adobe Clean ExtraBold" pitchFamily="34" charset="-122"/>
                <a:cs typeface="Adobe Clean ExtraBold" pitchFamily="34" charset="-120"/>
              </a:rPr>
              <a:t>After</a:t>
            </a:r>
            <a:endParaRPr lang="en-US" sz="1500" dirty="0"/>
          </a:p>
        </p:txBody>
      </p:sp>
      <p:sp>
        <p:nvSpPr>
          <p:cNvPr id="10" name="Text 8"/>
          <p:cNvSpPr/>
          <p:nvPr/>
        </p:nvSpPr>
        <p:spPr>
          <a:xfrm>
            <a:off x="6455664" y="2414016"/>
            <a:ext cx="4956048" cy="1572768"/>
          </a:xfrm>
          <a:prstGeom prst="rect">
            <a:avLst/>
          </a:prstGeom>
          <a:noFill/>
          <a:ln/>
        </p:spPr>
        <p:txBody>
          <a:bodyPr wrap="square" lIns="0" tIns="0" rIns="0" bIns="0" rtlCol="0" anchor="t"/>
          <a:lstStyle/>
          <a:p>
            <a:pPr algn="l" indent="0" marL="0">
              <a:lnSpc>
                <a:spcPct val="112000"/>
              </a:lnSpc>
              <a:spcAft>
                <a:spcPts val="500"/>
              </a:spcAft>
              <a:buNone/>
            </a:pPr>
            <a:r>
              <a:rPr lang="en-US" sz="1300" dirty="0">
                <a:solidFill>
                  <a:srgbClr val="2C2C2C"/>
                </a:solidFill>
                <a:latin typeface="Adobe Clean" pitchFamily="34" charset="0"/>
                <a:ea typeface="Adobe Clean" pitchFamily="34" charset="-122"/>
                <a:cs typeface="Adobe Clean" pitchFamily="34" charset="-120"/>
              </a:rPr>
              <a:t>Each edit is made, tested by the solver, and fed back before the next one. Now the model improves from turn to turn.</a:t>
            </a:r>
            <a:endParaRPr lang="en-US" sz="1300" dirty="0"/>
          </a:p>
        </p:txBody>
      </p:sp>
      <p:sp>
        <p:nvSpPr>
          <p:cNvPr id="11" name="Text 9"/>
          <p:cNvSpPr/>
          <p:nvPr/>
        </p:nvSpPr>
        <p:spPr>
          <a:xfrm>
            <a:off x="6455664" y="3566160"/>
            <a:ext cx="4956048" cy="457200"/>
          </a:xfrm>
          <a:prstGeom prst="rect">
            <a:avLst/>
          </a:prstGeom>
          <a:noFill/>
          <a:ln/>
        </p:spPr>
        <p:txBody>
          <a:bodyPr wrap="square" lIns="0" tIns="0" rIns="0" bIns="0" rtlCol="0" anchor="ctr"/>
          <a:lstStyle/>
          <a:p>
            <a:pPr algn="l" indent="0" marL="0">
              <a:buNone/>
            </a:pPr>
            <a:r>
              <a:rPr lang="en-US" sz="1300" dirty="0">
                <a:solidFill>
                  <a:srgbClr val="1E8449"/>
                </a:solidFill>
                <a:latin typeface="Adobe Clean ExtraBold" pitchFamily="34" charset="0"/>
                <a:ea typeface="Adobe Clean ExtraBold" pitchFamily="34" charset="-122"/>
                <a:cs typeface="Adobe Clean ExtraBold" pitchFamily="34" charset="-120"/>
              </a:rPr>
              <a:t>The model changed about ten times as much.</a:t>
            </a:r>
            <a:endParaRPr lang="en-US" sz="1300" dirty="0"/>
          </a:p>
        </p:txBody>
      </p:sp>
      <p:sp>
        <p:nvSpPr>
          <p:cNvPr id="12" name="Shape 10"/>
          <p:cNvSpPr/>
          <p:nvPr/>
        </p:nvSpPr>
        <p:spPr>
          <a:xfrm>
            <a:off x="566928" y="4434840"/>
            <a:ext cx="11064240" cy="1417320"/>
          </a:xfrm>
          <a:prstGeom prst="roundRect">
            <a:avLst>
              <a:gd name="adj" fmla="val 6452"/>
            </a:avLst>
          </a:prstGeom>
          <a:solidFill>
            <a:srgbClr val="EEF1F6"/>
          </a:solidFill>
          <a:ln w="12700">
            <a:solidFill>
              <a:srgbClr val="D9DEE6"/>
            </a:solidFill>
            <a:prstDash val="solid"/>
          </a:ln>
        </p:spPr>
      </p:sp>
      <p:sp>
        <p:nvSpPr>
          <p:cNvPr id="13" name="Text 11"/>
          <p:cNvSpPr/>
          <p:nvPr/>
        </p:nvSpPr>
        <p:spPr>
          <a:xfrm>
            <a:off x="786384" y="4599432"/>
            <a:ext cx="10625328" cy="384048"/>
          </a:xfrm>
          <a:prstGeom prst="rect">
            <a:avLst/>
          </a:prstGeom>
          <a:noFill/>
          <a:ln/>
        </p:spPr>
        <p:txBody>
          <a:bodyPr wrap="square" lIns="0" tIns="0" rIns="0" bIns="0" rtlCol="0" anchor="t"/>
          <a:lstStyle/>
          <a:p>
            <a:pPr algn="l" indent="0" marL="0">
              <a:buNone/>
            </a:pPr>
            <a:r>
              <a:rPr lang="en-US" sz="1500" dirty="0">
                <a:solidFill>
                  <a:srgbClr val="21304A"/>
                </a:solidFill>
                <a:latin typeface="Adobe Clean ExtraBold" pitchFamily="34" charset="0"/>
                <a:ea typeface="Adobe Clean ExtraBold" pitchFamily="34" charset="-122"/>
                <a:cs typeface="Adobe Clean ExtraBold" pitchFamily="34" charset="-120"/>
              </a:rPr>
              <a:t>Why this matters</a:t>
            </a:r>
            <a:endParaRPr lang="en-US" sz="1500" dirty="0"/>
          </a:p>
        </p:txBody>
      </p:sp>
      <p:sp>
        <p:nvSpPr>
          <p:cNvPr id="14" name="Text 12"/>
          <p:cNvSpPr/>
          <p:nvPr/>
        </p:nvSpPr>
        <p:spPr>
          <a:xfrm>
            <a:off x="786384" y="5020056"/>
            <a:ext cx="10625328" cy="704088"/>
          </a:xfrm>
          <a:prstGeom prst="rect">
            <a:avLst/>
          </a:prstGeom>
          <a:noFill/>
          <a:ln/>
        </p:spPr>
        <p:txBody>
          <a:bodyPr wrap="square" lIns="0" tIns="0" rIns="0" bIns="0" rtlCol="0" anchor="ctr"/>
          <a:lstStyle/>
          <a:p>
            <a:pPr algn="l" indent="0" marL="0">
              <a:lnSpc>
                <a:spcPct val="112000"/>
              </a:lnSpc>
              <a:spcAft>
                <a:spcPts val="500"/>
              </a:spcAft>
              <a:buNone/>
            </a:pPr>
            <a:r>
              <a:rPr lang="en-US" sz="1350" dirty="0">
                <a:solidFill>
                  <a:srgbClr val="2C2C2C"/>
                </a:solidFill>
                <a:latin typeface="Adobe Clean" pitchFamily="34" charset="0"/>
                <a:ea typeface="Adobe Clean" pitchFamily="34" charset="-122"/>
                <a:cs typeface="Adobe Clean" pitchFamily="34" charset="-120"/>
              </a:rPr>
              <a:t>The training signal can only reward the exact way the model is run. If the model is run one way during training and a different way in practice, that signal points in the wrong direction. Matching the two is what let the model start learning at all.</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64240" cy="676656"/>
          </a:xfrm>
          <a:prstGeom prst="rect">
            <a:avLst/>
          </a:prstGeom>
          <a:noFill/>
          <a:ln/>
        </p:spPr>
        <p:txBody>
          <a:bodyPr wrap="square" lIns="0" tIns="0" rIns="0" bIns="0" rtlCol="0" anchor="t"/>
          <a:lstStyle/>
          <a:p>
            <a:pPr algn="l" indent="0" marL="0">
              <a:buNone/>
            </a:pPr>
            <a:r>
              <a:rPr lang="en-US" sz="2800" dirty="0">
                <a:solidFill>
                  <a:srgbClr val="EB1000"/>
                </a:solidFill>
                <a:latin typeface="Adobe Clean ExtraBold" pitchFamily="34" charset="0"/>
                <a:ea typeface="Adobe Clean ExtraBold" pitchFamily="34" charset="-122"/>
                <a:cs typeface="Adobe Clean ExtraBold" pitchFamily="34" charset="-120"/>
              </a:rPr>
              <a:t>Telling the Model Which Member Is Failing</a:t>
            </a:r>
            <a:endParaRPr lang="en-US" sz="2800" dirty="0"/>
          </a:p>
        </p:txBody>
      </p:sp>
      <p:sp>
        <p:nvSpPr>
          <p:cNvPr id="3" name="Text 1"/>
          <p:cNvSpPr/>
          <p:nvPr/>
        </p:nvSpPr>
        <p:spPr>
          <a:xfrm>
            <a:off x="566928" y="1060704"/>
            <a:ext cx="11064240" cy="384048"/>
          </a:xfrm>
          <a:prstGeom prst="rect">
            <a:avLst/>
          </a:prstGeom>
          <a:noFill/>
          <a:ln/>
        </p:spPr>
        <p:txBody>
          <a:bodyPr wrap="square" lIns="0" tIns="0" rIns="0" bIns="0" rtlCol="0" anchor="t"/>
          <a:lstStyle/>
          <a:p>
            <a:pPr algn="l" indent="0" marL="0">
              <a:buNone/>
            </a:pPr>
            <a:r>
              <a:rPr lang="en-US" sz="1450" dirty="0">
                <a:solidFill>
                  <a:srgbClr val="5A6473"/>
                </a:solidFill>
                <a:latin typeface="Adobe Clean" pitchFamily="34" charset="0"/>
                <a:ea typeface="Adobe Clean" pitchFamily="34" charset="-122"/>
                <a:cs typeface="Adobe Clean" pitchFamily="34" charset="-120"/>
              </a:rPr>
              <a:t>The physics solver knows which member is about to buckle, but that detail was missing from what the model saw.</a:t>
            </a:r>
            <a:endParaRPr lang="en-US" sz="1450" dirty="0"/>
          </a:p>
        </p:txBody>
      </p:sp>
      <p:sp>
        <p:nvSpPr>
          <p:cNvPr id="4" name="Text 2"/>
          <p:cNvSpPr/>
          <p:nvPr/>
        </p:nvSpPr>
        <p:spPr>
          <a:xfrm>
            <a:off x="566928" y="1691640"/>
            <a:ext cx="4709160" cy="310896"/>
          </a:xfrm>
          <a:prstGeom prst="rect">
            <a:avLst/>
          </a:prstGeom>
          <a:noFill/>
          <a:ln/>
        </p:spPr>
        <p:txBody>
          <a:bodyPr wrap="square" lIns="0" tIns="0" rIns="0" bIns="0" rtlCol="0" anchor="t"/>
          <a:lstStyle/>
          <a:p>
            <a:pPr algn="l" indent="0" marL="0">
              <a:buNone/>
            </a:pPr>
            <a:r>
              <a:rPr lang="en-US" sz="1350" dirty="0">
                <a:solidFill>
                  <a:srgbClr val="EB1000"/>
                </a:solidFill>
                <a:latin typeface="Adobe Clean ExtraBold" pitchFamily="34" charset="0"/>
                <a:ea typeface="Adobe Clean ExtraBold" pitchFamily="34" charset="-122"/>
                <a:cs typeface="Adobe Clean ExtraBold" pitchFamily="34" charset="-120"/>
              </a:rPr>
              <a:t>Before, it changed the wrong members</a:t>
            </a:r>
            <a:endParaRPr lang="en-US" sz="1350" dirty="0"/>
          </a:p>
        </p:txBody>
      </p:sp>
      <p:pic>
        <p:nvPicPr>
          <p:cNvPr id="5" name="Image 0" descr="asset_truss_before.png">    </p:cNvPr>
          <p:cNvPicPr>
            <a:picLocks noChangeAspect="1"/>
          </p:cNvPicPr>
          <p:nvPr/>
        </p:nvPicPr>
        <p:blipFill>
          <a:blip r:embed="rId1"/>
          <a:stretch>
            <a:fillRect/>
          </a:stretch>
        </p:blipFill>
        <p:spPr>
          <a:xfrm>
            <a:off x="566928" y="2103120"/>
            <a:ext cx="4160520" cy="1760220"/>
          </a:xfrm>
          <a:prstGeom prst="rect">
            <a:avLst/>
          </a:prstGeom>
        </p:spPr>
      </p:pic>
      <p:sp>
        <p:nvSpPr>
          <p:cNvPr id="6" name="Text 3"/>
          <p:cNvSpPr/>
          <p:nvPr/>
        </p:nvSpPr>
        <p:spPr>
          <a:xfrm>
            <a:off x="5504688" y="1691640"/>
            <a:ext cx="4709160" cy="310896"/>
          </a:xfrm>
          <a:prstGeom prst="rect">
            <a:avLst/>
          </a:prstGeom>
          <a:noFill/>
          <a:ln/>
        </p:spPr>
        <p:txBody>
          <a:bodyPr wrap="square" lIns="0" tIns="0" rIns="0" bIns="0" rtlCol="0" anchor="t"/>
          <a:lstStyle/>
          <a:p>
            <a:pPr algn="l" indent="0" marL="0">
              <a:buNone/>
            </a:pPr>
            <a:r>
              <a:rPr lang="en-US" sz="1350" dirty="0">
                <a:solidFill>
                  <a:srgbClr val="1E8449"/>
                </a:solidFill>
                <a:latin typeface="Adobe Clean ExtraBold" pitchFamily="34" charset="0"/>
                <a:ea typeface="Adobe Clean ExtraBold" pitchFamily="34" charset="-122"/>
                <a:cs typeface="Adobe Clean ExtraBold" pitchFamily="34" charset="-120"/>
              </a:rPr>
              <a:t>After, it changes the right member</a:t>
            </a:r>
            <a:endParaRPr lang="en-US" sz="1350" dirty="0"/>
          </a:p>
        </p:txBody>
      </p:sp>
      <p:pic>
        <p:nvPicPr>
          <p:cNvPr id="7" name="Image 1" descr="asset_truss_after.png">    </p:cNvPr>
          <p:cNvPicPr>
            <a:picLocks noChangeAspect="1"/>
          </p:cNvPicPr>
          <p:nvPr/>
        </p:nvPicPr>
        <p:blipFill>
          <a:blip r:embed="rId2"/>
          <a:stretch>
            <a:fillRect/>
          </a:stretch>
        </p:blipFill>
        <p:spPr>
          <a:xfrm>
            <a:off x="5504688" y="2103120"/>
            <a:ext cx="4160520" cy="1760220"/>
          </a:xfrm>
          <a:prstGeom prst="rect">
            <a:avLst/>
          </a:prstGeom>
        </p:spPr>
      </p:pic>
      <p:sp>
        <p:nvSpPr>
          <p:cNvPr id="8" name="Shape 4"/>
          <p:cNvSpPr/>
          <p:nvPr/>
        </p:nvSpPr>
        <p:spPr>
          <a:xfrm>
            <a:off x="9326880" y="1828800"/>
            <a:ext cx="2286000" cy="1417320"/>
          </a:xfrm>
          <a:prstGeom prst="roundRect">
            <a:avLst>
              <a:gd name="adj" fmla="val 7097"/>
            </a:avLst>
          </a:prstGeom>
          <a:solidFill>
            <a:srgbClr val="F4F5F7"/>
          </a:solidFill>
          <a:ln w="12700">
            <a:solidFill>
              <a:srgbClr val="D9DEE6"/>
            </a:solidFill>
            <a:prstDash val="solid"/>
          </a:ln>
        </p:spPr>
      </p:sp>
      <p:sp>
        <p:nvSpPr>
          <p:cNvPr id="9" name="Text 5"/>
          <p:cNvSpPr/>
          <p:nvPr/>
        </p:nvSpPr>
        <p:spPr>
          <a:xfrm>
            <a:off x="9363456" y="1920240"/>
            <a:ext cx="2212848" cy="793699"/>
          </a:xfrm>
          <a:prstGeom prst="rect">
            <a:avLst/>
          </a:prstGeom>
          <a:noFill/>
          <a:ln/>
        </p:spPr>
        <p:txBody>
          <a:bodyPr wrap="square" lIns="0" tIns="0" rIns="0" bIns="0" rtlCol="0" anchor="ctr"/>
          <a:lstStyle/>
          <a:p>
            <a:pPr algn="ctr" indent="0" marL="0">
              <a:buNone/>
            </a:pPr>
            <a:r>
              <a:rPr lang="en-US" sz="2400" dirty="0">
                <a:solidFill>
                  <a:srgbClr val="EB1000"/>
                </a:solidFill>
                <a:latin typeface="Adobe Clean ExtraBold" pitchFamily="34" charset="0"/>
                <a:ea typeface="Adobe Clean ExtraBold" pitchFamily="34" charset="-122"/>
                <a:cs typeface="Adobe Clean ExtraBold" pitchFamily="34" charset="-120"/>
              </a:rPr>
              <a:t>12 → 68%</a:t>
            </a:r>
            <a:endParaRPr lang="en-US" sz="2400" dirty="0"/>
          </a:p>
        </p:txBody>
      </p:sp>
      <p:sp>
        <p:nvSpPr>
          <p:cNvPr id="10" name="Text 6"/>
          <p:cNvSpPr/>
          <p:nvPr/>
        </p:nvSpPr>
        <p:spPr>
          <a:xfrm>
            <a:off x="9363456" y="2707538"/>
            <a:ext cx="2212848" cy="453542"/>
          </a:xfrm>
          <a:prstGeom prst="rect">
            <a:avLst/>
          </a:prstGeom>
          <a:noFill/>
          <a:ln/>
        </p:spPr>
        <p:txBody>
          <a:bodyPr wrap="square" lIns="0" tIns="0" rIns="0" bIns="0" rtlCol="0" anchor="t"/>
          <a:lstStyle/>
          <a:p>
            <a:pPr algn="ctr" indent="0" marL="0">
              <a:buNone/>
            </a:pPr>
            <a:r>
              <a:rPr lang="en-US" sz="1200" dirty="0">
                <a:solidFill>
                  <a:srgbClr val="5F5F5F"/>
                </a:solidFill>
                <a:latin typeface="Adobe Clean" pitchFamily="34" charset="0"/>
                <a:ea typeface="Adobe Clean" pitchFamily="34" charset="-122"/>
                <a:cs typeface="Adobe Clean" pitchFamily="34" charset="-120"/>
              </a:rPr>
              <a:t>feasibility (14B)</a:t>
            </a:r>
            <a:endParaRPr lang="en-US" sz="1200" dirty="0"/>
          </a:p>
        </p:txBody>
      </p:sp>
      <p:sp>
        <p:nvSpPr>
          <p:cNvPr id="11" name="Shape 7"/>
          <p:cNvSpPr/>
          <p:nvPr/>
        </p:nvSpPr>
        <p:spPr>
          <a:xfrm>
            <a:off x="9326880" y="3383280"/>
            <a:ext cx="2286000" cy="1417320"/>
          </a:xfrm>
          <a:prstGeom prst="roundRect">
            <a:avLst>
              <a:gd name="adj" fmla="val 7097"/>
            </a:avLst>
          </a:prstGeom>
          <a:solidFill>
            <a:srgbClr val="F4F5F7"/>
          </a:solidFill>
          <a:ln w="12700">
            <a:solidFill>
              <a:srgbClr val="D9DEE6"/>
            </a:solidFill>
            <a:prstDash val="solid"/>
          </a:ln>
        </p:spPr>
      </p:sp>
      <p:sp>
        <p:nvSpPr>
          <p:cNvPr id="12" name="Text 8"/>
          <p:cNvSpPr/>
          <p:nvPr/>
        </p:nvSpPr>
        <p:spPr>
          <a:xfrm>
            <a:off x="9363456" y="3474720"/>
            <a:ext cx="2212848" cy="793699"/>
          </a:xfrm>
          <a:prstGeom prst="rect">
            <a:avLst/>
          </a:prstGeom>
          <a:noFill/>
          <a:ln/>
        </p:spPr>
        <p:txBody>
          <a:bodyPr wrap="square" lIns="0" tIns="0" rIns="0" bIns="0" rtlCol="0" anchor="ctr"/>
          <a:lstStyle/>
          <a:p>
            <a:pPr algn="ctr" indent="0" marL="0">
              <a:buNone/>
            </a:pPr>
            <a:r>
              <a:rPr lang="en-US" sz="2800" dirty="0">
                <a:solidFill>
                  <a:srgbClr val="1E8449"/>
                </a:solidFill>
                <a:latin typeface="Adobe Clean ExtraBold" pitchFamily="34" charset="0"/>
                <a:ea typeface="Adobe Clean ExtraBold" pitchFamily="34" charset="-122"/>
                <a:cs typeface="Adobe Clean ExtraBold" pitchFamily="34" charset="-120"/>
              </a:rPr>
              <a:t>0 → 4 / 6</a:t>
            </a:r>
            <a:endParaRPr lang="en-US" sz="2800" dirty="0"/>
          </a:p>
        </p:txBody>
      </p:sp>
      <p:sp>
        <p:nvSpPr>
          <p:cNvPr id="13" name="Text 9"/>
          <p:cNvSpPr/>
          <p:nvPr/>
        </p:nvSpPr>
        <p:spPr>
          <a:xfrm>
            <a:off x="9363456" y="4262018"/>
            <a:ext cx="2212848" cy="453542"/>
          </a:xfrm>
          <a:prstGeom prst="rect">
            <a:avLst/>
          </a:prstGeom>
          <a:noFill/>
          <a:ln/>
        </p:spPr>
        <p:txBody>
          <a:bodyPr wrap="square" lIns="0" tIns="0" rIns="0" bIns="0" rtlCol="0" anchor="t"/>
          <a:lstStyle/>
          <a:p>
            <a:pPr algn="ctr" indent="0" marL="0">
              <a:buNone/>
            </a:pPr>
            <a:r>
              <a:rPr lang="en-US" sz="1200" dirty="0">
                <a:solidFill>
                  <a:srgbClr val="5F5F5F"/>
                </a:solidFill>
                <a:latin typeface="Adobe Clean" pitchFamily="34" charset="0"/>
                <a:ea typeface="Adobe Clean" pitchFamily="34" charset="-122"/>
                <a:cs typeface="Adobe Clean" pitchFamily="34" charset="-120"/>
              </a:rPr>
              <a:t>strong model, no training</a:t>
            </a:r>
            <a:endParaRPr lang="en-US" sz="1200" dirty="0"/>
          </a:p>
        </p:txBody>
      </p:sp>
      <p:sp>
        <p:nvSpPr>
          <p:cNvPr id="14" name="Shape 10"/>
          <p:cNvSpPr/>
          <p:nvPr/>
        </p:nvSpPr>
        <p:spPr>
          <a:xfrm>
            <a:off x="566928" y="4526280"/>
            <a:ext cx="8641080" cy="1325880"/>
          </a:xfrm>
          <a:prstGeom prst="roundRect">
            <a:avLst>
              <a:gd name="adj" fmla="val 6897"/>
            </a:avLst>
          </a:prstGeom>
          <a:solidFill>
            <a:srgbClr val="F4F5F7"/>
          </a:solidFill>
          <a:ln w="12700">
            <a:solidFill>
              <a:srgbClr val="D9DEE6"/>
            </a:solidFill>
            <a:prstDash val="solid"/>
          </a:ln>
        </p:spPr>
      </p:sp>
      <p:sp>
        <p:nvSpPr>
          <p:cNvPr id="15" name="Text 11"/>
          <p:cNvSpPr/>
          <p:nvPr/>
        </p:nvSpPr>
        <p:spPr>
          <a:xfrm>
            <a:off x="786384" y="4690872"/>
            <a:ext cx="8202168" cy="1033272"/>
          </a:xfrm>
          <a:prstGeom prst="rect">
            <a:avLst/>
          </a:prstGeom>
          <a:noFill/>
          <a:ln/>
        </p:spPr>
        <p:txBody>
          <a:bodyPr wrap="square" lIns="0" tIns="0" rIns="0" bIns="0" rtlCol="0" anchor="ctr"/>
          <a:lstStyle/>
          <a:p>
            <a:pPr algn="l" indent="0" marL="0">
              <a:lnSpc>
                <a:spcPct val="112000"/>
              </a:lnSpc>
              <a:spcAft>
                <a:spcPts val="500"/>
              </a:spcAft>
              <a:buNone/>
            </a:pPr>
            <a:r>
              <a:rPr lang="en-US" sz="1300" dirty="0">
                <a:solidFill>
                  <a:srgbClr val="21304A"/>
                </a:solidFill>
                <a:latin typeface="Adobe Clean ExtraBold" pitchFamily="34" charset="0"/>
                <a:ea typeface="Adobe Clean ExtraBold" pitchFamily="34" charset="-122"/>
                <a:cs typeface="Adobe Clean ExtraBold" pitchFamily="34" charset="-120"/>
              </a:rPr>
              <a:t>The model could always reason well. </a:t>
            </a:r>
            <a:pPr algn="l" indent="0" marL="0">
              <a:lnSpc>
                <a:spcPct val="112000"/>
              </a:lnSpc>
              <a:spcAft>
                <a:spcPts val="500"/>
              </a:spcAft>
              <a:buNone/>
            </a:pPr>
            <a:r>
              <a:rPr lang="en-US" sz="1300" dirty="0">
                <a:solidFill>
                  <a:srgbClr val="2C2C2C"/>
                </a:solidFill>
                <a:latin typeface="Adobe Clean" pitchFamily="34" charset="0"/>
                <a:ea typeface="Adobe Clean" pitchFamily="34" charset="-122"/>
                <a:cs typeface="Adobe Clean" pitchFamily="34" charset="-120"/>
              </a:rPr>
              <a:t>What it lacked was one fact. Before the fix, even a much larger model changed the wrong members and the design barely improved. Adding the line that names the failing member, </a:t>
            </a:r>
            <a:pPr algn="l" indent="0" marL="0">
              <a:lnSpc>
                <a:spcPct val="112000"/>
              </a:lnSpc>
              <a:spcAft>
                <a:spcPts val="500"/>
              </a:spcAft>
              <a:buNone/>
            </a:pPr>
            <a:r>
              <a:rPr lang="en-US" sz="1200" dirty="0">
                <a:solidFill>
                  <a:srgbClr val="EB1000"/>
                </a:solidFill>
                <a:latin typeface="Courier New" pitchFamily="34" charset="0"/>
                <a:ea typeface="Courier New" pitchFamily="34" charset="-122"/>
                <a:cs typeface="Courier New" pitchFamily="34" charset="-120"/>
              </a:rPr>
              <a:t>worst member: M4</a:t>
            </a:r>
            <a:pPr algn="l" indent="0" marL="0">
              <a:lnSpc>
                <a:spcPct val="112000"/>
              </a:lnSpc>
              <a:spcAft>
                <a:spcPts val="500"/>
              </a:spcAft>
              <a:buNone/>
            </a:pPr>
            <a:r>
              <a:rPr lang="en-US" sz="1300" dirty="0">
                <a:solidFill>
                  <a:srgbClr val="2C2C2C"/>
                </a:solidFill>
                <a:latin typeface="Adobe Clean" pitchFamily="34" charset="0"/>
                <a:ea typeface="Adobe Clean" pitchFamily="34" charset="-122"/>
                <a:cs typeface="Adobe Clean" pitchFamily="34" charset="-120"/>
              </a:rPr>
              <a:t>, fixed that.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64240" cy="676656"/>
          </a:xfrm>
          <a:prstGeom prst="rect">
            <a:avLst/>
          </a:prstGeom>
          <a:noFill/>
          <a:ln/>
        </p:spPr>
        <p:txBody>
          <a:bodyPr wrap="square" lIns="0" tIns="0" rIns="0" bIns="0" rtlCol="0" anchor="t"/>
          <a:lstStyle/>
          <a:p>
            <a:pPr algn="l" indent="0" marL="0">
              <a:buNone/>
            </a:pPr>
            <a:r>
              <a:rPr lang="en-US" sz="2800" dirty="0">
                <a:solidFill>
                  <a:srgbClr val="EB1000"/>
                </a:solidFill>
                <a:latin typeface="Adobe Clean ExtraBold" pitchFamily="34" charset="0"/>
                <a:ea typeface="Adobe Clean ExtraBold" pitchFamily="34" charset="-122"/>
                <a:cs typeface="Adobe Clean ExtraBold" pitchFamily="34" charset="-120"/>
              </a:rPr>
              <a:t>The Reward Function</a:t>
            </a:r>
            <a:endParaRPr lang="en-US" sz="2800" dirty="0"/>
          </a:p>
        </p:txBody>
      </p:sp>
      <p:sp>
        <p:nvSpPr>
          <p:cNvPr id="3" name="Text 1"/>
          <p:cNvSpPr/>
          <p:nvPr/>
        </p:nvSpPr>
        <p:spPr>
          <a:xfrm>
            <a:off x="566928" y="1060704"/>
            <a:ext cx="11064240" cy="384048"/>
          </a:xfrm>
          <a:prstGeom prst="rect">
            <a:avLst/>
          </a:prstGeom>
          <a:noFill/>
          <a:ln/>
        </p:spPr>
        <p:txBody>
          <a:bodyPr wrap="square" lIns="0" tIns="0" rIns="0" bIns="0" rtlCol="0" anchor="t"/>
          <a:lstStyle/>
          <a:p>
            <a:pPr algn="l" indent="0" marL="0">
              <a:buNone/>
            </a:pPr>
            <a:r>
              <a:rPr lang="en-US" sz="1450" dirty="0">
                <a:solidFill>
                  <a:srgbClr val="5A6473"/>
                </a:solidFill>
                <a:latin typeface="Adobe Clean" pitchFamily="34" charset="0"/>
                <a:ea typeface="Adobe Clean" pitchFamily="34" charset="-122"/>
                <a:cs typeface="Adobe Clean" pitchFamily="34" charset="-120"/>
              </a:rPr>
              <a:t>The best configuration uses a single dense reward term. The real leverage was elsewhere.</a:t>
            </a:r>
            <a:endParaRPr lang="en-US" sz="1450" dirty="0"/>
          </a:p>
        </p:txBody>
      </p:sp>
      <p:sp>
        <p:nvSpPr>
          <p:cNvPr id="4" name="Shape 2"/>
          <p:cNvSpPr/>
          <p:nvPr/>
        </p:nvSpPr>
        <p:spPr>
          <a:xfrm>
            <a:off x="566928" y="1783080"/>
            <a:ext cx="5212080" cy="2468880"/>
          </a:xfrm>
          <a:prstGeom prst="roundRect">
            <a:avLst>
              <a:gd name="adj" fmla="val 3704"/>
            </a:avLst>
          </a:prstGeom>
          <a:solidFill>
            <a:srgbClr val="F4F5F7"/>
          </a:solidFill>
          <a:ln w="12700">
            <a:solidFill>
              <a:srgbClr val="D9DEE6"/>
            </a:solidFill>
            <a:prstDash val="solid"/>
          </a:ln>
        </p:spPr>
      </p:sp>
      <p:sp>
        <p:nvSpPr>
          <p:cNvPr id="5" name="Text 3"/>
          <p:cNvSpPr/>
          <p:nvPr/>
        </p:nvSpPr>
        <p:spPr>
          <a:xfrm>
            <a:off x="804672" y="1929384"/>
            <a:ext cx="4754880" cy="292608"/>
          </a:xfrm>
          <a:prstGeom prst="rect">
            <a:avLst/>
          </a:prstGeom>
          <a:noFill/>
          <a:ln/>
        </p:spPr>
        <p:txBody>
          <a:bodyPr wrap="square" lIns="0" tIns="0" rIns="0" bIns="0" rtlCol="0" anchor="t"/>
          <a:lstStyle/>
          <a:p>
            <a:pPr algn="l" indent="0" marL="0">
              <a:buNone/>
            </a:pPr>
            <a:r>
              <a:rPr lang="en-US" sz="1150" dirty="0">
                <a:solidFill>
                  <a:srgbClr val="5A6473"/>
                </a:solidFill>
                <a:latin typeface="Courier New" pitchFamily="34" charset="0"/>
                <a:ea typeface="Courier New" pitchFamily="34" charset="-122"/>
                <a:cs typeface="Courier New" pitchFamily="34" charset="-120"/>
              </a:rPr>
              <a:t>configs/rl/grpo_mt_01b.yaml</a:t>
            </a:r>
            <a:endParaRPr lang="en-US" sz="1150" dirty="0"/>
          </a:p>
        </p:txBody>
      </p:sp>
      <p:sp>
        <p:nvSpPr>
          <p:cNvPr id="6" name="Text 4"/>
          <p:cNvSpPr/>
          <p:nvPr/>
        </p:nvSpPr>
        <p:spPr>
          <a:xfrm>
            <a:off x="804672" y="2295144"/>
            <a:ext cx="4754880" cy="1828800"/>
          </a:xfrm>
          <a:prstGeom prst="rect">
            <a:avLst/>
          </a:prstGeom>
          <a:noFill/>
          <a:ln/>
        </p:spPr>
        <p:txBody>
          <a:bodyPr wrap="square" lIns="0" tIns="0" rIns="0" bIns="0" rtlCol="0" anchor="t"/>
          <a:lstStyle/>
          <a:p>
            <a:pPr algn="l" indent="0" marL="0">
              <a:lnSpc>
                <a:spcPct val="118000"/>
              </a:lnSpc>
              <a:buNone/>
            </a:pPr>
            <a:r>
              <a:rPr lang="en-US" sz="1400" dirty="0">
                <a:solidFill>
                  <a:srgbClr val="5A6473"/>
                </a:solidFill>
                <a:latin typeface="Courier New" pitchFamily="34" charset="0"/>
                <a:ea typeface="Courier New" pitchFamily="34" charset="-122"/>
                <a:cs typeface="Courier New" pitchFamily="34" charset="-120"/>
              </a:rPr>
              <a:t>reward_fn: </a:t>
            </a:r>
            <a:pPr algn="l" indent="0" marL="0">
              <a:lnSpc>
                <a:spcPct val="118000"/>
              </a:lnSpc>
              <a:buNone/>
            </a:pPr>
            <a:r>
              <a:rPr lang="en-US" sz="1400" dirty="0">
                <a:solidFill>
                  <a:srgbClr val="21304A"/>
                </a:solidFill>
                <a:latin typeface="Courier New" pitchFamily="34" charset="0"/>
                <a:ea typeface="Courier New" pitchFamily="34" charset="-122"/>
                <a:cs typeface="Courier New" pitchFamily="34" charset="-120"/>
              </a:rPr>
              <a:t>composite
</a:t>
            </a:r>
            <a:pPr algn="l" indent="0" marL="0">
              <a:lnSpc>
                <a:spcPct val="118000"/>
              </a:lnSpc>
              <a:buNone/>
            </a:pPr>
            <a:r>
              <a:rPr lang="en-US" sz="1400" dirty="0">
                <a:solidFill>
                  <a:srgbClr val="5A6473"/>
                </a:solidFill>
                <a:latin typeface="Courier New" pitchFamily="34" charset="0"/>
                <a:ea typeface="Courier New" pitchFamily="34" charset="-122"/>
                <a:cs typeface="Courier New" pitchFamily="34" charset="-120"/>
              </a:rPr>
              <a:t>reward_weights:
</a:t>
            </a:r>
            <a:pPr algn="l" indent="0" marL="0">
              <a:lnSpc>
                <a:spcPct val="118000"/>
              </a:lnSpc>
              <a:buNone/>
            </a:pPr>
            <a:r>
              <a:rPr lang="en-US" sz="1400" dirty="0">
                <a:solidFill>
                  <a:srgbClr val="5A6473"/>
                </a:solidFill>
                <a:latin typeface="Courier New" pitchFamily="34" charset="0"/>
                <a:ea typeface="Courier New" pitchFamily="34" charset="-122"/>
                <a:cs typeface="Courier New" pitchFamily="34" charset="-120"/>
              </a:rPr>
              <a:t>  lagrangian_potential: </a:t>
            </a:r>
            <a:pPr algn="l" indent="0" marL="0">
              <a:lnSpc>
                <a:spcPct val="118000"/>
              </a:lnSpc>
              <a:buNone/>
            </a:pPr>
            <a:r>
              <a:rPr lang="en-US" sz="1400" dirty="0">
                <a:solidFill>
                  <a:srgbClr val="EB1000"/>
                </a:solidFill>
                <a:latin typeface="Courier New" pitchFamily="34" charset="0"/>
                <a:ea typeface="Courier New" pitchFamily="34" charset="-122"/>
                <a:cs typeface="Courier New" pitchFamily="34" charset="-120"/>
              </a:rPr>
              <a:t>1.0
</a:t>
            </a:r>
            <a:pPr algn="l" indent="0" marL="0">
              <a:lnSpc>
                <a:spcPct val="118000"/>
              </a:lnSpc>
              <a:buNone/>
            </a:pPr>
            <a:r>
              <a:rPr lang="en-US" sz="1400" dirty="0">
                <a:solidFill>
                  <a:srgbClr val="5A6473"/>
                </a:solidFill>
                <a:latin typeface="Courier New" pitchFamily="34" charset="0"/>
                <a:ea typeface="Courier New" pitchFamily="34" charset="-122"/>
                <a:cs typeface="Courier New" pitchFamily="34" charset="-120"/>
              </a:rPr>
              <a:t>  cost_fn: </a:t>
            </a:r>
            <a:pPr algn="l" indent="0" marL="0">
              <a:lnSpc>
                <a:spcPct val="118000"/>
              </a:lnSpc>
              <a:buNone/>
            </a:pPr>
            <a:r>
              <a:rPr lang="en-US" sz="1400" dirty="0">
                <a:solidFill>
                  <a:srgbClr val="21304A"/>
                </a:solidFill>
                <a:latin typeface="Courier New" pitchFamily="34" charset="0"/>
                <a:ea typeface="Courier New" pitchFamily="34" charset="-122"/>
                <a:cs typeface="Courier New" pitchFamily="34" charset="-120"/>
              </a:rPr>
              <a:t>null
</a:t>
            </a:r>
            <a:pPr algn="l" indent="0" marL="0">
              <a:lnSpc>
                <a:spcPct val="118000"/>
              </a:lnSpc>
              <a:buNone/>
            </a:pPr>
            <a:r>
              <a:rPr lang="en-US" sz="1400" dirty="0">
                <a:solidFill>
                  <a:srgbClr val="5A6473"/>
                </a:solidFill>
                <a:latin typeface="Courier New" pitchFamily="34" charset="0"/>
                <a:ea typeface="Courier New" pitchFamily="34" charset="-122"/>
                <a:cs typeface="Courier New" pitchFamily="34" charset="-120"/>
              </a:rPr>
              <a:t>posterior: { alpha: </a:t>
            </a:r>
            <a:pPr algn="l" indent="0" marL="0">
              <a:lnSpc>
                <a:spcPct val="118000"/>
              </a:lnSpc>
              <a:buNone/>
            </a:pPr>
            <a:r>
              <a:rPr lang="en-US" sz="1400" dirty="0">
                <a:solidFill>
                  <a:srgbClr val="EB1000"/>
                </a:solidFill>
                <a:latin typeface="Courier New" pitchFamily="34" charset="0"/>
                <a:ea typeface="Courier New" pitchFamily="34" charset="-122"/>
                <a:cs typeface="Courier New" pitchFamily="34" charset="-120"/>
              </a:rPr>
              <a:t>5.0</a:t>
            </a:r>
            <a:pPr algn="l" indent="0" marL="0">
              <a:lnSpc>
                <a:spcPct val="118000"/>
              </a:lnSpc>
              <a:buNone/>
            </a:pPr>
            <a:r>
              <a:rPr lang="en-US" sz="1400" dirty="0">
                <a:solidFill>
                  <a:srgbClr val="5A6473"/>
                </a:solidFill>
                <a:latin typeface="Courier New" pitchFamily="34" charset="0"/>
                <a:ea typeface="Courier New" pitchFamily="34" charset="-122"/>
                <a:cs typeface="Courier New" pitchFamily="34" charset="-120"/>
              </a:rPr>
              <a:t>, gamma: </a:t>
            </a:r>
            <a:pPr algn="l" indent="0" marL="0">
              <a:lnSpc>
                <a:spcPct val="118000"/>
              </a:lnSpc>
              <a:buNone/>
            </a:pPr>
            <a:r>
              <a:rPr lang="en-US" sz="1400" dirty="0">
                <a:solidFill>
                  <a:srgbClr val="EB1000"/>
                </a:solidFill>
                <a:latin typeface="Courier New" pitchFamily="34" charset="0"/>
                <a:ea typeface="Courier New" pitchFamily="34" charset="-122"/>
                <a:cs typeface="Courier New" pitchFamily="34" charset="-120"/>
              </a:rPr>
              <a:t>0.99</a:t>
            </a:r>
            <a:pPr algn="l" indent="0" marL="0">
              <a:lnSpc>
                <a:spcPct val="118000"/>
              </a:lnSpc>
              <a:buNone/>
            </a:pPr>
            <a:r>
              <a:rPr lang="en-US" sz="1400" dirty="0">
                <a:solidFill>
                  <a:srgbClr val="5A6473"/>
                </a:solidFill>
                <a:latin typeface="Courier New" pitchFamily="34" charset="0"/>
                <a:ea typeface="Courier New" pitchFamily="34" charset="-122"/>
                <a:cs typeface="Courier New" pitchFamily="34" charset="-120"/>
              </a:rPr>
              <a:t> }</a:t>
            </a:r>
            <a:endParaRPr lang="en-US" sz="1400" dirty="0"/>
          </a:p>
        </p:txBody>
      </p:sp>
      <p:sp>
        <p:nvSpPr>
          <p:cNvPr id="7" name="Shape 5"/>
          <p:cNvSpPr/>
          <p:nvPr/>
        </p:nvSpPr>
        <p:spPr>
          <a:xfrm>
            <a:off x="566928" y="4434840"/>
            <a:ext cx="5212080" cy="1417320"/>
          </a:xfrm>
          <a:prstGeom prst="roundRect">
            <a:avLst>
              <a:gd name="adj" fmla="val 6452"/>
            </a:avLst>
          </a:prstGeom>
          <a:solidFill>
            <a:srgbClr val="EEF1F6"/>
          </a:solidFill>
          <a:ln w="12700">
            <a:solidFill>
              <a:srgbClr val="D9DEE6"/>
            </a:solidFill>
            <a:prstDash val="solid"/>
          </a:ln>
        </p:spPr>
      </p:sp>
      <p:sp>
        <p:nvSpPr>
          <p:cNvPr id="8" name="Text 6"/>
          <p:cNvSpPr/>
          <p:nvPr/>
        </p:nvSpPr>
        <p:spPr>
          <a:xfrm>
            <a:off x="786384" y="4599432"/>
            <a:ext cx="4773168" cy="384048"/>
          </a:xfrm>
          <a:prstGeom prst="rect">
            <a:avLst/>
          </a:prstGeom>
          <a:noFill/>
          <a:ln/>
        </p:spPr>
        <p:txBody>
          <a:bodyPr wrap="square" lIns="0" tIns="0" rIns="0" bIns="0" rtlCol="0" anchor="t"/>
          <a:lstStyle/>
          <a:p>
            <a:pPr algn="l" indent="0" marL="0">
              <a:buNone/>
            </a:pPr>
            <a:r>
              <a:rPr lang="en-US" sz="1400" dirty="0">
                <a:solidFill>
                  <a:srgbClr val="21304A"/>
                </a:solidFill>
                <a:latin typeface="Adobe Clean ExtraBold" pitchFamily="34" charset="0"/>
                <a:ea typeface="Adobe Clean ExtraBold" pitchFamily="34" charset="-122"/>
                <a:cs typeface="Adobe Clean ExtraBold" pitchFamily="34" charset="-120"/>
              </a:rPr>
              <a:t>Potential-based shaping</a:t>
            </a:r>
            <a:endParaRPr lang="en-US" sz="1400" dirty="0"/>
          </a:p>
        </p:txBody>
      </p:sp>
      <p:sp>
        <p:nvSpPr>
          <p:cNvPr id="9" name="Text 7"/>
          <p:cNvSpPr/>
          <p:nvPr/>
        </p:nvSpPr>
        <p:spPr>
          <a:xfrm>
            <a:off x="786384" y="5020056"/>
            <a:ext cx="4773168" cy="704088"/>
          </a:xfrm>
          <a:prstGeom prst="rect">
            <a:avLst/>
          </a:prstGeom>
          <a:noFill/>
          <a:ln/>
        </p:spPr>
        <p:txBody>
          <a:bodyPr wrap="square" lIns="0" tIns="0" rIns="0" bIns="0" rtlCol="0" anchor="t"/>
          <a:lstStyle/>
          <a:p>
            <a:pPr algn="l" indent="0" marL="0">
              <a:lnSpc>
                <a:spcPct val="112000"/>
              </a:lnSpc>
              <a:spcAft>
                <a:spcPts val="500"/>
              </a:spcAft>
              <a:buNone/>
            </a:pPr>
            <a:r>
              <a:rPr lang="en-US" sz="1500" dirty="0">
                <a:solidFill>
                  <a:srgbClr val="EB1000"/>
                </a:solidFill>
                <a:latin typeface="Courier New" pitchFamily="34" charset="0"/>
                <a:ea typeface="Courier New" pitchFamily="34" charset="-122"/>
                <a:cs typeface="Courier New" pitchFamily="34" charset="-120"/>
              </a:rPr>
              <a:t>r_env = γ·Φ(s′) − Φ(s)</a:t>
            </a:r>
            <a:pPr algn="l" indent="0" marL="0">
              <a:lnSpc>
                <a:spcPct val="112000"/>
              </a:lnSpc>
              <a:spcAft>
                <a:spcPts val="500"/>
              </a:spcAft>
              <a:buNone/>
            </a:pPr>
            <a:r>
              <a:rPr lang="en-US" sz="1300" dirty="0">
                <a:solidFill>
                  <a:srgbClr val="2C2C2C"/>
                </a:solidFill>
                <a:latin typeface="Adobe Clean" pitchFamily="34" charset="0"/>
                <a:ea typeface="Adobe Clean" pitchFamily="34" charset="-122"/>
                <a:cs typeface="Adobe Clean" pitchFamily="34" charset="-120"/>
              </a:rPr>
              <a:t>   where Φ folds the constraint violations (FOS deficits, mass) into one Lagrangian potential, with multiplier α = 5.</a:t>
            </a:r>
            <a:endParaRPr lang="en-US" sz="1300" dirty="0"/>
          </a:p>
        </p:txBody>
      </p:sp>
      <p:sp>
        <p:nvSpPr>
          <p:cNvPr id="10" name="Text 8"/>
          <p:cNvSpPr/>
          <p:nvPr/>
        </p:nvSpPr>
        <p:spPr>
          <a:xfrm>
            <a:off x="6099048" y="1783080"/>
            <a:ext cx="5532120" cy="329184"/>
          </a:xfrm>
          <a:prstGeom prst="rect">
            <a:avLst/>
          </a:prstGeom>
          <a:noFill/>
          <a:ln/>
        </p:spPr>
        <p:txBody>
          <a:bodyPr wrap="square" lIns="0" tIns="0" rIns="0" bIns="0" rtlCol="0" anchor="t"/>
          <a:lstStyle/>
          <a:p>
            <a:pPr algn="l" indent="0" marL="0">
              <a:buNone/>
            </a:pPr>
            <a:r>
              <a:rPr lang="en-US" sz="1500" dirty="0">
                <a:solidFill>
                  <a:srgbClr val="21304A"/>
                </a:solidFill>
                <a:latin typeface="Adobe Clean ExtraBold" pitchFamily="34" charset="0"/>
                <a:ea typeface="Adobe Clean ExtraBold" pitchFamily="34" charset="-122"/>
                <a:cs typeface="Adobe Clean ExtraBold" pitchFamily="34" charset="-120"/>
              </a:rPr>
              <a:t>Why this reward</a:t>
            </a:r>
            <a:endParaRPr lang="en-US" sz="1500" dirty="0"/>
          </a:p>
        </p:txBody>
      </p:sp>
      <p:sp>
        <p:nvSpPr>
          <p:cNvPr id="11" name="Shape 9"/>
          <p:cNvSpPr/>
          <p:nvPr/>
        </p:nvSpPr>
        <p:spPr>
          <a:xfrm>
            <a:off x="6099048" y="2212848"/>
            <a:ext cx="5532120" cy="786384"/>
          </a:xfrm>
          <a:prstGeom prst="roundRect">
            <a:avLst>
              <a:gd name="adj" fmla="val 10465"/>
            </a:avLst>
          </a:prstGeom>
          <a:solidFill>
            <a:srgbClr val="FFFFFF"/>
          </a:solidFill>
          <a:ln w="12700">
            <a:solidFill>
              <a:srgbClr val="D9DEE6"/>
            </a:solidFill>
            <a:prstDash val="solid"/>
          </a:ln>
        </p:spPr>
      </p:sp>
      <p:sp>
        <p:nvSpPr>
          <p:cNvPr id="12" name="Shape 10"/>
          <p:cNvSpPr/>
          <p:nvPr/>
        </p:nvSpPr>
        <p:spPr>
          <a:xfrm>
            <a:off x="6094476" y="2359152"/>
            <a:ext cx="68580" cy="493776"/>
          </a:xfrm>
          <a:prstGeom prst="roundRect">
            <a:avLst>
              <a:gd name="adj" fmla="val 53333"/>
            </a:avLst>
          </a:prstGeom>
          <a:solidFill>
            <a:srgbClr val="1E8449"/>
          </a:solidFill>
          <a:ln/>
        </p:spPr>
      </p:sp>
      <p:sp>
        <p:nvSpPr>
          <p:cNvPr id="13" name="Text 11"/>
          <p:cNvSpPr/>
          <p:nvPr/>
        </p:nvSpPr>
        <p:spPr>
          <a:xfrm>
            <a:off x="6345936" y="2249424"/>
            <a:ext cx="5148072" cy="713232"/>
          </a:xfrm>
          <a:prstGeom prst="rect">
            <a:avLst/>
          </a:prstGeom>
          <a:noFill/>
          <a:ln/>
        </p:spPr>
        <p:txBody>
          <a:bodyPr wrap="square" lIns="0" tIns="0" rIns="0" bIns="0" rtlCol="0" anchor="ctr"/>
          <a:lstStyle/>
          <a:p>
            <a:pPr algn="l" indent="0" marL="0">
              <a:lnSpc>
                <a:spcPct val="104000"/>
              </a:lnSpc>
              <a:spcAft>
                <a:spcPts val="200"/>
              </a:spcAft>
              <a:buNone/>
            </a:pPr>
            <a:r>
              <a:rPr lang="en-US" sz="1450" dirty="0">
                <a:solidFill>
                  <a:srgbClr val="21304A"/>
                </a:solidFill>
                <a:latin typeface="Adobe Clean ExtraBold" pitchFamily="34" charset="0"/>
                <a:ea typeface="Adobe Clean ExtraBold" pitchFamily="34" charset="-122"/>
                <a:cs typeface="Adobe Clean ExtraBold" pitchFamily="34" charset="-120"/>
              </a:rPr>
              <a:t>Dense</a:t>
            </a:r>
            <a:endParaRPr lang="en-US" sz="1450" dirty="0"/>
          </a:p>
          <a:p>
            <a:pPr algn="l" indent="0" marL="0">
              <a:lnSpc>
                <a:spcPct val="104000"/>
              </a:lnSpc>
              <a:spcAft>
                <a:spcPts val="200"/>
              </a:spcAft>
              <a:buNone/>
            </a:pPr>
            <a:r>
              <a:rPr lang="en-US" sz="1150" dirty="0">
                <a:solidFill>
                  <a:srgbClr val="5A6473"/>
                </a:solidFill>
                <a:latin typeface="Adobe Clean" pitchFamily="34" charset="0"/>
                <a:ea typeface="Adobe Clean" pitchFamily="34" charset="-122"/>
                <a:cs typeface="Adobe Clean" pitchFamily="34" charset="-120"/>
              </a:rPr>
              <a:t>every step gets signal, with no waiting for a terminal feasible or infeasible verdict</a:t>
            </a:r>
            <a:endParaRPr lang="en-US" sz="1450" dirty="0"/>
          </a:p>
        </p:txBody>
      </p:sp>
      <p:sp>
        <p:nvSpPr>
          <p:cNvPr id="14" name="Shape 12"/>
          <p:cNvSpPr/>
          <p:nvPr/>
        </p:nvSpPr>
        <p:spPr>
          <a:xfrm>
            <a:off x="6099048" y="3127248"/>
            <a:ext cx="5532120" cy="786384"/>
          </a:xfrm>
          <a:prstGeom prst="roundRect">
            <a:avLst>
              <a:gd name="adj" fmla="val 10465"/>
            </a:avLst>
          </a:prstGeom>
          <a:solidFill>
            <a:srgbClr val="FFFFFF"/>
          </a:solidFill>
          <a:ln w="12700">
            <a:solidFill>
              <a:srgbClr val="D9DEE6"/>
            </a:solidFill>
            <a:prstDash val="solid"/>
          </a:ln>
        </p:spPr>
      </p:sp>
      <p:sp>
        <p:nvSpPr>
          <p:cNvPr id="15" name="Shape 13"/>
          <p:cNvSpPr/>
          <p:nvPr/>
        </p:nvSpPr>
        <p:spPr>
          <a:xfrm>
            <a:off x="6094476" y="3273552"/>
            <a:ext cx="68580" cy="493776"/>
          </a:xfrm>
          <a:prstGeom prst="roundRect">
            <a:avLst>
              <a:gd name="adj" fmla="val 53333"/>
            </a:avLst>
          </a:prstGeom>
          <a:solidFill>
            <a:srgbClr val="0E7C7B"/>
          </a:solidFill>
          <a:ln/>
        </p:spPr>
      </p:sp>
      <p:sp>
        <p:nvSpPr>
          <p:cNvPr id="16" name="Text 14"/>
          <p:cNvSpPr/>
          <p:nvPr/>
        </p:nvSpPr>
        <p:spPr>
          <a:xfrm>
            <a:off x="6345936" y="3163824"/>
            <a:ext cx="5148072" cy="713232"/>
          </a:xfrm>
          <a:prstGeom prst="rect">
            <a:avLst/>
          </a:prstGeom>
          <a:noFill/>
          <a:ln/>
        </p:spPr>
        <p:txBody>
          <a:bodyPr wrap="square" lIns="0" tIns="0" rIns="0" bIns="0" rtlCol="0" anchor="ctr"/>
          <a:lstStyle/>
          <a:p>
            <a:pPr algn="l" indent="0" marL="0">
              <a:lnSpc>
                <a:spcPct val="104000"/>
              </a:lnSpc>
              <a:spcAft>
                <a:spcPts val="200"/>
              </a:spcAft>
              <a:buNone/>
            </a:pPr>
            <a:r>
              <a:rPr lang="en-US" sz="1450" dirty="0">
                <a:solidFill>
                  <a:srgbClr val="21304A"/>
                </a:solidFill>
                <a:latin typeface="Adobe Clean ExtraBold" pitchFamily="34" charset="0"/>
                <a:ea typeface="Adobe Clean ExtraBold" pitchFamily="34" charset="-122"/>
                <a:cs typeface="Adobe Clean ExtraBold" pitchFamily="34" charset="-120"/>
              </a:rPr>
              <a:t>Policy-invariant</a:t>
            </a:r>
            <a:endParaRPr lang="en-US" sz="1450" dirty="0"/>
          </a:p>
          <a:p>
            <a:pPr algn="l" indent="0" marL="0">
              <a:lnSpc>
                <a:spcPct val="104000"/>
              </a:lnSpc>
              <a:spcAft>
                <a:spcPts val="200"/>
              </a:spcAft>
              <a:buNone/>
            </a:pPr>
            <a:r>
              <a:rPr lang="en-US" sz="1150" dirty="0">
                <a:solidFill>
                  <a:srgbClr val="5A6473"/>
                </a:solidFill>
                <a:latin typeface="Adobe Clean" pitchFamily="34" charset="0"/>
                <a:ea typeface="Adobe Clean" pitchFamily="34" charset="-122"/>
                <a:cs typeface="Adobe Clean" pitchFamily="34" charset="-120"/>
              </a:rPr>
              <a:t>it telescopes to the terminal feasibility objective, so shaping cannot change the optimum</a:t>
            </a:r>
            <a:endParaRPr lang="en-US" sz="1450" dirty="0"/>
          </a:p>
        </p:txBody>
      </p:sp>
      <p:sp>
        <p:nvSpPr>
          <p:cNvPr id="17" name="Shape 15"/>
          <p:cNvSpPr/>
          <p:nvPr/>
        </p:nvSpPr>
        <p:spPr>
          <a:xfrm>
            <a:off x="6099048" y="4041648"/>
            <a:ext cx="5532120" cy="786384"/>
          </a:xfrm>
          <a:prstGeom prst="roundRect">
            <a:avLst>
              <a:gd name="adj" fmla="val 10465"/>
            </a:avLst>
          </a:prstGeom>
          <a:solidFill>
            <a:srgbClr val="FFFFFF"/>
          </a:solidFill>
          <a:ln w="12700">
            <a:solidFill>
              <a:srgbClr val="D9DEE6"/>
            </a:solidFill>
            <a:prstDash val="solid"/>
          </a:ln>
        </p:spPr>
      </p:sp>
      <p:sp>
        <p:nvSpPr>
          <p:cNvPr id="18" name="Shape 16"/>
          <p:cNvSpPr/>
          <p:nvPr/>
        </p:nvSpPr>
        <p:spPr>
          <a:xfrm>
            <a:off x="6094476" y="4187952"/>
            <a:ext cx="68580" cy="493776"/>
          </a:xfrm>
          <a:prstGeom prst="roundRect">
            <a:avLst>
              <a:gd name="adj" fmla="val 53333"/>
            </a:avLst>
          </a:prstGeom>
          <a:solidFill>
            <a:srgbClr val="21304A"/>
          </a:solidFill>
          <a:ln/>
        </p:spPr>
      </p:sp>
      <p:sp>
        <p:nvSpPr>
          <p:cNvPr id="19" name="Text 17"/>
          <p:cNvSpPr/>
          <p:nvPr/>
        </p:nvSpPr>
        <p:spPr>
          <a:xfrm>
            <a:off x="6345936" y="4078224"/>
            <a:ext cx="5148072" cy="713232"/>
          </a:xfrm>
          <a:prstGeom prst="rect">
            <a:avLst/>
          </a:prstGeom>
          <a:noFill/>
          <a:ln/>
        </p:spPr>
        <p:txBody>
          <a:bodyPr wrap="square" lIns="0" tIns="0" rIns="0" bIns="0" rtlCol="0" anchor="ctr"/>
          <a:lstStyle/>
          <a:p>
            <a:pPr algn="l" indent="0" marL="0">
              <a:lnSpc>
                <a:spcPct val="104000"/>
              </a:lnSpc>
              <a:spcAft>
                <a:spcPts val="200"/>
              </a:spcAft>
              <a:buNone/>
            </a:pPr>
            <a:r>
              <a:rPr lang="en-US" sz="1450" dirty="0">
                <a:solidFill>
                  <a:srgbClr val="21304A"/>
                </a:solidFill>
                <a:latin typeface="Adobe Clean ExtraBold" pitchFamily="34" charset="0"/>
                <a:ea typeface="Adobe Clean ExtraBold" pitchFamily="34" charset="-122"/>
                <a:cs typeface="Adobe Clean ExtraBold" pitchFamily="34" charset="-120"/>
              </a:rPr>
              <a:t>Physics-grounded</a:t>
            </a:r>
            <a:endParaRPr lang="en-US" sz="1450" dirty="0"/>
          </a:p>
          <a:p>
            <a:pPr algn="l" indent="0" marL="0">
              <a:lnSpc>
                <a:spcPct val="104000"/>
              </a:lnSpc>
              <a:spcAft>
                <a:spcPts val="200"/>
              </a:spcAft>
              <a:buNone/>
            </a:pPr>
            <a:r>
              <a:rPr lang="en-US" sz="1150" dirty="0">
                <a:solidFill>
                  <a:srgbClr val="5A6473"/>
                </a:solidFill>
                <a:latin typeface="Adobe Clean" pitchFamily="34" charset="0"/>
                <a:ea typeface="Adobe Clean" pitchFamily="34" charset="-122"/>
                <a:cs typeface="Adobe Clean" pitchFamily="34" charset="-120"/>
              </a:rPr>
              <a:t>computed directly from the solver states the loop produces</a:t>
            </a:r>
            <a:endParaRPr lang="en-US" sz="1450" dirty="0"/>
          </a:p>
        </p:txBody>
      </p:sp>
      <p:sp>
        <p:nvSpPr>
          <p:cNvPr id="20" name="Shape 18"/>
          <p:cNvSpPr/>
          <p:nvPr/>
        </p:nvSpPr>
        <p:spPr>
          <a:xfrm>
            <a:off x="6099048" y="4956048"/>
            <a:ext cx="5532120" cy="786384"/>
          </a:xfrm>
          <a:prstGeom prst="roundRect">
            <a:avLst>
              <a:gd name="adj" fmla="val 10465"/>
            </a:avLst>
          </a:prstGeom>
          <a:solidFill>
            <a:srgbClr val="FFFFFF"/>
          </a:solidFill>
          <a:ln w="12700">
            <a:solidFill>
              <a:srgbClr val="D9DEE6"/>
            </a:solidFill>
            <a:prstDash val="solid"/>
          </a:ln>
        </p:spPr>
      </p:sp>
      <p:sp>
        <p:nvSpPr>
          <p:cNvPr id="21" name="Shape 19"/>
          <p:cNvSpPr/>
          <p:nvPr/>
        </p:nvSpPr>
        <p:spPr>
          <a:xfrm>
            <a:off x="6094476" y="5102352"/>
            <a:ext cx="68580" cy="493776"/>
          </a:xfrm>
          <a:prstGeom prst="roundRect">
            <a:avLst>
              <a:gd name="adj" fmla="val 53333"/>
            </a:avLst>
          </a:prstGeom>
          <a:solidFill>
            <a:srgbClr val="7030A0"/>
          </a:solidFill>
          <a:ln/>
        </p:spPr>
      </p:sp>
      <p:sp>
        <p:nvSpPr>
          <p:cNvPr id="22" name="Text 20"/>
          <p:cNvSpPr/>
          <p:nvPr/>
        </p:nvSpPr>
        <p:spPr>
          <a:xfrm>
            <a:off x="6345936" y="4992624"/>
            <a:ext cx="5148072" cy="713232"/>
          </a:xfrm>
          <a:prstGeom prst="rect">
            <a:avLst/>
          </a:prstGeom>
          <a:noFill/>
          <a:ln/>
        </p:spPr>
        <p:txBody>
          <a:bodyPr wrap="square" lIns="0" tIns="0" rIns="0" bIns="0" rtlCol="0" anchor="ctr"/>
          <a:lstStyle/>
          <a:p>
            <a:pPr algn="l" indent="0" marL="0">
              <a:lnSpc>
                <a:spcPct val="104000"/>
              </a:lnSpc>
              <a:spcAft>
                <a:spcPts val="200"/>
              </a:spcAft>
              <a:buNone/>
            </a:pPr>
            <a:r>
              <a:rPr lang="en-US" sz="1450" dirty="0">
                <a:solidFill>
                  <a:srgbClr val="21304A"/>
                </a:solidFill>
                <a:latin typeface="Adobe Clean ExtraBold" pitchFamily="34" charset="0"/>
                <a:ea typeface="Adobe Clean ExtraBold" pitchFamily="34" charset="-122"/>
                <a:cs typeface="Adobe Clean ExtraBold" pitchFamily="34" charset="-120"/>
              </a:rPr>
              <a:t>Group-relative (GRPO)</a:t>
            </a:r>
            <a:endParaRPr lang="en-US" sz="1450" dirty="0"/>
          </a:p>
          <a:p>
            <a:pPr algn="l" indent="0" marL="0">
              <a:lnSpc>
                <a:spcPct val="104000"/>
              </a:lnSpc>
              <a:spcAft>
                <a:spcPts val="200"/>
              </a:spcAft>
              <a:buNone/>
            </a:pPr>
            <a:r>
              <a:rPr lang="en-US" sz="1150" dirty="0">
                <a:solidFill>
                  <a:srgbClr val="5A6473"/>
                </a:solidFill>
                <a:latin typeface="Adobe Clean" pitchFamily="34" charset="0"/>
                <a:ea typeface="Adobe Clean" pitchFamily="34" charset="-122"/>
                <a:cs typeface="Adobe Clean" pitchFamily="34" charset="-120"/>
              </a:rPr>
              <a:t>K = 8 rollouts per problem give the advantages, with kl_coef β = 0.04 anchoring to the warmstart</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64240" cy="676656"/>
          </a:xfrm>
          <a:prstGeom prst="rect">
            <a:avLst/>
          </a:prstGeom>
          <a:noFill/>
          <a:ln/>
        </p:spPr>
        <p:txBody>
          <a:bodyPr wrap="square" lIns="0" tIns="0" rIns="0" bIns="0" rtlCol="0" anchor="t"/>
          <a:lstStyle/>
          <a:p>
            <a:pPr algn="l" indent="0" marL="0">
              <a:buNone/>
            </a:pPr>
            <a:r>
              <a:rPr lang="en-US" sz="2800" dirty="0">
                <a:solidFill>
                  <a:srgbClr val="EB1000"/>
                </a:solidFill>
                <a:latin typeface="Adobe Clean ExtraBold" pitchFamily="34" charset="0"/>
                <a:ea typeface="Adobe Clean ExtraBold" pitchFamily="34" charset="-122"/>
                <a:cs typeface="Adobe Clean ExtraBold" pitchFamily="34" charset="-120"/>
              </a:rPr>
              <a:t>Reward Ablations</a:t>
            </a:r>
            <a:endParaRPr lang="en-US" sz="2800" dirty="0"/>
          </a:p>
        </p:txBody>
      </p:sp>
      <p:sp>
        <p:nvSpPr>
          <p:cNvPr id="3" name="Text 1"/>
          <p:cNvSpPr/>
          <p:nvPr/>
        </p:nvSpPr>
        <p:spPr>
          <a:xfrm>
            <a:off x="566928" y="1060704"/>
            <a:ext cx="11064240" cy="384048"/>
          </a:xfrm>
          <a:prstGeom prst="rect">
            <a:avLst/>
          </a:prstGeom>
          <a:noFill/>
          <a:ln/>
        </p:spPr>
        <p:txBody>
          <a:bodyPr wrap="square" lIns="0" tIns="0" rIns="0" bIns="0" rtlCol="0" anchor="t"/>
          <a:lstStyle/>
          <a:p>
            <a:pPr algn="l" indent="0" marL="0">
              <a:buNone/>
            </a:pPr>
            <a:r>
              <a:rPr lang="en-US" sz="1450" dirty="0">
                <a:solidFill>
                  <a:srgbClr val="5A6473"/>
                </a:solidFill>
                <a:latin typeface="Adobe Clean" pitchFamily="34" charset="0"/>
                <a:ea typeface="Adobe Clean" pitchFamily="34" charset="-122"/>
                <a:cs typeface="Adobe Clean" pitchFamily="34" charset="-120"/>
              </a:rPr>
              <a:t>We changed one thing per run. The plain single-term reward stayed the best.</a:t>
            </a:r>
            <a:endParaRPr lang="en-US" sz="1450" dirty="0"/>
          </a:p>
        </p:txBody>
      </p:sp>
      <p:sp>
        <p:nvSpPr>
          <p:cNvPr id="4" name="Text 2"/>
          <p:cNvSpPr/>
          <p:nvPr/>
        </p:nvSpPr>
        <p:spPr>
          <a:xfrm>
            <a:off x="566928" y="1645920"/>
            <a:ext cx="5486400" cy="310896"/>
          </a:xfrm>
          <a:prstGeom prst="rect">
            <a:avLst/>
          </a:prstGeom>
          <a:noFill/>
          <a:ln/>
        </p:spPr>
        <p:txBody>
          <a:bodyPr wrap="square" lIns="0" tIns="0" rIns="0" bIns="0" rtlCol="0" anchor="t"/>
          <a:lstStyle/>
          <a:p>
            <a:pPr algn="l" indent="0" marL="0">
              <a:buNone/>
            </a:pPr>
            <a:r>
              <a:rPr lang="en-US" sz="1350" dirty="0">
                <a:solidFill>
                  <a:srgbClr val="21304A"/>
                </a:solidFill>
                <a:latin typeface="Adobe Clean ExtraBold" pitchFamily="34" charset="0"/>
                <a:ea typeface="Adobe Clean ExtraBold" pitchFamily="34" charset="-122"/>
                <a:cs typeface="Adobe Clean ExtraBold" pitchFamily="34" charset="-120"/>
              </a:rPr>
              <a:t>Alpha sweep, no feedback. Feasibility is non-monotone</a:t>
            </a:r>
            <a:endParaRPr lang="en-US" sz="1350" dirty="0"/>
          </a:p>
        </p:txBody>
      </p:sp>
      <p:graphicFrame>
        <p:nvGraphicFramePr>
          <p:cNvPr id="5" name="Chart 0" descr=""/>
          <p:cNvGraphicFramePr/>
          <p:nvPr/>
        </p:nvGraphicFramePr>
        <p:xfrm>
          <a:off x="566928" y="2057400"/>
          <a:ext cx="5349240" cy="31089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373368" y="1645920"/>
            <a:ext cx="5532120" cy="310896"/>
          </a:xfrm>
          <a:prstGeom prst="rect">
            <a:avLst/>
          </a:prstGeom>
          <a:noFill/>
          <a:ln/>
        </p:spPr>
        <p:txBody>
          <a:bodyPr wrap="square" lIns="0" tIns="0" rIns="0" bIns="0" rtlCol="0" anchor="t"/>
          <a:lstStyle/>
          <a:p>
            <a:pPr algn="l" indent="0" marL="0">
              <a:buNone/>
            </a:pPr>
            <a:r>
              <a:rPr lang="en-US" sz="1350" dirty="0">
                <a:solidFill>
                  <a:srgbClr val="21304A"/>
                </a:solidFill>
                <a:latin typeface="Adobe Clean ExtraBold" pitchFamily="34" charset="0"/>
                <a:ea typeface="Adobe Clean ExtraBold" pitchFamily="34" charset="-122"/>
                <a:cs typeface="Adobe Clean ExtraBold" pitchFamily="34" charset="-120"/>
              </a:rPr>
              <a:t>What else we tried</a:t>
            </a:r>
            <a:endParaRPr lang="en-US" sz="1350" dirty="0"/>
          </a:p>
        </p:txBody>
      </p:sp>
      <p:sp>
        <p:nvSpPr>
          <p:cNvPr id="7" name="Shape 4"/>
          <p:cNvSpPr/>
          <p:nvPr/>
        </p:nvSpPr>
        <p:spPr>
          <a:xfrm>
            <a:off x="6373368" y="2057400"/>
            <a:ext cx="5532120" cy="658368"/>
          </a:xfrm>
          <a:prstGeom prst="roundRect">
            <a:avLst>
              <a:gd name="adj" fmla="val 12500"/>
            </a:avLst>
          </a:prstGeom>
          <a:solidFill>
            <a:srgbClr val="FFFFFF"/>
          </a:solidFill>
          <a:ln w="12700">
            <a:solidFill>
              <a:srgbClr val="D9DEE6"/>
            </a:solidFill>
            <a:prstDash val="solid"/>
          </a:ln>
        </p:spPr>
      </p:sp>
      <p:sp>
        <p:nvSpPr>
          <p:cNvPr id="8" name="Shape 5"/>
          <p:cNvSpPr/>
          <p:nvPr/>
        </p:nvSpPr>
        <p:spPr>
          <a:xfrm>
            <a:off x="6368796" y="2203704"/>
            <a:ext cx="68580" cy="365760"/>
          </a:xfrm>
          <a:prstGeom prst="roundRect">
            <a:avLst>
              <a:gd name="adj" fmla="val 53333"/>
            </a:avLst>
          </a:prstGeom>
          <a:solidFill>
            <a:srgbClr val="EB1000"/>
          </a:solidFill>
          <a:ln/>
        </p:spPr>
      </p:sp>
      <p:sp>
        <p:nvSpPr>
          <p:cNvPr id="9" name="Text 6"/>
          <p:cNvSpPr/>
          <p:nvPr/>
        </p:nvSpPr>
        <p:spPr>
          <a:xfrm>
            <a:off x="6620256" y="2093976"/>
            <a:ext cx="5148072" cy="585216"/>
          </a:xfrm>
          <a:prstGeom prst="rect">
            <a:avLst/>
          </a:prstGeom>
          <a:noFill/>
          <a:ln/>
        </p:spPr>
        <p:txBody>
          <a:bodyPr wrap="square" lIns="0" tIns="0" rIns="0" bIns="0" rtlCol="0" anchor="ctr"/>
          <a:lstStyle/>
          <a:p>
            <a:pPr algn="l" indent="0" marL="0">
              <a:lnSpc>
                <a:spcPct val="104000"/>
              </a:lnSpc>
              <a:spcAft>
                <a:spcPts val="200"/>
              </a:spcAft>
              <a:buNone/>
            </a:pPr>
            <a:r>
              <a:rPr lang="en-US" sz="1400" dirty="0">
                <a:solidFill>
                  <a:srgbClr val="21304A"/>
                </a:solidFill>
                <a:latin typeface="Adobe Clean ExtraBold" pitchFamily="34" charset="0"/>
                <a:ea typeface="Adobe Clean ExtraBold" pitchFamily="34" charset="-122"/>
                <a:cs typeface="Adobe Clean ExtraBold" pitchFamily="34" charset="-120"/>
              </a:rPr>
              <a:t>Refutes the design doc</a:t>
            </a:r>
            <a:endParaRPr lang="en-US" sz="1400" dirty="0"/>
          </a:p>
          <a:p>
            <a:pPr algn="l" indent="0" marL="0">
              <a:lnSpc>
                <a:spcPct val="104000"/>
              </a:lnSpc>
              <a:spcAft>
                <a:spcPts val="200"/>
              </a:spcAft>
              <a:buNone/>
            </a:pPr>
            <a:r>
              <a:rPr lang="en-US" sz="1150" dirty="0">
                <a:solidFill>
                  <a:srgbClr val="5A6473"/>
                </a:solidFill>
                <a:latin typeface="Adobe Clean" pitchFamily="34" charset="0"/>
                <a:ea typeface="Adobe Clean" pitchFamily="34" charset="-122"/>
                <a:cs typeface="Adobe Clean" pitchFamily="34" charset="-120"/>
              </a:rPr>
              <a:t>which predicted that higher α is always better, it is not</a:t>
            </a:r>
            <a:endParaRPr lang="en-US" sz="1400" dirty="0"/>
          </a:p>
        </p:txBody>
      </p:sp>
      <p:sp>
        <p:nvSpPr>
          <p:cNvPr id="10" name="Shape 7"/>
          <p:cNvSpPr/>
          <p:nvPr/>
        </p:nvSpPr>
        <p:spPr>
          <a:xfrm>
            <a:off x="6373368" y="2843784"/>
            <a:ext cx="5532120" cy="658368"/>
          </a:xfrm>
          <a:prstGeom prst="roundRect">
            <a:avLst>
              <a:gd name="adj" fmla="val 12500"/>
            </a:avLst>
          </a:prstGeom>
          <a:solidFill>
            <a:srgbClr val="FFFFFF"/>
          </a:solidFill>
          <a:ln w="12700">
            <a:solidFill>
              <a:srgbClr val="D9DEE6"/>
            </a:solidFill>
            <a:prstDash val="solid"/>
          </a:ln>
        </p:spPr>
      </p:sp>
      <p:sp>
        <p:nvSpPr>
          <p:cNvPr id="11" name="Shape 8"/>
          <p:cNvSpPr/>
          <p:nvPr/>
        </p:nvSpPr>
        <p:spPr>
          <a:xfrm>
            <a:off x="6368796" y="2990088"/>
            <a:ext cx="68580" cy="365760"/>
          </a:xfrm>
          <a:prstGeom prst="roundRect">
            <a:avLst>
              <a:gd name="adj" fmla="val 53333"/>
            </a:avLst>
          </a:prstGeom>
          <a:solidFill>
            <a:srgbClr val="B26B00"/>
          </a:solidFill>
          <a:ln/>
        </p:spPr>
      </p:sp>
      <p:sp>
        <p:nvSpPr>
          <p:cNvPr id="12" name="Text 9"/>
          <p:cNvSpPr/>
          <p:nvPr/>
        </p:nvSpPr>
        <p:spPr>
          <a:xfrm>
            <a:off x="6620256" y="2880360"/>
            <a:ext cx="5148072" cy="585216"/>
          </a:xfrm>
          <a:prstGeom prst="rect">
            <a:avLst/>
          </a:prstGeom>
          <a:noFill/>
          <a:ln/>
        </p:spPr>
        <p:txBody>
          <a:bodyPr wrap="square" lIns="0" tIns="0" rIns="0" bIns="0" rtlCol="0" anchor="ctr"/>
          <a:lstStyle/>
          <a:p>
            <a:pPr algn="l" indent="0" marL="0">
              <a:lnSpc>
                <a:spcPct val="104000"/>
              </a:lnSpc>
              <a:spcAft>
                <a:spcPts val="200"/>
              </a:spcAft>
              <a:buNone/>
            </a:pPr>
            <a:r>
              <a:rPr lang="en-US" sz="1400" dirty="0">
                <a:solidFill>
                  <a:srgbClr val="21304A"/>
                </a:solidFill>
                <a:latin typeface="Adobe Clean ExtraBold" pitchFamily="34" charset="0"/>
                <a:ea typeface="Adobe Clean ExtraBold" pitchFamily="34" charset="-122"/>
                <a:cs typeface="Adobe Clean ExtraBold" pitchFamily="34" charset="-120"/>
              </a:rPr>
              <a:t>Added a grammar-compliance reward</a:t>
            </a:r>
            <a:endParaRPr lang="en-US" sz="1400" dirty="0"/>
          </a:p>
          <a:p>
            <a:pPr algn="l" indent="0" marL="0">
              <a:lnSpc>
                <a:spcPct val="104000"/>
              </a:lnSpc>
              <a:spcAft>
                <a:spcPts val="200"/>
              </a:spcAft>
              <a:buNone/>
            </a:pPr>
            <a:r>
              <a:rPr lang="en-US" sz="1150" dirty="0">
                <a:solidFill>
                  <a:srgbClr val="5A6473"/>
                </a:solidFill>
                <a:latin typeface="Adobe Clean" pitchFamily="34" charset="0"/>
                <a:ea typeface="Adobe Clean" pitchFamily="34" charset="-122"/>
                <a:cs typeface="Adobe Clean" pitchFamily="34" charset="-120"/>
              </a:rPr>
              <a:t>did not recover format, and slightly hurt feasibility</a:t>
            </a:r>
            <a:endParaRPr lang="en-US" sz="1400" dirty="0"/>
          </a:p>
        </p:txBody>
      </p:sp>
      <p:sp>
        <p:nvSpPr>
          <p:cNvPr id="13" name="Shape 10"/>
          <p:cNvSpPr/>
          <p:nvPr/>
        </p:nvSpPr>
        <p:spPr>
          <a:xfrm>
            <a:off x="6373368" y="3630168"/>
            <a:ext cx="5532120" cy="658368"/>
          </a:xfrm>
          <a:prstGeom prst="roundRect">
            <a:avLst>
              <a:gd name="adj" fmla="val 12500"/>
            </a:avLst>
          </a:prstGeom>
          <a:solidFill>
            <a:srgbClr val="FFFFFF"/>
          </a:solidFill>
          <a:ln w="12700">
            <a:solidFill>
              <a:srgbClr val="D9DEE6"/>
            </a:solidFill>
            <a:prstDash val="solid"/>
          </a:ln>
        </p:spPr>
      </p:sp>
      <p:sp>
        <p:nvSpPr>
          <p:cNvPr id="14" name="Shape 11"/>
          <p:cNvSpPr/>
          <p:nvPr/>
        </p:nvSpPr>
        <p:spPr>
          <a:xfrm>
            <a:off x="6368796" y="3776472"/>
            <a:ext cx="68580" cy="365760"/>
          </a:xfrm>
          <a:prstGeom prst="roundRect">
            <a:avLst>
              <a:gd name="adj" fmla="val 53333"/>
            </a:avLst>
          </a:prstGeom>
          <a:solidFill>
            <a:srgbClr val="B26B00"/>
          </a:solidFill>
          <a:ln/>
        </p:spPr>
      </p:sp>
      <p:sp>
        <p:nvSpPr>
          <p:cNvPr id="15" name="Text 12"/>
          <p:cNvSpPr/>
          <p:nvPr/>
        </p:nvSpPr>
        <p:spPr>
          <a:xfrm>
            <a:off x="6620256" y="3666744"/>
            <a:ext cx="5148072" cy="585216"/>
          </a:xfrm>
          <a:prstGeom prst="rect">
            <a:avLst/>
          </a:prstGeom>
          <a:noFill/>
          <a:ln/>
        </p:spPr>
        <p:txBody>
          <a:bodyPr wrap="square" lIns="0" tIns="0" rIns="0" bIns="0" rtlCol="0" anchor="ctr"/>
          <a:lstStyle/>
          <a:p>
            <a:pPr algn="l" indent="0" marL="0">
              <a:lnSpc>
                <a:spcPct val="104000"/>
              </a:lnSpc>
              <a:spcAft>
                <a:spcPts val="200"/>
              </a:spcAft>
              <a:buNone/>
            </a:pPr>
            <a:r>
              <a:rPr lang="en-US" sz="1400" dirty="0">
                <a:solidFill>
                  <a:srgbClr val="21304A"/>
                </a:solidFill>
                <a:latin typeface="Adobe Clean ExtraBold" pitchFamily="34" charset="0"/>
                <a:ea typeface="Adobe Clean ExtraBold" pitchFamily="34" charset="-122"/>
                <a:cs typeface="Adobe Clean ExtraBold" pitchFamily="34" charset="-120"/>
              </a:rPr>
              <a:t>Added an explicit mass-violation reward</a:t>
            </a:r>
            <a:endParaRPr lang="en-US" sz="1400" dirty="0"/>
          </a:p>
          <a:p>
            <a:pPr algn="l" indent="0" marL="0">
              <a:lnSpc>
                <a:spcPct val="104000"/>
              </a:lnSpc>
              <a:spcAft>
                <a:spcPts val="200"/>
              </a:spcAft>
              <a:buNone/>
            </a:pPr>
            <a:r>
              <a:rPr lang="en-US" sz="1150" dirty="0">
                <a:solidFill>
                  <a:srgbClr val="5A6473"/>
                </a:solidFill>
                <a:latin typeface="Adobe Clean" pitchFamily="34" charset="0"/>
                <a:ea typeface="Adobe Clean" pitchFamily="34" charset="-122"/>
                <a:cs typeface="Adobe Clean" pitchFamily="34" charset="-120"/>
              </a:rPr>
              <a:t>regressed 68% to 52%, too conservative</a:t>
            </a:r>
            <a:endParaRPr lang="en-US" sz="1400" dirty="0"/>
          </a:p>
        </p:txBody>
      </p:sp>
      <p:sp>
        <p:nvSpPr>
          <p:cNvPr id="16" name="Shape 13"/>
          <p:cNvSpPr/>
          <p:nvPr/>
        </p:nvSpPr>
        <p:spPr>
          <a:xfrm>
            <a:off x="6373368" y="4416552"/>
            <a:ext cx="5532120" cy="658368"/>
          </a:xfrm>
          <a:prstGeom prst="roundRect">
            <a:avLst>
              <a:gd name="adj" fmla="val 12500"/>
            </a:avLst>
          </a:prstGeom>
          <a:solidFill>
            <a:srgbClr val="FFFFFF"/>
          </a:solidFill>
          <a:ln w="12700">
            <a:solidFill>
              <a:srgbClr val="D9DEE6"/>
            </a:solidFill>
            <a:prstDash val="solid"/>
          </a:ln>
        </p:spPr>
      </p:sp>
      <p:sp>
        <p:nvSpPr>
          <p:cNvPr id="17" name="Shape 14"/>
          <p:cNvSpPr/>
          <p:nvPr/>
        </p:nvSpPr>
        <p:spPr>
          <a:xfrm>
            <a:off x="6368796" y="4562856"/>
            <a:ext cx="68580" cy="365760"/>
          </a:xfrm>
          <a:prstGeom prst="roundRect">
            <a:avLst>
              <a:gd name="adj" fmla="val 53333"/>
            </a:avLst>
          </a:prstGeom>
          <a:solidFill>
            <a:srgbClr val="1E8449"/>
          </a:solidFill>
          <a:ln/>
        </p:spPr>
      </p:sp>
      <p:sp>
        <p:nvSpPr>
          <p:cNvPr id="18" name="Text 15"/>
          <p:cNvSpPr/>
          <p:nvPr/>
        </p:nvSpPr>
        <p:spPr>
          <a:xfrm>
            <a:off x="6620256" y="4453128"/>
            <a:ext cx="5148072" cy="585216"/>
          </a:xfrm>
          <a:prstGeom prst="rect">
            <a:avLst/>
          </a:prstGeom>
          <a:noFill/>
          <a:ln/>
        </p:spPr>
        <p:txBody>
          <a:bodyPr wrap="square" lIns="0" tIns="0" rIns="0" bIns="0" rtlCol="0" anchor="ctr"/>
          <a:lstStyle/>
          <a:p>
            <a:pPr algn="l" indent="0" marL="0">
              <a:lnSpc>
                <a:spcPct val="104000"/>
              </a:lnSpc>
              <a:spcAft>
                <a:spcPts val="200"/>
              </a:spcAft>
              <a:buNone/>
            </a:pPr>
            <a:r>
              <a:rPr lang="en-US" sz="1400" dirty="0">
                <a:solidFill>
                  <a:srgbClr val="21304A"/>
                </a:solidFill>
                <a:latin typeface="Adobe Clean ExtraBold" pitchFamily="34" charset="0"/>
                <a:ea typeface="Adobe Clean ExtraBold" pitchFamily="34" charset="-122"/>
                <a:cs typeface="Adobe Clean ExtraBold" pitchFamily="34" charset="-120"/>
              </a:rPr>
              <a:t>Verdict</a:t>
            </a:r>
            <a:endParaRPr lang="en-US" sz="1400" dirty="0"/>
          </a:p>
          <a:p>
            <a:pPr algn="l" indent="0" marL="0">
              <a:lnSpc>
                <a:spcPct val="104000"/>
              </a:lnSpc>
              <a:spcAft>
                <a:spcPts val="200"/>
              </a:spcAft>
              <a:buNone/>
            </a:pPr>
            <a:r>
              <a:rPr lang="en-US" sz="1150" dirty="0">
                <a:solidFill>
                  <a:srgbClr val="5A6473"/>
                </a:solidFill>
                <a:latin typeface="Adobe Clean" pitchFamily="34" charset="0"/>
                <a:ea typeface="Adobe Clean" pitchFamily="34" charset="-122"/>
                <a:cs typeface="Adobe Clean" pitchFamily="34" charset="-120"/>
              </a:rPr>
              <a:t>the plain single-term reward at α = 5 stays the best</a:t>
            </a:r>
            <a:endParaRPr lang="en-US" sz="1400" dirty="0"/>
          </a:p>
        </p:txBody>
      </p:sp>
      <p:sp>
        <p:nvSpPr>
          <p:cNvPr id="19" name="Shape 16"/>
          <p:cNvSpPr/>
          <p:nvPr/>
        </p:nvSpPr>
        <p:spPr>
          <a:xfrm>
            <a:off x="6373368" y="5285232"/>
            <a:ext cx="5532120" cy="566928"/>
          </a:xfrm>
          <a:prstGeom prst="roundRect">
            <a:avLst>
              <a:gd name="adj" fmla="val 16129"/>
            </a:avLst>
          </a:prstGeom>
          <a:solidFill>
            <a:srgbClr val="F4F5F7"/>
          </a:solidFill>
          <a:ln w="12700">
            <a:solidFill>
              <a:srgbClr val="D9DEE6"/>
            </a:solidFill>
            <a:prstDash val="solid"/>
          </a:ln>
        </p:spPr>
      </p:sp>
      <p:sp>
        <p:nvSpPr>
          <p:cNvPr id="20" name="Text 17"/>
          <p:cNvSpPr/>
          <p:nvPr/>
        </p:nvSpPr>
        <p:spPr>
          <a:xfrm>
            <a:off x="6592824" y="5449824"/>
            <a:ext cx="5093208" cy="274320"/>
          </a:xfrm>
          <a:prstGeom prst="rect">
            <a:avLst/>
          </a:prstGeom>
          <a:noFill/>
          <a:ln/>
        </p:spPr>
        <p:txBody>
          <a:bodyPr wrap="square" lIns="0" tIns="0" rIns="0" bIns="0" rtlCol="0" anchor="ctr"/>
          <a:lstStyle/>
          <a:p>
            <a:pPr algn="l" indent="0" marL="0">
              <a:lnSpc>
                <a:spcPct val="112000"/>
              </a:lnSpc>
              <a:spcAft>
                <a:spcPts val="500"/>
              </a:spcAft>
              <a:buNone/>
            </a:pPr>
            <a:r>
              <a:rPr lang="en-US" sz="1250" dirty="0">
                <a:solidFill>
                  <a:srgbClr val="21304A"/>
                </a:solidFill>
                <a:latin typeface="Adobe Clean ExtraBold" pitchFamily="34" charset="0"/>
                <a:ea typeface="Adobe Clean ExtraBold" pitchFamily="34" charset="-122"/>
                <a:cs typeface="Adobe Clean ExtraBold" pitchFamily="34" charset="-120"/>
              </a:rPr>
              <a:t>The leverage was the protocol and the feedback, not reward shaping.</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64240" cy="676656"/>
          </a:xfrm>
          <a:prstGeom prst="rect">
            <a:avLst/>
          </a:prstGeom>
          <a:noFill/>
          <a:ln/>
        </p:spPr>
        <p:txBody>
          <a:bodyPr wrap="square" lIns="0" tIns="0" rIns="0" bIns="0" rtlCol="0" anchor="t"/>
          <a:lstStyle/>
          <a:p>
            <a:pPr algn="l" indent="0" marL="0">
              <a:buNone/>
            </a:pPr>
            <a:r>
              <a:rPr lang="en-US" sz="2800" dirty="0">
                <a:solidFill>
                  <a:srgbClr val="EB1000"/>
                </a:solidFill>
                <a:latin typeface="Adobe Clean ExtraBold" pitchFamily="34" charset="0"/>
                <a:ea typeface="Adobe Clean ExtraBold" pitchFamily="34" charset="-122"/>
                <a:cs typeface="Adobe Clean ExtraBold" pitchFamily="34" charset="-120"/>
              </a:rPr>
              <a:t>What the Model Produces Each Turn</a:t>
            </a:r>
            <a:endParaRPr lang="en-US" sz="2800" dirty="0"/>
          </a:p>
        </p:txBody>
      </p:sp>
      <p:sp>
        <p:nvSpPr>
          <p:cNvPr id="3" name="Text 1"/>
          <p:cNvSpPr/>
          <p:nvPr/>
        </p:nvSpPr>
        <p:spPr>
          <a:xfrm>
            <a:off x="566928" y="1060704"/>
            <a:ext cx="11064240" cy="384048"/>
          </a:xfrm>
          <a:prstGeom prst="rect">
            <a:avLst/>
          </a:prstGeom>
          <a:noFill/>
          <a:ln/>
        </p:spPr>
        <p:txBody>
          <a:bodyPr wrap="square" lIns="0" tIns="0" rIns="0" bIns="0" rtlCol="0" anchor="t"/>
          <a:lstStyle/>
          <a:p>
            <a:pPr algn="l" indent="0" marL="0">
              <a:buNone/>
            </a:pPr>
            <a:r>
              <a:rPr lang="en-US" sz="1450" dirty="0">
                <a:solidFill>
                  <a:srgbClr val="5A6473"/>
                </a:solidFill>
                <a:latin typeface="Adobe Clean" pitchFamily="34" charset="0"/>
                <a:ea typeface="Adobe Clean" pitchFamily="34" charset="-122"/>
                <a:cs typeface="Adobe Clean" pitchFamily="34" charset="-120"/>
              </a:rPr>
              <a:t>What a single turn looks like for the champion model.</a:t>
            </a:r>
            <a:endParaRPr lang="en-US" sz="1450" dirty="0"/>
          </a:p>
        </p:txBody>
      </p:sp>
      <p:sp>
        <p:nvSpPr>
          <p:cNvPr id="4" name="Shape 2"/>
          <p:cNvSpPr/>
          <p:nvPr/>
        </p:nvSpPr>
        <p:spPr>
          <a:xfrm>
            <a:off x="566928" y="1783080"/>
            <a:ext cx="7315200" cy="3337560"/>
          </a:xfrm>
          <a:prstGeom prst="roundRect">
            <a:avLst>
              <a:gd name="adj" fmla="val 2740"/>
            </a:avLst>
          </a:prstGeom>
          <a:solidFill>
            <a:srgbClr val="1B2233"/>
          </a:solidFill>
          <a:ln/>
        </p:spPr>
      </p:sp>
      <p:sp>
        <p:nvSpPr>
          <p:cNvPr id="5" name="Text 3"/>
          <p:cNvSpPr/>
          <p:nvPr/>
        </p:nvSpPr>
        <p:spPr>
          <a:xfrm>
            <a:off x="841248" y="1984248"/>
            <a:ext cx="6766560" cy="2935224"/>
          </a:xfrm>
          <a:prstGeom prst="rect">
            <a:avLst/>
          </a:prstGeom>
          <a:noFill/>
          <a:ln/>
        </p:spPr>
        <p:txBody>
          <a:bodyPr wrap="square" lIns="0" tIns="0" rIns="0" bIns="0" rtlCol="0" anchor="t"/>
          <a:lstStyle/>
          <a:p>
            <a:pPr algn="l" indent="0" marL="0">
              <a:lnSpc>
                <a:spcPct val="122000"/>
              </a:lnSpc>
              <a:buNone/>
            </a:pPr>
            <a:r>
              <a:rPr lang="en-US" sz="1300" dirty="0">
                <a:solidFill>
                  <a:srgbClr val="8FA0BE"/>
                </a:solidFill>
                <a:latin typeface="Courier New" pitchFamily="34" charset="0"/>
                <a:ea typeface="Courier New" pitchFamily="34" charset="-122"/>
                <a:cs typeface="Courier New" pitchFamily="34" charset="-120"/>
              </a:rPr>
              <a:t>&lt;think&gt;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Okay, let's see. The truss is infeasible because the buckling factor</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of safety is too low (0.44) and the deflection too high (4.28e-02 m).</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The main issue is the buckling FOS, way below 1.5. </a:t>
            </a:r>
            <a:endParaRPr lang="en-US" sz="1300" dirty="0"/>
          </a:p>
          <a:p>
            <a:pPr algn="l" indent="0" marL="0">
              <a:lnSpc>
                <a:spcPct val="122000"/>
              </a:lnSpc>
              <a:buNone/>
            </a:pPr>
            <a:r>
              <a:rPr lang="en-US" sz="1300" dirty="0">
                <a:solidFill>
                  <a:srgbClr val="FF8A7A"/>
                </a:solidFill>
                <a:latin typeface="Courier New" pitchFamily="34" charset="0"/>
                <a:ea typeface="Courier New" pitchFamily="34" charset="-122"/>
                <a:cs typeface="Courier New" pitchFamily="34" charset="-120"/>
              </a:rPr>
              <a:t>The worst member</a:t>
            </a:r>
            <a:endParaRPr lang="en-US" sz="1300" dirty="0"/>
          </a:p>
          <a:p>
            <a:pPr algn="l" indent="0" marL="0">
              <a:lnSpc>
                <a:spcPct val="122000"/>
              </a:lnSpc>
              <a:buNone/>
            </a:pPr>
            <a:r>
              <a:rPr lang="en-US" sz="1300" dirty="0">
                <a:solidFill>
                  <a:srgbClr val="FF8A7A"/>
                </a:solidFill>
                <a:latin typeface="Courier New" pitchFamily="34" charset="0"/>
                <a:ea typeface="Courier New" pitchFamily="34" charset="-122"/>
                <a:cs typeface="Courier New" pitchFamily="34" charset="-120"/>
              </a:rPr>
              <a:t>is M4, which is J6–J7</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So I need to address that. Current r is
0.0380 m, t is 0.0031 m. Increasing the radius would help…
</a:t>
            </a:r>
            <a:pPr algn="l" indent="0" marL="0">
              <a:lnSpc>
                <a:spcPct val="122000"/>
              </a:lnSpc>
              <a:buNone/>
            </a:pPr>
            <a:r>
              <a:rPr lang="en-US" sz="1300" dirty="0">
                <a:solidFill>
                  <a:srgbClr val="8FA0BE"/>
                </a:solidFill>
                <a:latin typeface="Courier New" pitchFamily="34" charset="0"/>
                <a:ea typeface="Courier New" pitchFamily="34" charset="-122"/>
                <a:cs typeface="Courier New" pitchFamily="34" charset="-120"/>
              </a:rPr>
              <a:t>&lt;/think&gt;
</a:t>
            </a:r>
            <a:pPr algn="l" indent="0" marL="0">
              <a:lnSpc>
                <a:spcPct val="122000"/>
              </a:lnSpc>
              <a:buNone/>
            </a:pPr>
            <a:r>
              <a:rPr lang="en-US" sz="1300" dirty="0">
                <a:solidFill>
                  <a:srgbClr val="8FA0BE"/>
                </a:solidFill>
                <a:latin typeface="Courier New" pitchFamily="34" charset="0"/>
                <a:ea typeface="Courier New" pitchFamily="34" charset="-122"/>
                <a:cs typeface="Courier New" pitchFamily="34" charset="-120"/>
              </a:rPr>
              <a:t>&lt;action&gt;</a:t>
            </a:r>
            <a:pPr algn="l" indent="0" marL="0">
              <a:lnSpc>
                <a:spcPct val="122000"/>
              </a:lnSpc>
              <a:buNone/>
            </a:pPr>
            <a:r>
              <a:rPr lang="en-US" sz="1300" dirty="0">
                <a:solidFill>
                  <a:srgbClr val="7FE0A8"/>
                </a:solidFill>
                <a:latin typeface="Courier New" pitchFamily="34" charset="0"/>
                <a:ea typeface="Courier New" pitchFamily="34" charset="-122"/>
                <a:cs typeface="Courier New" pitchFamily="34" charset="-120"/>
              </a:rPr>
              <a:t>SCALE_PARAM(4, r, 1.36)</a:t>
            </a:r>
            <a:pPr algn="l" indent="0" marL="0">
              <a:lnSpc>
                <a:spcPct val="122000"/>
              </a:lnSpc>
              <a:buNone/>
            </a:pPr>
            <a:r>
              <a:rPr lang="en-US" sz="1300" dirty="0">
                <a:solidFill>
                  <a:srgbClr val="8FA0BE"/>
                </a:solidFill>
                <a:latin typeface="Courier New" pitchFamily="34" charset="0"/>
                <a:ea typeface="Courier New" pitchFamily="34" charset="-122"/>
                <a:cs typeface="Courier New" pitchFamily="34" charset="-120"/>
              </a:rPr>
              <a:t>&lt;/action&gt;</a:t>
            </a:r>
            <a:endParaRPr lang="en-US" sz="1300" dirty="0"/>
          </a:p>
        </p:txBody>
      </p:sp>
      <p:sp>
        <p:nvSpPr>
          <p:cNvPr id="6" name="Shape 4"/>
          <p:cNvSpPr/>
          <p:nvPr/>
        </p:nvSpPr>
        <p:spPr>
          <a:xfrm>
            <a:off x="8202168" y="1783080"/>
            <a:ext cx="3383280" cy="1554480"/>
          </a:xfrm>
          <a:prstGeom prst="roundRect">
            <a:avLst>
              <a:gd name="adj" fmla="val 5882"/>
            </a:avLst>
          </a:prstGeom>
          <a:solidFill>
            <a:srgbClr val="EEF1F6"/>
          </a:solidFill>
          <a:ln w="12700">
            <a:solidFill>
              <a:srgbClr val="D9DEE6"/>
            </a:solidFill>
            <a:prstDash val="solid"/>
          </a:ln>
        </p:spPr>
      </p:sp>
      <p:sp>
        <p:nvSpPr>
          <p:cNvPr id="7" name="Text 5"/>
          <p:cNvSpPr/>
          <p:nvPr/>
        </p:nvSpPr>
        <p:spPr>
          <a:xfrm>
            <a:off x="8421624" y="1947672"/>
            <a:ext cx="2944368" cy="384048"/>
          </a:xfrm>
          <a:prstGeom prst="rect">
            <a:avLst/>
          </a:prstGeom>
          <a:noFill/>
          <a:ln/>
        </p:spPr>
        <p:txBody>
          <a:bodyPr wrap="square" lIns="0" tIns="0" rIns="0" bIns="0" rtlCol="0" anchor="t"/>
          <a:lstStyle/>
          <a:p>
            <a:pPr algn="l" indent="0" marL="0">
              <a:buNone/>
            </a:pPr>
            <a:r>
              <a:rPr lang="en-US" sz="1400" dirty="0">
                <a:solidFill>
                  <a:srgbClr val="21304A"/>
                </a:solidFill>
                <a:latin typeface="Adobe Clean ExtraBold" pitchFamily="34" charset="0"/>
                <a:ea typeface="Adobe Clean ExtraBold" pitchFamily="34" charset="-122"/>
                <a:cs typeface="Adobe Clean ExtraBold" pitchFamily="34" charset="-120"/>
              </a:rPr>
              <a:t>The behavior we wanted</a:t>
            </a:r>
            <a:endParaRPr lang="en-US" sz="1400" dirty="0"/>
          </a:p>
        </p:txBody>
      </p:sp>
      <p:sp>
        <p:nvSpPr>
          <p:cNvPr id="8" name="Text 6"/>
          <p:cNvSpPr/>
          <p:nvPr/>
        </p:nvSpPr>
        <p:spPr>
          <a:xfrm>
            <a:off x="8421624" y="2368296"/>
            <a:ext cx="2944368" cy="841248"/>
          </a:xfrm>
          <a:prstGeom prst="rect">
            <a:avLst/>
          </a:prstGeom>
          <a:noFill/>
          <a:ln/>
        </p:spPr>
        <p:txBody>
          <a:bodyPr wrap="square" lIns="0" tIns="0" rIns="0" bIns="0" rtlCol="0" anchor="t"/>
          <a:lstStyle/>
          <a:p>
            <a:pPr algn="l" indent="0" marL="0">
              <a:lnSpc>
                <a:spcPct val="112000"/>
              </a:lnSpc>
              <a:spcAft>
                <a:spcPts val="500"/>
              </a:spcAft>
              <a:buNone/>
            </a:pPr>
            <a:r>
              <a:rPr lang="en-US" sz="1300" dirty="0">
                <a:solidFill>
                  <a:srgbClr val="2C2C2C"/>
                </a:solidFill>
                <a:latin typeface="Adobe Clean" pitchFamily="34" charset="0"/>
                <a:ea typeface="Adobe Clean" pitchFamily="34" charset="-122"/>
                <a:cs typeface="Adobe Clean" pitchFamily="34" charset="-120"/>
              </a:rPr>
              <a:t>It reads the named worst member, M4, and changes member 4 directly.</a:t>
            </a:r>
            <a:endParaRPr lang="en-US" sz="1300" dirty="0"/>
          </a:p>
        </p:txBody>
      </p:sp>
      <p:sp>
        <p:nvSpPr>
          <p:cNvPr id="9" name="Shape 7"/>
          <p:cNvSpPr/>
          <p:nvPr/>
        </p:nvSpPr>
        <p:spPr>
          <a:xfrm>
            <a:off x="8202168" y="3520440"/>
            <a:ext cx="3383280" cy="1600200"/>
          </a:xfrm>
          <a:prstGeom prst="roundRect">
            <a:avLst>
              <a:gd name="adj" fmla="val 5714"/>
            </a:avLst>
          </a:prstGeom>
          <a:solidFill>
            <a:srgbClr val="F4F5F7"/>
          </a:solidFill>
          <a:ln w="12700">
            <a:solidFill>
              <a:srgbClr val="D9DEE6"/>
            </a:solidFill>
            <a:prstDash val="solid"/>
          </a:ln>
        </p:spPr>
      </p:sp>
      <p:sp>
        <p:nvSpPr>
          <p:cNvPr id="10" name="Text 8"/>
          <p:cNvSpPr/>
          <p:nvPr/>
        </p:nvSpPr>
        <p:spPr>
          <a:xfrm>
            <a:off x="8421624" y="3685032"/>
            <a:ext cx="2944368" cy="384048"/>
          </a:xfrm>
          <a:prstGeom prst="rect">
            <a:avLst/>
          </a:prstGeom>
          <a:noFill/>
          <a:ln/>
        </p:spPr>
        <p:txBody>
          <a:bodyPr wrap="square" lIns="0" tIns="0" rIns="0" bIns="0" rtlCol="0" anchor="t"/>
          <a:lstStyle/>
          <a:p>
            <a:pPr algn="l" indent="0" marL="0">
              <a:buNone/>
            </a:pPr>
            <a:r>
              <a:rPr lang="en-US" sz="1400" dirty="0">
                <a:solidFill>
                  <a:srgbClr val="21304A"/>
                </a:solidFill>
                <a:latin typeface="Adobe Clean ExtraBold" pitchFamily="34" charset="0"/>
                <a:ea typeface="Adobe Clean ExtraBold" pitchFamily="34" charset="-122"/>
                <a:cs typeface="Adobe Clean ExtraBold" pitchFamily="34" charset="-120"/>
              </a:rPr>
              <a:t>One action per turn</a:t>
            </a:r>
            <a:endParaRPr lang="en-US" sz="1400" dirty="0"/>
          </a:p>
        </p:txBody>
      </p:sp>
      <p:sp>
        <p:nvSpPr>
          <p:cNvPr id="11" name="Text 9"/>
          <p:cNvSpPr/>
          <p:nvPr/>
        </p:nvSpPr>
        <p:spPr>
          <a:xfrm>
            <a:off x="8421624" y="4105656"/>
            <a:ext cx="2944368" cy="886968"/>
          </a:xfrm>
          <a:prstGeom prst="rect">
            <a:avLst/>
          </a:prstGeom>
          <a:noFill/>
          <a:ln/>
        </p:spPr>
        <p:txBody>
          <a:bodyPr wrap="square" lIns="0" tIns="0" rIns="0" bIns="0" rtlCol="0" anchor="t"/>
          <a:lstStyle/>
          <a:p>
            <a:pPr algn="l" indent="0" marL="0">
              <a:lnSpc>
                <a:spcPct val="112000"/>
              </a:lnSpc>
              <a:spcAft>
                <a:spcPts val="500"/>
              </a:spcAft>
              <a:buNone/>
            </a:pPr>
            <a:r>
              <a:rPr lang="en-US" sz="1300" dirty="0">
                <a:solidFill>
                  <a:srgbClr val="2C2C2C"/>
                </a:solidFill>
                <a:latin typeface="Adobe Clean" pitchFamily="34" charset="0"/>
                <a:ea typeface="Adobe Clean" pitchFamily="34" charset="-122"/>
                <a:cs typeface="Adobe Clean" pitchFamily="34" charset="-120"/>
              </a:rPr>
              <a:t>Exactly one move per turn. Here it scales member 4's radius by 1.36 times. The solver then runs and returns the next state.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64240" cy="676656"/>
          </a:xfrm>
          <a:prstGeom prst="rect">
            <a:avLst/>
          </a:prstGeom>
          <a:noFill/>
          <a:ln/>
        </p:spPr>
        <p:txBody>
          <a:bodyPr wrap="square" lIns="0" tIns="0" rIns="0" bIns="0" rtlCol="0" anchor="t"/>
          <a:lstStyle/>
          <a:p>
            <a:pPr algn="l" indent="0" marL="0">
              <a:buNone/>
            </a:pPr>
            <a:r>
              <a:rPr lang="en-US" sz="2800" dirty="0">
                <a:solidFill>
                  <a:srgbClr val="EB1000"/>
                </a:solidFill>
                <a:latin typeface="Adobe Clean ExtraBold" pitchFamily="34" charset="0"/>
                <a:ea typeface="Adobe Clean ExtraBold" pitchFamily="34" charset="-122"/>
                <a:cs typeface="Adobe Clean ExtraBold" pitchFamily="34" charset="-120"/>
              </a:rPr>
              <a:t>A Full Example Trajectory</a:t>
            </a:r>
            <a:endParaRPr lang="en-US" sz="2800" dirty="0"/>
          </a:p>
        </p:txBody>
      </p:sp>
      <p:sp>
        <p:nvSpPr>
          <p:cNvPr id="3" name="Text 1"/>
          <p:cNvSpPr/>
          <p:nvPr/>
        </p:nvSpPr>
        <p:spPr>
          <a:xfrm>
            <a:off x="566928" y="1060704"/>
            <a:ext cx="11064240" cy="384048"/>
          </a:xfrm>
          <a:prstGeom prst="rect">
            <a:avLst/>
          </a:prstGeom>
          <a:noFill/>
          <a:ln/>
        </p:spPr>
        <p:txBody>
          <a:bodyPr wrap="square" lIns="0" tIns="0" rIns="0" bIns="0" rtlCol="0" anchor="t"/>
          <a:lstStyle/>
          <a:p>
            <a:pPr algn="l" indent="0" marL="0">
              <a:buNone/>
            </a:pPr>
            <a:r>
              <a:rPr lang="en-US" sz="1450" dirty="0">
                <a:solidFill>
                  <a:srgbClr val="5A6473"/>
                </a:solidFill>
                <a:latin typeface="Adobe Clean" pitchFamily="34" charset="0"/>
                <a:ea typeface="Adobe Clean" pitchFamily="34" charset="-122"/>
                <a:cs typeface="Adobe Clean" pitchFamily="34" charset="-120"/>
              </a:rPr>
              <a:t>One held-out problem, solved in seven steps.</a:t>
            </a:r>
            <a:endParaRPr lang="en-US" sz="1450" dirty="0"/>
          </a:p>
        </p:txBody>
      </p:sp>
      <p:sp>
        <p:nvSpPr>
          <p:cNvPr id="4" name="Shape 2"/>
          <p:cNvSpPr/>
          <p:nvPr/>
        </p:nvSpPr>
        <p:spPr>
          <a:xfrm>
            <a:off x="566928" y="1664208"/>
            <a:ext cx="3456432" cy="877824"/>
          </a:xfrm>
          <a:prstGeom prst="roundRect">
            <a:avLst>
              <a:gd name="adj" fmla="val 9375"/>
            </a:avLst>
          </a:prstGeom>
          <a:solidFill>
            <a:srgbClr val="F4F5F7"/>
          </a:solidFill>
          <a:ln w="12700">
            <a:solidFill>
              <a:srgbClr val="D9DEE6"/>
            </a:solidFill>
            <a:prstDash val="solid"/>
          </a:ln>
        </p:spPr>
      </p:sp>
      <p:sp>
        <p:nvSpPr>
          <p:cNvPr id="5" name="Text 3"/>
          <p:cNvSpPr/>
          <p:nvPr/>
        </p:nvSpPr>
        <p:spPr>
          <a:xfrm>
            <a:off x="768096" y="1773936"/>
            <a:ext cx="3090672" cy="256032"/>
          </a:xfrm>
          <a:prstGeom prst="rect">
            <a:avLst/>
          </a:prstGeom>
          <a:noFill/>
          <a:ln/>
        </p:spPr>
        <p:txBody>
          <a:bodyPr wrap="square" lIns="0" tIns="0" rIns="0" bIns="0" rtlCol="0" anchor="t"/>
          <a:lstStyle/>
          <a:p>
            <a:pPr algn="l" indent="0" marL="0">
              <a:buNone/>
            </a:pPr>
            <a:r>
              <a:rPr lang="en-US" sz="1150" spc="100" kern="0" dirty="0">
                <a:solidFill>
                  <a:srgbClr val="5A6473"/>
                </a:solidFill>
                <a:latin typeface="Adobe Clean ExtraBold" pitchFamily="34" charset="0"/>
                <a:ea typeface="Adobe Clean ExtraBold" pitchFamily="34" charset="-122"/>
                <a:cs typeface="Adobe Clean ExtraBold" pitchFamily="34" charset="-120"/>
              </a:rPr>
              <a:t>step 0</a:t>
            </a:r>
            <a:endParaRPr lang="en-US" sz="1150" dirty="0"/>
          </a:p>
        </p:txBody>
      </p:sp>
      <p:sp>
        <p:nvSpPr>
          <p:cNvPr id="6" name="Text 4"/>
          <p:cNvSpPr/>
          <p:nvPr/>
        </p:nvSpPr>
        <p:spPr>
          <a:xfrm>
            <a:off x="768096" y="2029968"/>
            <a:ext cx="3090672" cy="274320"/>
          </a:xfrm>
          <a:prstGeom prst="rect">
            <a:avLst/>
          </a:prstGeom>
          <a:noFill/>
          <a:ln/>
        </p:spPr>
        <p:txBody>
          <a:bodyPr wrap="square" lIns="0" tIns="0" rIns="0" bIns="0" rtlCol="0" anchor="t"/>
          <a:lstStyle/>
          <a:p>
            <a:pPr algn="l" indent="0" marL="0">
              <a:buNone/>
            </a:pPr>
            <a:r>
              <a:rPr lang="en-US" sz="1250" dirty="0">
                <a:solidFill>
                  <a:srgbClr val="EB1000"/>
                </a:solidFill>
                <a:latin typeface="Courier New" pitchFamily="34" charset="0"/>
                <a:ea typeface="Courier New" pitchFamily="34" charset="-122"/>
                <a:cs typeface="Courier New" pitchFamily="34" charset="-120"/>
              </a:rPr>
              <a:t>SCALE_PARAM(4, r, 1.36)</a:t>
            </a:r>
            <a:endParaRPr lang="en-US" sz="1250" dirty="0"/>
          </a:p>
        </p:txBody>
      </p:sp>
      <p:sp>
        <p:nvSpPr>
          <p:cNvPr id="7" name="Text 5"/>
          <p:cNvSpPr/>
          <p:nvPr/>
        </p:nvSpPr>
        <p:spPr>
          <a:xfrm>
            <a:off x="768096" y="2286000"/>
            <a:ext cx="3090672" cy="237744"/>
          </a:xfrm>
          <a:prstGeom prst="rect">
            <a:avLst/>
          </a:prstGeom>
          <a:noFill/>
          <a:ln/>
        </p:spPr>
        <p:txBody>
          <a:bodyPr wrap="square" lIns="0" tIns="0" rIns="0" bIns="0" rtlCol="0" anchor="t"/>
          <a:lstStyle/>
          <a:p>
            <a:pPr algn="l" indent="0" marL="0">
              <a:buNone/>
            </a:pPr>
            <a:r>
              <a:rPr lang="en-US" sz="1100" dirty="0">
                <a:solidFill>
                  <a:srgbClr val="21304A"/>
                </a:solidFill>
                <a:latin typeface="Adobe Clean" pitchFamily="34" charset="0"/>
                <a:ea typeface="Adobe Clean" pitchFamily="34" charset="-122"/>
                <a:cs typeface="Adobe Clean" pitchFamily="34" charset="-120"/>
              </a:rPr>
              <a:t>FOS_b 0.44 → 0.48</a:t>
            </a:r>
            <a:endParaRPr lang="en-US" sz="1100" dirty="0"/>
          </a:p>
        </p:txBody>
      </p:sp>
      <p:sp>
        <p:nvSpPr>
          <p:cNvPr id="8" name="Shape 6"/>
          <p:cNvSpPr/>
          <p:nvPr/>
        </p:nvSpPr>
        <p:spPr>
          <a:xfrm>
            <a:off x="4059936" y="1938528"/>
            <a:ext cx="219456" cy="329184"/>
          </a:xfrm>
          <a:prstGeom prst="chevron">
            <a:avLst/>
          </a:prstGeom>
          <a:solidFill>
            <a:srgbClr val="C4CAD4"/>
          </a:solidFill>
          <a:ln/>
        </p:spPr>
      </p:sp>
      <p:sp>
        <p:nvSpPr>
          <p:cNvPr id="9" name="Shape 7"/>
          <p:cNvSpPr/>
          <p:nvPr/>
        </p:nvSpPr>
        <p:spPr>
          <a:xfrm>
            <a:off x="4352544" y="1664208"/>
            <a:ext cx="3456432" cy="877824"/>
          </a:xfrm>
          <a:prstGeom prst="roundRect">
            <a:avLst>
              <a:gd name="adj" fmla="val 9375"/>
            </a:avLst>
          </a:prstGeom>
          <a:solidFill>
            <a:srgbClr val="F4F5F7"/>
          </a:solidFill>
          <a:ln w="12700">
            <a:solidFill>
              <a:srgbClr val="D9DEE6"/>
            </a:solidFill>
            <a:prstDash val="solid"/>
          </a:ln>
        </p:spPr>
      </p:sp>
      <p:sp>
        <p:nvSpPr>
          <p:cNvPr id="10" name="Text 8"/>
          <p:cNvSpPr/>
          <p:nvPr/>
        </p:nvSpPr>
        <p:spPr>
          <a:xfrm>
            <a:off x="4553712" y="1773936"/>
            <a:ext cx="3090672" cy="256032"/>
          </a:xfrm>
          <a:prstGeom prst="rect">
            <a:avLst/>
          </a:prstGeom>
          <a:noFill/>
          <a:ln/>
        </p:spPr>
        <p:txBody>
          <a:bodyPr wrap="square" lIns="0" tIns="0" rIns="0" bIns="0" rtlCol="0" anchor="t"/>
          <a:lstStyle/>
          <a:p>
            <a:pPr algn="l" indent="0" marL="0">
              <a:buNone/>
            </a:pPr>
            <a:r>
              <a:rPr lang="en-US" sz="1150" spc="100" kern="0" dirty="0">
                <a:solidFill>
                  <a:srgbClr val="5A6473"/>
                </a:solidFill>
                <a:latin typeface="Adobe Clean ExtraBold" pitchFamily="34" charset="0"/>
                <a:ea typeface="Adobe Clean ExtraBold" pitchFamily="34" charset="-122"/>
                <a:cs typeface="Adobe Clean ExtraBold" pitchFamily="34" charset="-120"/>
              </a:rPr>
              <a:t>step 1</a:t>
            </a:r>
            <a:endParaRPr lang="en-US" sz="1150" dirty="0"/>
          </a:p>
        </p:txBody>
      </p:sp>
      <p:sp>
        <p:nvSpPr>
          <p:cNvPr id="11" name="Text 9"/>
          <p:cNvSpPr/>
          <p:nvPr/>
        </p:nvSpPr>
        <p:spPr>
          <a:xfrm>
            <a:off x="4553712" y="2029968"/>
            <a:ext cx="3090672" cy="274320"/>
          </a:xfrm>
          <a:prstGeom prst="rect">
            <a:avLst/>
          </a:prstGeom>
          <a:noFill/>
          <a:ln/>
        </p:spPr>
        <p:txBody>
          <a:bodyPr wrap="square" lIns="0" tIns="0" rIns="0" bIns="0" rtlCol="0" anchor="t"/>
          <a:lstStyle/>
          <a:p>
            <a:pPr algn="l" indent="0" marL="0">
              <a:buNone/>
            </a:pPr>
            <a:r>
              <a:rPr lang="en-US" sz="1250" dirty="0">
                <a:solidFill>
                  <a:srgbClr val="EB1000"/>
                </a:solidFill>
                <a:latin typeface="Courier New" pitchFamily="34" charset="0"/>
                <a:ea typeface="Courier New" pitchFamily="34" charset="-122"/>
                <a:cs typeface="Courier New" pitchFamily="34" charset="-120"/>
              </a:rPr>
              <a:t>SCALE_PARAM(7, r, 1.50)</a:t>
            </a:r>
            <a:endParaRPr lang="en-US" sz="1250" dirty="0"/>
          </a:p>
        </p:txBody>
      </p:sp>
      <p:sp>
        <p:nvSpPr>
          <p:cNvPr id="12" name="Text 10"/>
          <p:cNvSpPr/>
          <p:nvPr/>
        </p:nvSpPr>
        <p:spPr>
          <a:xfrm>
            <a:off x="4553712" y="2286000"/>
            <a:ext cx="3090672" cy="237744"/>
          </a:xfrm>
          <a:prstGeom prst="rect">
            <a:avLst/>
          </a:prstGeom>
          <a:noFill/>
          <a:ln/>
        </p:spPr>
        <p:txBody>
          <a:bodyPr wrap="square" lIns="0" tIns="0" rIns="0" bIns="0" rtlCol="0" anchor="t"/>
          <a:lstStyle/>
          <a:p>
            <a:pPr algn="l" indent="0" marL="0">
              <a:buNone/>
            </a:pPr>
            <a:r>
              <a:rPr lang="en-US" sz="1100" dirty="0">
                <a:solidFill>
                  <a:srgbClr val="21304A"/>
                </a:solidFill>
                <a:latin typeface="Adobe Clean" pitchFamily="34" charset="0"/>
                <a:ea typeface="Adobe Clean" pitchFamily="34" charset="-122"/>
                <a:cs typeface="Adobe Clean" pitchFamily="34" charset="-120"/>
              </a:rPr>
              <a:t>FOS_b 0.48 → 0.51</a:t>
            </a:r>
            <a:endParaRPr lang="en-US" sz="1100" dirty="0"/>
          </a:p>
        </p:txBody>
      </p:sp>
      <p:sp>
        <p:nvSpPr>
          <p:cNvPr id="13" name="Shape 11"/>
          <p:cNvSpPr/>
          <p:nvPr/>
        </p:nvSpPr>
        <p:spPr>
          <a:xfrm>
            <a:off x="7845552" y="1938528"/>
            <a:ext cx="219456" cy="329184"/>
          </a:xfrm>
          <a:prstGeom prst="chevron">
            <a:avLst/>
          </a:prstGeom>
          <a:solidFill>
            <a:srgbClr val="C4CAD4"/>
          </a:solidFill>
          <a:ln/>
        </p:spPr>
      </p:sp>
      <p:sp>
        <p:nvSpPr>
          <p:cNvPr id="14" name="Shape 12"/>
          <p:cNvSpPr/>
          <p:nvPr/>
        </p:nvSpPr>
        <p:spPr>
          <a:xfrm>
            <a:off x="8138160" y="1664208"/>
            <a:ext cx="3456432" cy="877824"/>
          </a:xfrm>
          <a:prstGeom prst="roundRect">
            <a:avLst>
              <a:gd name="adj" fmla="val 9375"/>
            </a:avLst>
          </a:prstGeom>
          <a:solidFill>
            <a:srgbClr val="F4F5F7"/>
          </a:solidFill>
          <a:ln w="12700">
            <a:solidFill>
              <a:srgbClr val="D9DEE6"/>
            </a:solidFill>
            <a:prstDash val="solid"/>
          </a:ln>
        </p:spPr>
      </p:sp>
      <p:sp>
        <p:nvSpPr>
          <p:cNvPr id="15" name="Text 13"/>
          <p:cNvSpPr/>
          <p:nvPr/>
        </p:nvSpPr>
        <p:spPr>
          <a:xfrm>
            <a:off x="8339328" y="1773936"/>
            <a:ext cx="3090672" cy="256032"/>
          </a:xfrm>
          <a:prstGeom prst="rect">
            <a:avLst/>
          </a:prstGeom>
          <a:noFill/>
          <a:ln/>
        </p:spPr>
        <p:txBody>
          <a:bodyPr wrap="square" lIns="0" tIns="0" rIns="0" bIns="0" rtlCol="0" anchor="t"/>
          <a:lstStyle/>
          <a:p>
            <a:pPr algn="l" indent="0" marL="0">
              <a:buNone/>
            </a:pPr>
            <a:r>
              <a:rPr lang="en-US" sz="1150" spc="100" kern="0" dirty="0">
                <a:solidFill>
                  <a:srgbClr val="5A6473"/>
                </a:solidFill>
                <a:latin typeface="Adobe Clean ExtraBold" pitchFamily="34" charset="0"/>
                <a:ea typeface="Adobe Clean ExtraBold" pitchFamily="34" charset="-122"/>
                <a:cs typeface="Adobe Clean ExtraBold" pitchFamily="34" charset="-120"/>
              </a:rPr>
              <a:t>step 2</a:t>
            </a:r>
            <a:endParaRPr lang="en-US" sz="1150" dirty="0"/>
          </a:p>
        </p:txBody>
      </p:sp>
      <p:sp>
        <p:nvSpPr>
          <p:cNvPr id="16" name="Text 14"/>
          <p:cNvSpPr/>
          <p:nvPr/>
        </p:nvSpPr>
        <p:spPr>
          <a:xfrm>
            <a:off x="8339328" y="2029968"/>
            <a:ext cx="3090672" cy="274320"/>
          </a:xfrm>
          <a:prstGeom prst="rect">
            <a:avLst/>
          </a:prstGeom>
          <a:noFill/>
          <a:ln/>
        </p:spPr>
        <p:txBody>
          <a:bodyPr wrap="square" lIns="0" tIns="0" rIns="0" bIns="0" rtlCol="0" anchor="t"/>
          <a:lstStyle/>
          <a:p>
            <a:pPr algn="l" indent="0" marL="0">
              <a:buNone/>
            </a:pPr>
            <a:r>
              <a:rPr lang="en-US" sz="1250" dirty="0">
                <a:solidFill>
                  <a:srgbClr val="EB1000"/>
                </a:solidFill>
                <a:latin typeface="Courier New" pitchFamily="34" charset="0"/>
                <a:ea typeface="Courier New" pitchFamily="34" charset="-122"/>
                <a:cs typeface="Courier New" pitchFamily="34" charset="-120"/>
              </a:rPr>
              <a:t>SCALE_PARAM(11, r, 1.50)</a:t>
            </a:r>
            <a:endParaRPr lang="en-US" sz="1250" dirty="0"/>
          </a:p>
        </p:txBody>
      </p:sp>
      <p:sp>
        <p:nvSpPr>
          <p:cNvPr id="17" name="Text 15"/>
          <p:cNvSpPr/>
          <p:nvPr/>
        </p:nvSpPr>
        <p:spPr>
          <a:xfrm>
            <a:off x="8339328" y="2286000"/>
            <a:ext cx="3090672" cy="237744"/>
          </a:xfrm>
          <a:prstGeom prst="rect">
            <a:avLst/>
          </a:prstGeom>
          <a:noFill/>
          <a:ln/>
        </p:spPr>
        <p:txBody>
          <a:bodyPr wrap="square" lIns="0" tIns="0" rIns="0" bIns="0" rtlCol="0" anchor="t"/>
          <a:lstStyle/>
          <a:p>
            <a:pPr algn="l" indent="0" marL="0">
              <a:buNone/>
            </a:pPr>
            <a:r>
              <a:rPr lang="en-US" sz="1100" dirty="0">
                <a:solidFill>
                  <a:srgbClr val="21304A"/>
                </a:solidFill>
                <a:latin typeface="Adobe Clean" pitchFamily="34" charset="0"/>
                <a:ea typeface="Adobe Clean" pitchFamily="34" charset="-122"/>
                <a:cs typeface="Adobe Clean" pitchFamily="34" charset="-120"/>
              </a:rPr>
              <a:t>climbing…</a:t>
            </a:r>
            <a:endParaRPr lang="en-US" sz="1100" dirty="0"/>
          </a:p>
        </p:txBody>
      </p:sp>
      <p:sp>
        <p:nvSpPr>
          <p:cNvPr id="18" name="Text 16"/>
          <p:cNvSpPr/>
          <p:nvPr/>
        </p:nvSpPr>
        <p:spPr>
          <a:xfrm>
            <a:off x="566928" y="2788920"/>
            <a:ext cx="6766560" cy="292608"/>
          </a:xfrm>
          <a:prstGeom prst="rect">
            <a:avLst/>
          </a:prstGeom>
          <a:noFill/>
          <a:ln/>
        </p:spPr>
        <p:txBody>
          <a:bodyPr wrap="square" lIns="0" tIns="0" rIns="0" bIns="0" rtlCol="0" anchor="t"/>
          <a:lstStyle/>
          <a:p>
            <a:pPr algn="l" indent="0" marL="0">
              <a:buNone/>
            </a:pPr>
            <a:r>
              <a:rPr lang="en-US" sz="1350" dirty="0">
                <a:solidFill>
                  <a:srgbClr val="21304A"/>
                </a:solidFill>
                <a:latin typeface="Adobe Clean ExtraBold" pitchFamily="34" charset="0"/>
                <a:ea typeface="Adobe Clean ExtraBold" pitchFamily="34" charset="-122"/>
                <a:cs typeface="Adobe Clean ExtraBold" pitchFamily="34" charset="-120"/>
              </a:rPr>
              <a:t>FOS_buckling climbs past the required 1.5</a:t>
            </a:r>
            <a:endParaRPr lang="en-US" sz="1350" dirty="0"/>
          </a:p>
        </p:txBody>
      </p:sp>
      <p:graphicFrame>
        <p:nvGraphicFramePr>
          <p:cNvPr id="19" name="Chart 0" descr=""/>
          <p:cNvGraphicFramePr/>
          <p:nvPr/>
        </p:nvGraphicFramePr>
        <p:xfrm>
          <a:off x="566928" y="3154680"/>
          <a:ext cx="6675120" cy="2743200"/>
        </p:xfrm>
        <a:graphic xmlns:a="http://schemas.openxmlformats.org/drawingml/2006/main">
          <a:graphicData uri="http://schemas.openxmlformats.org/drawingml/2006/chart">
            <c:chart xmlns:c="http://schemas.openxmlformats.org/drawingml/2006/chart" r:id="rId1"/>
          </a:graphicData>
        </a:graphic>
      </p:graphicFrame>
      <p:sp>
        <p:nvSpPr>
          <p:cNvPr id="20" name="Shape 17"/>
          <p:cNvSpPr/>
          <p:nvPr/>
        </p:nvSpPr>
        <p:spPr>
          <a:xfrm>
            <a:off x="7543800" y="3154680"/>
            <a:ext cx="4069080" cy="1280160"/>
          </a:xfrm>
          <a:prstGeom prst="roundRect">
            <a:avLst>
              <a:gd name="adj" fmla="val 7857"/>
            </a:avLst>
          </a:prstGeom>
          <a:solidFill>
            <a:srgbClr val="F4F5F7"/>
          </a:solidFill>
          <a:ln w="12700">
            <a:solidFill>
              <a:srgbClr val="D9DEE6"/>
            </a:solidFill>
            <a:prstDash val="solid"/>
          </a:ln>
        </p:spPr>
      </p:sp>
      <p:sp>
        <p:nvSpPr>
          <p:cNvPr id="21" name="Text 18"/>
          <p:cNvSpPr/>
          <p:nvPr/>
        </p:nvSpPr>
        <p:spPr>
          <a:xfrm>
            <a:off x="7580376" y="3246120"/>
            <a:ext cx="3995928" cy="716890"/>
          </a:xfrm>
          <a:prstGeom prst="rect">
            <a:avLst/>
          </a:prstGeom>
          <a:noFill/>
          <a:ln/>
        </p:spPr>
        <p:txBody>
          <a:bodyPr wrap="square" lIns="0" tIns="0" rIns="0" bIns="0" rtlCol="0" anchor="ctr"/>
          <a:lstStyle/>
          <a:p>
            <a:pPr algn="ctr" indent="0" marL="0">
              <a:buNone/>
            </a:pPr>
            <a:r>
              <a:rPr lang="en-US" sz="3000" dirty="0">
                <a:solidFill>
                  <a:srgbClr val="1E8449"/>
                </a:solidFill>
                <a:latin typeface="Adobe Clean ExtraBold" pitchFamily="34" charset="0"/>
                <a:ea typeface="Adobe Clean ExtraBold" pitchFamily="34" charset="-122"/>
                <a:cs typeface="Adobe Clean ExtraBold" pitchFamily="34" charset="-120"/>
              </a:rPr>
              <a:t>FEASIBLE</a:t>
            </a:r>
            <a:endParaRPr lang="en-US" sz="3000" dirty="0"/>
          </a:p>
        </p:txBody>
      </p:sp>
      <p:sp>
        <p:nvSpPr>
          <p:cNvPr id="22" name="Text 19"/>
          <p:cNvSpPr/>
          <p:nvPr/>
        </p:nvSpPr>
        <p:spPr>
          <a:xfrm>
            <a:off x="7580376" y="3948379"/>
            <a:ext cx="3995928" cy="409651"/>
          </a:xfrm>
          <a:prstGeom prst="rect">
            <a:avLst/>
          </a:prstGeom>
          <a:noFill/>
          <a:ln/>
        </p:spPr>
        <p:txBody>
          <a:bodyPr wrap="square" lIns="0" tIns="0" rIns="0" bIns="0" rtlCol="0" anchor="t"/>
          <a:lstStyle/>
          <a:p>
            <a:pPr algn="ctr" indent="0" marL="0">
              <a:buNone/>
            </a:pPr>
            <a:r>
              <a:rPr lang="en-US" sz="1200" dirty="0">
                <a:solidFill>
                  <a:srgbClr val="5F5F5F"/>
                </a:solidFill>
                <a:latin typeface="Adobe Clean" pitchFamily="34" charset="0"/>
                <a:ea typeface="Adobe Clean" pitchFamily="34" charset="-122"/>
                <a:cs typeface="Adobe Clean" pitchFamily="34" charset="-120"/>
              </a:rPr>
              <a:t>in 7 steps · final FOS_b 1.69</a:t>
            </a:r>
            <a:endParaRPr lang="en-US" sz="1200" dirty="0"/>
          </a:p>
        </p:txBody>
      </p:sp>
      <p:sp>
        <p:nvSpPr>
          <p:cNvPr id="23" name="Shape 20"/>
          <p:cNvSpPr/>
          <p:nvPr/>
        </p:nvSpPr>
        <p:spPr>
          <a:xfrm>
            <a:off x="7543800" y="4572000"/>
            <a:ext cx="4069080" cy="1463040"/>
          </a:xfrm>
          <a:prstGeom prst="roundRect">
            <a:avLst>
              <a:gd name="adj" fmla="val 6250"/>
            </a:avLst>
          </a:prstGeom>
          <a:solidFill>
            <a:srgbClr val="EEF1F6"/>
          </a:solidFill>
          <a:ln w="12700">
            <a:solidFill>
              <a:srgbClr val="D9DEE6"/>
            </a:solidFill>
            <a:prstDash val="solid"/>
          </a:ln>
        </p:spPr>
      </p:sp>
      <p:sp>
        <p:nvSpPr>
          <p:cNvPr id="24" name="Text 21"/>
          <p:cNvSpPr/>
          <p:nvPr/>
        </p:nvSpPr>
        <p:spPr>
          <a:xfrm>
            <a:off x="7763256" y="4736592"/>
            <a:ext cx="3630168" cy="384048"/>
          </a:xfrm>
          <a:prstGeom prst="rect">
            <a:avLst/>
          </a:prstGeom>
          <a:noFill/>
          <a:ln/>
        </p:spPr>
        <p:txBody>
          <a:bodyPr wrap="square" lIns="0" tIns="0" rIns="0" bIns="0" rtlCol="0" anchor="t"/>
          <a:lstStyle/>
          <a:p>
            <a:pPr algn="l" indent="0" marL="0">
              <a:buNone/>
            </a:pPr>
            <a:r>
              <a:rPr lang="en-US" sz="1400" dirty="0">
                <a:solidFill>
                  <a:srgbClr val="21304A"/>
                </a:solidFill>
                <a:latin typeface="Adobe Clean ExtraBold" pitchFamily="34" charset="0"/>
                <a:ea typeface="Adobe Clean ExtraBold" pitchFamily="34" charset="-122"/>
                <a:cs typeface="Adobe Clean ExtraBold" pitchFamily="34" charset="-120"/>
              </a:rPr>
              <a:t>Teacher and student</a:t>
            </a:r>
            <a:endParaRPr lang="en-US" sz="1400" dirty="0"/>
          </a:p>
        </p:txBody>
      </p:sp>
      <p:sp>
        <p:nvSpPr>
          <p:cNvPr id="25" name="Text 22"/>
          <p:cNvSpPr/>
          <p:nvPr/>
        </p:nvSpPr>
        <p:spPr>
          <a:xfrm>
            <a:off x="7763256" y="5157216"/>
            <a:ext cx="3630168" cy="749808"/>
          </a:xfrm>
          <a:prstGeom prst="rect">
            <a:avLst/>
          </a:prstGeom>
          <a:noFill/>
          <a:ln/>
        </p:spPr>
        <p:txBody>
          <a:bodyPr wrap="square" lIns="0" tIns="0" rIns="0" bIns="0" rtlCol="0" anchor="t"/>
          <a:lstStyle/>
          <a:p>
            <a:pPr algn="l" indent="0" marL="0">
              <a:lnSpc>
                <a:spcPct val="112000"/>
              </a:lnSpc>
              <a:spcAft>
                <a:spcPts val="500"/>
              </a:spcAft>
              <a:buNone/>
            </a:pPr>
            <a:r>
              <a:rPr lang="en-US" sz="1250" dirty="0">
                <a:solidFill>
                  <a:srgbClr val="2C2C2C"/>
                </a:solidFill>
                <a:latin typeface="Adobe Clean" pitchFamily="34" charset="0"/>
                <a:ea typeface="Adobe Clean" pitchFamily="34" charset="-122"/>
                <a:cs typeface="Adobe Clean" pitchFamily="34" charset="-120"/>
              </a:rPr>
              <a:t>A 30B teacher reasons, and the 14B grounds each action on the named critical member. Every edit targets a specific member, and FOS rises steadily across the run.</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64240" cy="676656"/>
          </a:xfrm>
          <a:prstGeom prst="rect">
            <a:avLst/>
          </a:prstGeom>
          <a:noFill/>
          <a:ln/>
        </p:spPr>
        <p:txBody>
          <a:bodyPr wrap="square" lIns="0" tIns="0" rIns="0" bIns="0" rtlCol="0" anchor="t"/>
          <a:lstStyle/>
          <a:p>
            <a:pPr algn="l" indent="0" marL="0">
              <a:buNone/>
            </a:pPr>
            <a:r>
              <a:rPr lang="en-US" sz="2800" dirty="0">
                <a:solidFill>
                  <a:srgbClr val="EB1000"/>
                </a:solidFill>
                <a:latin typeface="Adobe Clean ExtraBold" pitchFamily="34" charset="0"/>
                <a:ea typeface="Adobe Clean ExtraBold" pitchFamily="34" charset="-122"/>
                <a:cs typeface="Adobe Clean ExtraBold" pitchFamily="34" charset="-120"/>
              </a:rPr>
              <a:t>KL Divergence During Training</a:t>
            </a:r>
            <a:endParaRPr lang="en-US" sz="2800" dirty="0"/>
          </a:p>
        </p:txBody>
      </p:sp>
      <p:sp>
        <p:nvSpPr>
          <p:cNvPr id="3" name="Text 1"/>
          <p:cNvSpPr/>
          <p:nvPr/>
        </p:nvSpPr>
        <p:spPr>
          <a:xfrm>
            <a:off x="566928" y="1060704"/>
            <a:ext cx="11064240" cy="384048"/>
          </a:xfrm>
          <a:prstGeom prst="rect">
            <a:avLst/>
          </a:prstGeom>
          <a:noFill/>
          <a:ln/>
        </p:spPr>
        <p:txBody>
          <a:bodyPr wrap="square" lIns="0" tIns="0" rIns="0" bIns="0" rtlCol="0" anchor="t"/>
          <a:lstStyle/>
          <a:p>
            <a:pPr algn="l" indent="0" marL="0">
              <a:buNone/>
            </a:pPr>
            <a:r>
              <a:rPr lang="en-US" sz="1450" dirty="0">
                <a:solidFill>
                  <a:srgbClr val="5A6473"/>
                </a:solidFill>
                <a:latin typeface="Adobe Clean" pitchFamily="34" charset="0"/>
                <a:ea typeface="Adobe Clean" pitchFamily="34" charset="-122"/>
                <a:cs typeface="Adobe Clean" pitchFamily="34" charset="-120"/>
              </a:rPr>
              <a:t>Reward is noisy from batch to batch, so we track how much the policy moves instead.</a:t>
            </a:r>
            <a:endParaRPr lang="en-US" sz="1450" dirty="0"/>
          </a:p>
        </p:txBody>
      </p:sp>
      <p:graphicFrame>
        <p:nvGraphicFramePr>
          <p:cNvPr id="4" name="Chart 0" descr=""/>
          <p:cNvGraphicFramePr/>
          <p:nvPr/>
        </p:nvGraphicFramePr>
        <p:xfrm>
          <a:off x="566928" y="1691640"/>
          <a:ext cx="7040880" cy="42519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818120" y="1691640"/>
            <a:ext cx="3794760" cy="274320"/>
          </a:xfrm>
          <a:prstGeom prst="rect">
            <a:avLst/>
          </a:prstGeom>
          <a:noFill/>
          <a:ln/>
        </p:spPr>
        <p:txBody>
          <a:bodyPr wrap="square" lIns="0" tIns="0" rIns="0" bIns="0" rtlCol="0" anchor="ctr"/>
          <a:lstStyle/>
          <a:p>
            <a:pPr indent="0" marL="0">
              <a:buNone/>
            </a:pPr>
            <a:r>
              <a:rPr lang="en-US" sz="1200" spc="100" kern="0" dirty="0">
                <a:solidFill>
                  <a:srgbClr val="5A6473"/>
                </a:solidFill>
                <a:latin typeface="Adobe Clean ExtraBold" pitchFamily="34" charset="0"/>
                <a:ea typeface="Adobe Clean ExtraBold" pitchFamily="34" charset="-122"/>
                <a:cs typeface="Adobe Clean ExtraBold" pitchFamily="34" charset="-120"/>
              </a:rPr>
              <a:t>Runs</a:t>
            </a:r>
            <a:endParaRPr lang="en-US" sz="1200" dirty="0"/>
          </a:p>
        </p:txBody>
      </p:sp>
      <p:sp>
        <p:nvSpPr>
          <p:cNvPr id="6" name="Shape 3"/>
          <p:cNvSpPr/>
          <p:nvPr/>
        </p:nvSpPr>
        <p:spPr>
          <a:xfrm>
            <a:off x="7818120" y="2057400"/>
            <a:ext cx="237744" cy="91440"/>
          </a:xfrm>
          <a:prstGeom prst="rect">
            <a:avLst/>
          </a:prstGeom>
          <a:solidFill>
            <a:srgbClr val="AAB2C0"/>
          </a:solidFill>
          <a:ln/>
        </p:spPr>
      </p:sp>
      <p:sp>
        <p:nvSpPr>
          <p:cNvPr id="7" name="Text 4"/>
          <p:cNvSpPr/>
          <p:nvPr/>
        </p:nvSpPr>
        <p:spPr>
          <a:xfrm>
            <a:off x="8147304" y="1965960"/>
            <a:ext cx="3429000" cy="274320"/>
          </a:xfrm>
          <a:prstGeom prst="rect">
            <a:avLst/>
          </a:prstGeom>
          <a:noFill/>
          <a:ln/>
        </p:spPr>
        <p:txBody>
          <a:bodyPr wrap="square" lIns="0" tIns="0" rIns="0" bIns="0" rtlCol="0" anchor="ctr"/>
          <a:lstStyle/>
          <a:p>
            <a:pPr algn="l" indent="0" marL="0">
              <a:buNone/>
            </a:pPr>
            <a:r>
              <a:rPr lang="en-US" sz="1150" dirty="0">
                <a:solidFill>
                  <a:srgbClr val="2C2C2C"/>
                </a:solidFill>
                <a:latin typeface="Adobe Clean" pitchFamily="34" charset="0"/>
                <a:ea typeface="Adobe Clean" pitchFamily="34" charset="-122"/>
                <a:cs typeface="Adobe Clean" pitchFamily="34" charset="-120"/>
              </a:rPr>
              <a:t>single-turn (broken)</a:t>
            </a:r>
            <a:endParaRPr lang="en-US" sz="1150" dirty="0"/>
          </a:p>
        </p:txBody>
      </p:sp>
      <p:sp>
        <p:nvSpPr>
          <p:cNvPr id="8" name="Shape 5"/>
          <p:cNvSpPr/>
          <p:nvPr/>
        </p:nvSpPr>
        <p:spPr>
          <a:xfrm>
            <a:off x="7818120" y="2368296"/>
            <a:ext cx="237744" cy="91440"/>
          </a:xfrm>
          <a:prstGeom prst="rect">
            <a:avLst/>
          </a:prstGeom>
          <a:solidFill>
            <a:srgbClr val="0E7C7B"/>
          </a:solidFill>
          <a:ln/>
        </p:spPr>
      </p:sp>
      <p:sp>
        <p:nvSpPr>
          <p:cNvPr id="9" name="Text 6"/>
          <p:cNvSpPr/>
          <p:nvPr/>
        </p:nvSpPr>
        <p:spPr>
          <a:xfrm>
            <a:off x="8147304" y="2276856"/>
            <a:ext cx="3429000" cy="274320"/>
          </a:xfrm>
          <a:prstGeom prst="rect">
            <a:avLst/>
          </a:prstGeom>
          <a:noFill/>
          <a:ln/>
        </p:spPr>
        <p:txBody>
          <a:bodyPr wrap="square" lIns="0" tIns="0" rIns="0" bIns="0" rtlCol="0" anchor="ctr"/>
          <a:lstStyle/>
          <a:p>
            <a:pPr algn="l" indent="0" marL="0">
              <a:buNone/>
            </a:pPr>
            <a:r>
              <a:rPr lang="en-US" sz="1150" dirty="0">
                <a:solidFill>
                  <a:srgbClr val="2C2C2C"/>
                </a:solidFill>
                <a:latin typeface="Adobe Clean" pitchFamily="34" charset="0"/>
                <a:ea typeface="Adobe Clean" pitchFamily="34" charset="-122"/>
                <a:cs typeface="Adobe Clean" pitchFamily="34" charset="-120"/>
              </a:rPr>
              <a:t>multi-turn, no feedback</a:t>
            </a:r>
            <a:endParaRPr lang="en-US" sz="1150" dirty="0"/>
          </a:p>
        </p:txBody>
      </p:sp>
      <p:sp>
        <p:nvSpPr>
          <p:cNvPr id="10" name="Shape 7"/>
          <p:cNvSpPr/>
          <p:nvPr/>
        </p:nvSpPr>
        <p:spPr>
          <a:xfrm>
            <a:off x="7818120" y="2679192"/>
            <a:ext cx="237744" cy="91440"/>
          </a:xfrm>
          <a:prstGeom prst="rect">
            <a:avLst/>
          </a:prstGeom>
          <a:solidFill>
            <a:srgbClr val="B26B00"/>
          </a:solidFill>
          <a:ln/>
        </p:spPr>
      </p:sp>
      <p:sp>
        <p:nvSpPr>
          <p:cNvPr id="11" name="Text 8"/>
          <p:cNvSpPr/>
          <p:nvPr/>
        </p:nvSpPr>
        <p:spPr>
          <a:xfrm>
            <a:off x="8147304" y="2587752"/>
            <a:ext cx="3429000" cy="274320"/>
          </a:xfrm>
          <a:prstGeom prst="rect">
            <a:avLst/>
          </a:prstGeom>
          <a:noFill/>
          <a:ln/>
        </p:spPr>
        <p:txBody>
          <a:bodyPr wrap="square" lIns="0" tIns="0" rIns="0" bIns="0" rtlCol="0" anchor="ctr"/>
          <a:lstStyle/>
          <a:p>
            <a:pPr algn="l" indent="0" marL="0">
              <a:buNone/>
            </a:pPr>
            <a:r>
              <a:rPr lang="en-US" sz="1150" dirty="0">
                <a:solidFill>
                  <a:srgbClr val="2C2C2C"/>
                </a:solidFill>
                <a:latin typeface="Adobe Clean" pitchFamily="34" charset="0"/>
                <a:ea typeface="Adobe Clean" pitchFamily="34" charset="-122"/>
                <a:cs typeface="Adobe Clean" pitchFamily="34" charset="-120"/>
              </a:rPr>
              <a:t>+ grammar reward</a:t>
            </a:r>
            <a:endParaRPr lang="en-US" sz="1150" dirty="0"/>
          </a:p>
        </p:txBody>
      </p:sp>
      <p:sp>
        <p:nvSpPr>
          <p:cNvPr id="12" name="Shape 9"/>
          <p:cNvSpPr/>
          <p:nvPr/>
        </p:nvSpPr>
        <p:spPr>
          <a:xfrm>
            <a:off x="7818120" y="2990088"/>
            <a:ext cx="237744" cy="91440"/>
          </a:xfrm>
          <a:prstGeom prst="rect">
            <a:avLst/>
          </a:prstGeom>
          <a:solidFill>
            <a:srgbClr val="EB1000"/>
          </a:solidFill>
          <a:ln/>
        </p:spPr>
      </p:sp>
      <p:sp>
        <p:nvSpPr>
          <p:cNvPr id="13" name="Text 10"/>
          <p:cNvSpPr/>
          <p:nvPr/>
        </p:nvSpPr>
        <p:spPr>
          <a:xfrm>
            <a:off x="8147304" y="2898648"/>
            <a:ext cx="3429000" cy="274320"/>
          </a:xfrm>
          <a:prstGeom prst="rect">
            <a:avLst/>
          </a:prstGeom>
          <a:noFill/>
          <a:ln/>
        </p:spPr>
        <p:txBody>
          <a:bodyPr wrap="square" lIns="0" tIns="0" rIns="0" bIns="0" rtlCol="0" anchor="ctr"/>
          <a:lstStyle/>
          <a:p>
            <a:pPr algn="l" indent="0" marL="0">
              <a:buNone/>
            </a:pPr>
            <a:r>
              <a:rPr lang="en-US" sz="1150" dirty="0">
                <a:solidFill>
                  <a:srgbClr val="2C2C2C"/>
                </a:solidFill>
                <a:latin typeface="Adobe Clean" pitchFamily="34" charset="0"/>
                <a:ea typeface="Adobe Clean" pitchFamily="34" charset="-122"/>
                <a:cs typeface="Adobe Clean" pitchFamily="34" charset="-120"/>
              </a:rPr>
              <a:t>+ critical-member (champion)</a:t>
            </a:r>
            <a:endParaRPr lang="en-US" sz="1150" dirty="0"/>
          </a:p>
        </p:txBody>
      </p:sp>
      <p:sp>
        <p:nvSpPr>
          <p:cNvPr id="14" name="Shape 11"/>
          <p:cNvSpPr/>
          <p:nvPr/>
        </p:nvSpPr>
        <p:spPr>
          <a:xfrm>
            <a:off x="7818120" y="3300984"/>
            <a:ext cx="237744" cy="91440"/>
          </a:xfrm>
          <a:prstGeom prst="rect">
            <a:avLst/>
          </a:prstGeom>
          <a:solidFill>
            <a:srgbClr val="7030A0"/>
          </a:solidFill>
          <a:ln/>
        </p:spPr>
      </p:sp>
      <p:sp>
        <p:nvSpPr>
          <p:cNvPr id="15" name="Text 12"/>
          <p:cNvSpPr/>
          <p:nvPr/>
        </p:nvSpPr>
        <p:spPr>
          <a:xfrm>
            <a:off x="8147304" y="3209544"/>
            <a:ext cx="3429000" cy="274320"/>
          </a:xfrm>
          <a:prstGeom prst="rect">
            <a:avLst/>
          </a:prstGeom>
          <a:noFill/>
          <a:ln/>
        </p:spPr>
        <p:txBody>
          <a:bodyPr wrap="square" lIns="0" tIns="0" rIns="0" bIns="0" rtlCol="0" anchor="ctr"/>
          <a:lstStyle/>
          <a:p>
            <a:pPr algn="l" indent="0" marL="0">
              <a:buNone/>
            </a:pPr>
            <a:r>
              <a:rPr lang="en-US" sz="1150" dirty="0">
                <a:solidFill>
                  <a:srgbClr val="2C2C2C"/>
                </a:solidFill>
                <a:latin typeface="Adobe Clean" pitchFamily="34" charset="0"/>
                <a:ea typeface="Adobe Clean" pitchFamily="34" charset="-122"/>
                <a:cs typeface="Adobe Clean" pitchFamily="34" charset="-120"/>
              </a:rPr>
              <a:t>+ mass (regressed)</a:t>
            </a:r>
            <a:endParaRPr lang="en-US" sz="1150" dirty="0"/>
          </a:p>
        </p:txBody>
      </p:sp>
      <p:sp>
        <p:nvSpPr>
          <p:cNvPr id="16" name="Shape 13"/>
          <p:cNvSpPr/>
          <p:nvPr/>
        </p:nvSpPr>
        <p:spPr>
          <a:xfrm>
            <a:off x="7818120" y="3611880"/>
            <a:ext cx="237744" cy="91440"/>
          </a:xfrm>
          <a:prstGeom prst="rect">
            <a:avLst/>
          </a:prstGeom>
          <a:solidFill>
            <a:srgbClr val="21304A"/>
          </a:solidFill>
          <a:ln/>
        </p:spPr>
      </p:sp>
      <p:sp>
        <p:nvSpPr>
          <p:cNvPr id="17" name="Text 14"/>
          <p:cNvSpPr/>
          <p:nvPr/>
        </p:nvSpPr>
        <p:spPr>
          <a:xfrm>
            <a:off x="8147304" y="3520440"/>
            <a:ext cx="3429000" cy="274320"/>
          </a:xfrm>
          <a:prstGeom prst="rect">
            <a:avLst/>
          </a:prstGeom>
          <a:noFill/>
          <a:ln/>
        </p:spPr>
        <p:txBody>
          <a:bodyPr wrap="square" lIns="0" tIns="0" rIns="0" bIns="0" rtlCol="0" anchor="ctr"/>
          <a:lstStyle/>
          <a:p>
            <a:pPr algn="l" indent="0" marL="0">
              <a:buNone/>
            </a:pPr>
            <a:r>
              <a:rPr lang="en-US" sz="1150" dirty="0">
                <a:solidFill>
                  <a:srgbClr val="2C2C2C"/>
                </a:solidFill>
                <a:latin typeface="Adobe Clean" pitchFamily="34" charset="0"/>
                <a:ea typeface="Adobe Clean" pitchFamily="34" charset="-122"/>
                <a:cs typeface="Adobe Clean" pitchFamily="34" charset="-120"/>
              </a:rPr>
              <a:t>0.01 learning bar</a:t>
            </a:r>
            <a:endParaRPr lang="en-US" sz="1150" dirty="0"/>
          </a:p>
        </p:txBody>
      </p:sp>
      <p:sp>
        <p:nvSpPr>
          <p:cNvPr id="18" name="Shape 15"/>
          <p:cNvSpPr/>
          <p:nvPr/>
        </p:nvSpPr>
        <p:spPr>
          <a:xfrm>
            <a:off x="7818120" y="4069080"/>
            <a:ext cx="3794760" cy="1874520"/>
          </a:xfrm>
          <a:prstGeom prst="roundRect">
            <a:avLst>
              <a:gd name="adj" fmla="val 4878"/>
            </a:avLst>
          </a:prstGeom>
          <a:solidFill>
            <a:srgbClr val="F4F5F7"/>
          </a:solidFill>
          <a:ln w="12700">
            <a:solidFill>
              <a:srgbClr val="D9DEE6"/>
            </a:solidFill>
            <a:prstDash val="solid"/>
          </a:ln>
        </p:spPr>
      </p:sp>
      <p:sp>
        <p:nvSpPr>
          <p:cNvPr id="19" name="Text 16"/>
          <p:cNvSpPr/>
          <p:nvPr/>
        </p:nvSpPr>
        <p:spPr>
          <a:xfrm>
            <a:off x="8037576" y="4233672"/>
            <a:ext cx="3355848" cy="384048"/>
          </a:xfrm>
          <a:prstGeom prst="rect">
            <a:avLst/>
          </a:prstGeom>
          <a:noFill/>
          <a:ln/>
        </p:spPr>
        <p:txBody>
          <a:bodyPr wrap="square" lIns="0" tIns="0" rIns="0" bIns="0" rtlCol="0" anchor="t"/>
          <a:lstStyle/>
          <a:p>
            <a:pPr algn="l" indent="0" marL="0">
              <a:buNone/>
            </a:pPr>
            <a:r>
              <a:rPr lang="en-US" sz="1350" dirty="0">
                <a:solidFill>
                  <a:srgbClr val="21304A"/>
                </a:solidFill>
                <a:latin typeface="Adobe Clean ExtraBold" pitchFamily="34" charset="0"/>
                <a:ea typeface="Adobe Clean ExtraBold" pitchFamily="34" charset="-122"/>
                <a:cs typeface="Adobe Clean ExtraBold" pitchFamily="34" charset="-120"/>
              </a:rPr>
              <a:t>What the curves say</a:t>
            </a:r>
            <a:endParaRPr lang="en-US" sz="1350" dirty="0"/>
          </a:p>
        </p:txBody>
      </p:sp>
      <p:sp>
        <p:nvSpPr>
          <p:cNvPr id="20" name="Text 17"/>
          <p:cNvSpPr/>
          <p:nvPr/>
        </p:nvSpPr>
        <p:spPr>
          <a:xfrm>
            <a:off x="8037576" y="4654296"/>
            <a:ext cx="3355848" cy="1161288"/>
          </a:xfrm>
          <a:prstGeom prst="rect">
            <a:avLst/>
          </a:prstGeom>
          <a:noFill/>
          <a:ln/>
        </p:spPr>
        <p:txBody>
          <a:bodyPr wrap="square" lIns="0" tIns="0" rIns="0" bIns="0" rtlCol="0" anchor="t"/>
          <a:lstStyle/>
          <a:p>
            <a:pPr algn="l" indent="0" marL="0">
              <a:lnSpc>
                <a:spcPct val="112000"/>
              </a:lnSpc>
              <a:spcAft>
                <a:spcPts val="500"/>
              </a:spcAft>
              <a:buNone/>
            </a:pPr>
            <a:r>
              <a:rPr lang="en-US" sz="1200" dirty="0">
                <a:solidFill>
                  <a:srgbClr val="2C2C2C"/>
                </a:solidFill>
                <a:latin typeface="Adobe Clean" pitchFamily="34" charset="0"/>
                <a:ea typeface="Adobe Clean" pitchFamily="34" charset="-122"/>
                <a:cs typeface="Adobe Clean" pitchFamily="34" charset="-120"/>
              </a:rPr>
              <a:t>The single-turn run is </a:t>
            </a:r>
            <a:pPr algn="l" indent="0" marL="0">
              <a:lnSpc>
                <a:spcPct val="112000"/>
              </a:lnSpc>
              <a:spcAft>
                <a:spcPts val="500"/>
              </a:spcAft>
              <a:buNone/>
            </a:pPr>
            <a:r>
              <a:rPr lang="en-US" sz="1200" dirty="0">
                <a:solidFill>
                  <a:srgbClr val="EB1000"/>
                </a:solidFill>
                <a:latin typeface="Adobe Clean ExtraBold" pitchFamily="34" charset="0"/>
                <a:ea typeface="Adobe Clean ExtraBold" pitchFamily="34" charset="-122"/>
                <a:cs typeface="Adobe Clean ExtraBold" pitchFamily="34" charset="-120"/>
              </a:rPr>
              <a:t>frozen</a:t>
            </a:r>
            <a:pPr algn="l" indent="0" marL="0">
              <a:lnSpc>
                <a:spcPct val="112000"/>
              </a:lnSpc>
              <a:spcAft>
                <a:spcPts val="500"/>
              </a:spcAft>
              <a:buNone/>
            </a:pPr>
            <a:r>
              <a:rPr lang="en-US" sz="1200" dirty="0">
                <a:solidFill>
                  <a:srgbClr val="2C2C2C"/>
                </a:solidFill>
                <a:latin typeface="Adobe Clean" pitchFamily="34" charset="0"/>
                <a:ea typeface="Adobe Clean" pitchFamily="34" charset="-122"/>
                <a:cs typeface="Adobe Clean" pitchFamily="34" charset="-120"/>
              </a:rPr>
              <a:t> near 0.003 for all 200 steps. The champion </a:t>
            </a:r>
            <a:pPr algn="l" indent="0" marL="0">
              <a:lnSpc>
                <a:spcPct val="112000"/>
              </a:lnSpc>
              <a:spcAft>
                <a:spcPts val="500"/>
              </a:spcAft>
              <a:buNone/>
            </a:pPr>
            <a:r>
              <a:rPr lang="en-US" sz="1200" dirty="0">
                <a:solidFill>
                  <a:srgbClr val="21304A"/>
                </a:solidFill>
                <a:latin typeface="Adobe Clean ExtraBold" pitchFamily="34" charset="0"/>
                <a:ea typeface="Adobe Clean ExtraBold" pitchFamily="34" charset="-122"/>
                <a:cs typeface="Adobe Clean ExtraBold" pitchFamily="34" charset="-120"/>
              </a:rPr>
              <a:t>crosses the 0.01 bar by step 35</a:t>
            </a:r>
            <a:pPr algn="l" indent="0" marL="0">
              <a:lnSpc>
                <a:spcPct val="112000"/>
              </a:lnSpc>
              <a:spcAft>
                <a:spcPts val="500"/>
              </a:spcAft>
              <a:buNone/>
            </a:pPr>
            <a:r>
              <a:rPr lang="en-US" sz="1200" dirty="0">
                <a:solidFill>
                  <a:srgbClr val="2C2C2C"/>
                </a:solidFill>
                <a:latin typeface="Adobe Clean" pitchFamily="34" charset="0"/>
                <a:ea typeface="Adobe Clean" pitchFamily="34" charset="-122"/>
                <a:cs typeface="Adobe Clean" pitchFamily="34" charset="-120"/>
              </a:rPr>
              <a:t>. The grammar run spikes off-scale, which is instability, not progress.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64240" cy="676656"/>
          </a:xfrm>
          <a:prstGeom prst="rect">
            <a:avLst/>
          </a:prstGeom>
          <a:noFill/>
          <a:ln/>
        </p:spPr>
        <p:txBody>
          <a:bodyPr wrap="square" lIns="0" tIns="0" rIns="0" bIns="0" rtlCol="0" anchor="t"/>
          <a:lstStyle/>
          <a:p>
            <a:pPr algn="l" indent="0" marL="0">
              <a:buNone/>
            </a:pPr>
            <a:r>
              <a:rPr lang="en-US" sz="2800" dirty="0">
                <a:solidFill>
                  <a:srgbClr val="EB1000"/>
                </a:solidFill>
                <a:latin typeface="Adobe Clean ExtraBold" pitchFamily="34" charset="0"/>
                <a:ea typeface="Adobe Clean ExtraBold" pitchFamily="34" charset="-122"/>
                <a:cs typeface="Adobe Clean ExtraBold" pitchFamily="34" charset="-120"/>
              </a:rPr>
              <a:t>KL Divergence by Run</a:t>
            </a:r>
            <a:endParaRPr lang="en-US" sz="2800" dirty="0"/>
          </a:p>
        </p:txBody>
      </p:sp>
      <p:sp>
        <p:nvSpPr>
          <p:cNvPr id="3" name="Text 1"/>
          <p:cNvSpPr/>
          <p:nvPr/>
        </p:nvSpPr>
        <p:spPr>
          <a:xfrm>
            <a:off x="566928" y="1060704"/>
            <a:ext cx="11064240" cy="384048"/>
          </a:xfrm>
          <a:prstGeom prst="rect">
            <a:avLst/>
          </a:prstGeom>
          <a:noFill/>
          <a:ln/>
        </p:spPr>
        <p:txBody>
          <a:bodyPr wrap="square" lIns="0" tIns="0" rIns="0" bIns="0" rtlCol="0" anchor="t"/>
          <a:lstStyle/>
          <a:p>
            <a:pPr algn="l" indent="0" marL="0">
              <a:buNone/>
            </a:pPr>
            <a:r>
              <a:rPr lang="en-US" sz="1450" dirty="0">
                <a:solidFill>
                  <a:srgbClr val="5A6473"/>
                </a:solidFill>
                <a:latin typeface="Adobe Clean" pitchFamily="34" charset="0"/>
                <a:ea typeface="Adobe Clean" pitchFamily="34" charset="-122"/>
                <a:cs typeface="Adobe Clean" pitchFamily="34" charset="-120"/>
              </a:rPr>
              <a:t>The champion moved about ten times as much as the broken single-turn run.</a:t>
            </a:r>
            <a:endParaRPr lang="en-US" sz="14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64240" cy="914400"/>
        </p:xfrm>
        <a:graphic>
          <a:graphicData uri="http://schemas.openxmlformats.org/drawingml/2006/table">
            <a:tbl>
              <a:tblPr/>
              <a:tblGrid>
                <a:gridCol w="4023360"/>
                <a:gridCol w="1691640"/>
                <a:gridCol w="1691640"/>
                <a:gridCol w="3657600"/>
              </a:tblGrid>
              <a:tr h="457200">
                <a:tc>
                  <a:txBody>
                    <a:bodyPr/>
                    <a:lstStyle/>
                    <a:p>
                      <a:pPr algn="l" indent="0" marL="0">
                        <a:buNone/>
                      </a:pPr>
                      <a:r>
                        <a:rPr lang="en-US" sz="1300" b="1" dirty="0">
                          <a:solidFill>
                            <a:srgbClr val="FFFFFF"/>
                          </a:solidFill>
                          <a:latin typeface="Adobe Clean ExtraBold" pitchFamily="34" charset="0"/>
                          <a:ea typeface="Adobe Clean ExtraBold" pitchFamily="34" charset="-122"/>
                          <a:cs typeface="Adobe Clean ExtraBold" pitchFamily="34" charset="-120"/>
                        </a:rPr>
                        <a:t> Run</a:t>
                      </a:r>
                      <a:endParaRPr lang="en-US" sz="1300" dirty="0">
                        <a:latin typeface="Adobe Clean ExtraBold" charset="0"/>
                        <a:ea typeface="Adobe Clean ExtraBold" charset="0"/>
                        <a:cs typeface="Adobe Clean ExtraBold"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21304A"/>
                    </a:solidFill>
                  </a:tcPr>
                </a:tc>
                <a:tc>
                  <a:txBody>
                    <a:bodyPr/>
                    <a:lstStyle/>
                    <a:p>
                      <a:pPr algn="l" indent="0" marL="0">
                        <a:buNone/>
                      </a:pPr>
                      <a:r>
                        <a:rPr lang="en-US" sz="1300" b="1" dirty="0">
                          <a:solidFill>
                            <a:srgbClr val="FFFFFF"/>
                          </a:solidFill>
                          <a:latin typeface="Adobe Clean ExtraBold" pitchFamily="34" charset="0"/>
                          <a:ea typeface="Adobe Clean ExtraBold" pitchFamily="34" charset="-122"/>
                          <a:cs typeface="Adobe Clean ExtraBold" pitchFamily="34" charset="-120"/>
                        </a:rPr>
                        <a:t>KL final</a:t>
                      </a:r>
                      <a:endParaRPr lang="en-US" sz="1300" dirty="0">
                        <a:latin typeface="Adobe Clean ExtraBold" charset="0"/>
                        <a:ea typeface="Adobe Clean ExtraBold" charset="0"/>
                        <a:cs typeface="Adobe Clean ExtraBold"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21304A"/>
                    </a:solidFill>
                  </a:tcPr>
                </a:tc>
                <a:tc>
                  <a:txBody>
                    <a:bodyPr/>
                    <a:lstStyle/>
                    <a:p>
                      <a:pPr algn="l" indent="0" marL="0">
                        <a:buNone/>
                      </a:pPr>
                      <a:r>
                        <a:rPr lang="en-US" sz="1300" b="1" dirty="0">
                          <a:solidFill>
                            <a:srgbClr val="FFFFFF"/>
                          </a:solidFill>
                          <a:latin typeface="Adobe Clean ExtraBold" pitchFamily="34" charset="0"/>
                          <a:ea typeface="Adobe Clean ExtraBold" pitchFamily="34" charset="-122"/>
                          <a:cs typeface="Adobe Clean ExtraBold" pitchFamily="34" charset="-120"/>
                        </a:rPr>
                        <a:t>KL max</a:t>
                      </a:r>
                      <a:endParaRPr lang="en-US" sz="1300" dirty="0">
                        <a:latin typeface="Adobe Clean ExtraBold" charset="0"/>
                        <a:ea typeface="Adobe Clean ExtraBold" charset="0"/>
                        <a:cs typeface="Adobe Clean ExtraBold"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21304A"/>
                    </a:solidFill>
                  </a:tcPr>
                </a:tc>
                <a:tc>
                  <a:txBody>
                    <a:bodyPr/>
                    <a:lstStyle/>
                    <a:p>
                      <a:pPr algn="l" indent="0" marL="0">
                        <a:buNone/>
                      </a:pPr>
                      <a:r>
                        <a:rPr lang="en-US" sz="1300" b="1" dirty="0">
                          <a:solidFill>
                            <a:srgbClr val="FFFFFF"/>
                          </a:solidFill>
                          <a:latin typeface="Adobe Clean ExtraBold" pitchFamily="34" charset="0"/>
                          <a:ea typeface="Adobe Clean ExtraBold" pitchFamily="34" charset="-122"/>
                          <a:cs typeface="Adobe Clean ExtraBold" pitchFamily="34" charset="-120"/>
                        </a:rPr>
                        <a:t>Reading</a:t>
                      </a:r>
                      <a:endParaRPr lang="en-US" sz="1300" dirty="0">
                        <a:latin typeface="Adobe Clean ExtraBold" charset="0"/>
                        <a:ea typeface="Adobe Clean ExtraBold" charset="0"/>
                        <a:cs typeface="Adobe Clean ExtraBold"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21304A"/>
                    </a:solidFill>
                  </a:tcPr>
                </a:tc>
              </a:tr>
              <a:tr h="548640">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 single-turn (broken protocol)</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0.0035</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0.0036</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EB1000"/>
                          </a:solidFill>
                          <a:latin typeface="Adobe Clean" pitchFamily="34" charset="0"/>
                          <a:ea typeface="Adobe Clean" pitchFamily="34" charset="-122"/>
                          <a:cs typeface="Adobe Clean" pitchFamily="34" charset="-120"/>
                        </a:rPr>
                        <a:t>flat, the policy never moves</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r>
              <a:tr h="548640">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 multi-turn, no feedback</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0.0049</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0.0049</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learnable, but slow</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r>
              <a:tr h="548640">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 multi-turn + grammar reward</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0.0114</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0.293</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moves more, but unstable spike</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r>
              <a:tr h="658368">
                <a:tc>
                  <a:txBody>
                    <a:bodyPr/>
                    <a:lstStyle/>
                    <a:p>
                      <a:pPr algn="l" indent="0" marL="0">
                        <a:buNone/>
                      </a:pPr>
                      <a:r>
                        <a:rPr lang="en-US" sz="1250" b="1" dirty="0">
                          <a:solidFill>
                            <a:srgbClr val="2C2C2C"/>
                          </a:solidFill>
                          <a:latin typeface="Adobe Clean" pitchFamily="34" charset="0"/>
                          <a:ea typeface="Adobe Clean" pitchFamily="34" charset="-122"/>
                          <a:cs typeface="Adobe Clean" pitchFamily="34" charset="-120"/>
                        </a:rPr>
                        <a:t> multi-turn + critical-member fb</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EAF6EE"/>
                    </a:solidFill>
                  </a:tcPr>
                </a:tc>
                <a:tc>
                  <a:txBody>
                    <a:bodyPr/>
                    <a:lstStyle/>
                    <a:p>
                      <a:pPr algn="l" indent="0" marL="0">
                        <a:buNone/>
                      </a:pPr>
                      <a:r>
                        <a:rPr lang="en-US" sz="1250" b="1" dirty="0">
                          <a:solidFill>
                            <a:srgbClr val="21304A"/>
                          </a:solidFill>
                          <a:latin typeface="Adobe Clean" pitchFamily="34" charset="0"/>
                          <a:ea typeface="Adobe Clean" pitchFamily="34" charset="-122"/>
                          <a:cs typeface="Adobe Clean" pitchFamily="34" charset="-120"/>
                        </a:rPr>
                        <a:t>0.0346</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EAF6EE"/>
                    </a:solidFill>
                  </a:tcPr>
                </a:tc>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0.0356</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EAF6EE"/>
                    </a:solidFill>
                  </a:tcPr>
                </a:tc>
                <a:tc>
                  <a:txBody>
                    <a:bodyPr/>
                    <a:lstStyle/>
                    <a:p>
                      <a:pPr algn="l" indent="0" marL="0">
                        <a:buNone/>
                      </a:pPr>
                      <a:r>
                        <a:rPr lang="en-US" sz="1250" b="1" dirty="0">
                          <a:solidFill>
                            <a:srgbClr val="1E8449"/>
                          </a:solidFill>
                          <a:latin typeface="Adobe Clean" pitchFamily="34" charset="0"/>
                          <a:ea typeface="Adobe Clean" pitchFamily="34" charset="-122"/>
                          <a:cs typeface="Adobe Clean" pitchFamily="34" charset="-120"/>
                        </a:rPr>
                        <a:t>about 10x the single-turn movement</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EAF6EE"/>
                    </a:solidFill>
                  </a:tcPr>
                </a:tc>
              </a:tr>
              <a:tr h="548640">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 + mass feedback (regressed)</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0.0431</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C2C2C"/>
                          </a:solidFill>
                          <a:latin typeface="Adobe Clean" pitchFamily="34" charset="0"/>
                          <a:ea typeface="Adobe Clean" pitchFamily="34" charset="-122"/>
                          <a:cs typeface="Adobe Clean" pitchFamily="34" charset="-120"/>
                        </a:rPr>
                        <a:t>0.136</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B26B00"/>
                          </a:solidFill>
                          <a:latin typeface="Adobe Clean" pitchFamily="34" charset="0"/>
                          <a:ea typeface="Adobe Clean" pitchFamily="34" charset="-122"/>
                          <a:cs typeface="Adobe Clean" pitchFamily="34" charset="-120"/>
                        </a:rPr>
                        <a:t>moves, but the wrong direction</a:t>
                      </a:r>
                      <a:endParaRPr lang="en-US" sz="1250" dirty="0">
                        <a:latin typeface="Adobe Clean" charset="0"/>
                        <a:ea typeface="Adobe Clean" charset="0"/>
                        <a:cs typeface="Adobe Clean" charset="0"/>
                      </a:endParaRPr>
                    </a:p>
                  </a:txBody>
                  <a:tcPr marL="76200" marR="762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5029200"/>
            <a:ext cx="5440680" cy="960120"/>
          </a:xfrm>
          <a:prstGeom prst="roundRect">
            <a:avLst>
              <a:gd name="adj" fmla="val 9524"/>
            </a:avLst>
          </a:prstGeom>
          <a:solidFill>
            <a:srgbClr val="F4F5F7"/>
          </a:solidFill>
          <a:ln w="12700">
            <a:solidFill>
              <a:srgbClr val="D9DEE6"/>
            </a:solidFill>
            <a:prstDash val="solid"/>
          </a:ln>
        </p:spPr>
      </p:sp>
      <p:sp>
        <p:nvSpPr>
          <p:cNvPr id="6" name="Text 3"/>
          <p:cNvSpPr/>
          <p:nvPr/>
        </p:nvSpPr>
        <p:spPr>
          <a:xfrm>
            <a:off x="786384" y="5193792"/>
            <a:ext cx="5001768" cy="667512"/>
          </a:xfrm>
          <a:prstGeom prst="rect">
            <a:avLst/>
          </a:prstGeom>
          <a:noFill/>
          <a:ln/>
        </p:spPr>
        <p:txBody>
          <a:bodyPr wrap="square" lIns="0" tIns="0" rIns="0" bIns="0" rtlCol="0" anchor="ctr"/>
          <a:lstStyle/>
          <a:p>
            <a:pPr algn="l" indent="0" marL="0">
              <a:lnSpc>
                <a:spcPct val="112000"/>
              </a:lnSpc>
              <a:spcAft>
                <a:spcPts val="500"/>
              </a:spcAft>
              <a:buNone/>
            </a:pPr>
            <a:r>
              <a:rPr lang="en-US" sz="1250" dirty="0">
                <a:solidFill>
                  <a:srgbClr val="21304A"/>
                </a:solidFill>
                <a:latin typeface="Adobe Clean ExtraBold" pitchFamily="34" charset="0"/>
                <a:ea typeface="Adobe Clean ExtraBold" pitchFamily="34" charset="-122"/>
                <a:cs typeface="Adobe Clean ExtraBold" pitchFamily="34" charset="-120"/>
              </a:rPr>
              <a:t>The signals we trust are KL and eval feasibility. </a:t>
            </a:r>
            <a:pPr algn="l" indent="0" marL="0">
              <a:lnSpc>
                <a:spcPct val="112000"/>
              </a:lnSpc>
              <a:spcAft>
                <a:spcPts val="500"/>
              </a:spcAft>
              <a:buNone/>
            </a:pPr>
            <a:r>
              <a:rPr lang="en-US" sz="1250" dirty="0">
                <a:solidFill>
                  <a:srgbClr val="2C2C2C"/>
                </a:solidFill>
                <a:latin typeface="Adobe Clean" pitchFamily="34" charset="0"/>
                <a:ea typeface="Adobe Clean" pitchFamily="34" charset="-122"/>
                <a:cs typeface="Adobe Clean" pitchFamily="34" charset="-120"/>
              </a:rPr>
              <a:t>Reward is noisy, since each batch sees different problems, and is not comparable across steps.</a:t>
            </a:r>
            <a:endParaRPr lang="en-US" sz="1250" dirty="0"/>
          </a:p>
        </p:txBody>
      </p:sp>
      <p:sp>
        <p:nvSpPr>
          <p:cNvPr id="7" name="Shape 4"/>
          <p:cNvSpPr/>
          <p:nvPr/>
        </p:nvSpPr>
        <p:spPr>
          <a:xfrm>
            <a:off x="6190488" y="5029200"/>
            <a:ext cx="5440680" cy="960120"/>
          </a:xfrm>
          <a:prstGeom prst="roundRect">
            <a:avLst>
              <a:gd name="adj" fmla="val 9524"/>
            </a:avLst>
          </a:prstGeom>
          <a:solidFill>
            <a:srgbClr val="F4F5F7"/>
          </a:solidFill>
          <a:ln w="12700">
            <a:solidFill>
              <a:srgbClr val="D9DEE6"/>
            </a:solidFill>
            <a:prstDash val="solid"/>
          </a:ln>
        </p:spPr>
      </p:sp>
      <p:sp>
        <p:nvSpPr>
          <p:cNvPr id="8" name="Text 5"/>
          <p:cNvSpPr/>
          <p:nvPr/>
        </p:nvSpPr>
        <p:spPr>
          <a:xfrm>
            <a:off x="6409944" y="5193792"/>
            <a:ext cx="5001768" cy="667512"/>
          </a:xfrm>
          <a:prstGeom prst="rect">
            <a:avLst/>
          </a:prstGeom>
          <a:noFill/>
          <a:ln/>
        </p:spPr>
        <p:txBody>
          <a:bodyPr wrap="square" lIns="0" tIns="0" rIns="0" bIns="0" rtlCol="0" anchor="ctr"/>
          <a:lstStyle/>
          <a:p>
            <a:pPr algn="l" indent="0" marL="0">
              <a:lnSpc>
                <a:spcPct val="112000"/>
              </a:lnSpc>
              <a:spcAft>
                <a:spcPts val="500"/>
              </a:spcAft>
              <a:buNone/>
            </a:pPr>
            <a:r>
              <a:rPr lang="en-US" sz="1250" dirty="0">
                <a:solidFill>
                  <a:srgbClr val="21304A"/>
                </a:solidFill>
                <a:latin typeface="Adobe Clean ExtraBold" pitchFamily="34" charset="0"/>
                <a:ea typeface="Adobe Clean ExtraBold" pitchFamily="34" charset="-122"/>
                <a:cs typeface="Adobe Clean ExtraBold" pitchFamily="34" charset="-120"/>
              </a:rPr>
              <a:t>Gradient norm and GRPO loss </a:t>
            </a:r>
            <a:pPr algn="l" indent="0" marL="0">
              <a:lnSpc>
                <a:spcPct val="112000"/>
              </a:lnSpc>
              <a:spcAft>
                <a:spcPts val="500"/>
              </a:spcAft>
              <a:buNone/>
            </a:pPr>
            <a:r>
              <a:rPr lang="en-US" sz="1250" dirty="0">
                <a:solidFill>
                  <a:srgbClr val="2C2C2C"/>
                </a:solidFill>
                <a:latin typeface="Adobe Clean" pitchFamily="34" charset="0"/>
                <a:ea typeface="Adobe Clean" pitchFamily="34" charset="-122"/>
                <a:cs typeface="Adobe Clean" pitchFamily="34" charset="-120"/>
              </a:rPr>
              <a:t>are well-behaved on the multi-turn runs. The single-turn loss is the outlier, negative and flat.</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64240" cy="676656"/>
          </a:xfrm>
          <a:prstGeom prst="rect">
            <a:avLst/>
          </a:prstGeom>
          <a:noFill/>
          <a:ln/>
        </p:spPr>
        <p:txBody>
          <a:bodyPr wrap="square" lIns="0" tIns="0" rIns="0" bIns="0" rtlCol="0" anchor="t"/>
          <a:lstStyle/>
          <a:p>
            <a:pPr algn="l" indent="0" marL="0">
              <a:buNone/>
            </a:pPr>
            <a:r>
              <a:rPr lang="en-US" sz="2800" dirty="0">
                <a:solidFill>
                  <a:srgbClr val="EB1000"/>
                </a:solidFill>
                <a:latin typeface="Adobe Clean ExtraBold" pitchFamily="34" charset="0"/>
                <a:ea typeface="Adobe Clean ExtraBold" pitchFamily="34" charset="-122"/>
                <a:cs typeface="Adobe Clean ExtraBold" pitchFamily="34" charset="-120"/>
              </a:rPr>
              <a:t>Completion Length and Cost</a:t>
            </a:r>
            <a:endParaRPr lang="en-US" sz="2800" dirty="0"/>
          </a:p>
        </p:txBody>
      </p:sp>
      <p:sp>
        <p:nvSpPr>
          <p:cNvPr id="3" name="Text 1"/>
          <p:cNvSpPr/>
          <p:nvPr/>
        </p:nvSpPr>
        <p:spPr>
          <a:xfrm>
            <a:off x="566928" y="1060704"/>
            <a:ext cx="11064240" cy="384048"/>
          </a:xfrm>
          <a:prstGeom prst="rect">
            <a:avLst/>
          </a:prstGeom>
          <a:noFill/>
          <a:ln/>
        </p:spPr>
        <p:txBody>
          <a:bodyPr wrap="square" lIns="0" tIns="0" rIns="0" bIns="0" rtlCol="0" anchor="t"/>
          <a:lstStyle/>
          <a:p>
            <a:pPr algn="l" indent="0" marL="0">
              <a:buNone/>
            </a:pPr>
            <a:r>
              <a:rPr lang="en-US" sz="1450" dirty="0">
                <a:solidFill>
                  <a:srgbClr val="5A6473"/>
                </a:solidFill>
                <a:latin typeface="Adobe Clean" pitchFamily="34" charset="0"/>
                <a:ea typeface="Adobe Clean" pitchFamily="34" charset="-122"/>
                <a:cs typeface="Adobe Clean" pitchFamily="34" charset="-120"/>
              </a:rPr>
              <a:t>The multi-turn runs do real reasoning. The frozen single-turn run barely uses any tokens.</a:t>
            </a:r>
            <a:endParaRPr lang="en-US" sz="1450" dirty="0"/>
          </a:p>
        </p:txBody>
      </p:sp>
      <p:sp>
        <p:nvSpPr>
          <p:cNvPr id="4" name="Text 2"/>
          <p:cNvSpPr/>
          <p:nvPr/>
        </p:nvSpPr>
        <p:spPr>
          <a:xfrm>
            <a:off x="566928" y="1664208"/>
            <a:ext cx="6035040" cy="292608"/>
          </a:xfrm>
          <a:prstGeom prst="rect">
            <a:avLst/>
          </a:prstGeom>
          <a:noFill/>
          <a:ln/>
        </p:spPr>
        <p:txBody>
          <a:bodyPr wrap="square" lIns="0" tIns="0" rIns="0" bIns="0" rtlCol="0" anchor="t"/>
          <a:lstStyle/>
          <a:p>
            <a:pPr algn="l" indent="0" marL="0">
              <a:buNone/>
            </a:pPr>
            <a:r>
              <a:rPr lang="en-US" sz="1350" dirty="0">
                <a:solidFill>
                  <a:srgbClr val="21304A"/>
                </a:solidFill>
                <a:latin typeface="Adobe Clean ExtraBold" pitchFamily="34" charset="0"/>
                <a:ea typeface="Adobe Clean ExtraBold" pitchFamily="34" charset="-122"/>
                <a:cs typeface="Adobe Clean ExtraBold" pitchFamily="34" charset="-120"/>
              </a:rPr>
              <a:t>Mean completion length per rollout</a:t>
            </a:r>
            <a:endParaRPr lang="en-US" sz="1350" dirty="0"/>
          </a:p>
        </p:txBody>
      </p:sp>
      <p:graphicFrame>
        <p:nvGraphicFramePr>
          <p:cNvPr id="5" name="Chart 0" descr=""/>
          <p:cNvGraphicFramePr/>
          <p:nvPr/>
        </p:nvGraphicFramePr>
        <p:xfrm>
          <a:off x="566928" y="2057400"/>
          <a:ext cx="6126480" cy="37490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949440" y="1691640"/>
            <a:ext cx="2238451" cy="1325880"/>
          </a:xfrm>
          <a:prstGeom prst="roundRect">
            <a:avLst>
              <a:gd name="adj" fmla="val 7586"/>
            </a:avLst>
          </a:prstGeom>
          <a:solidFill>
            <a:srgbClr val="F4F5F7"/>
          </a:solidFill>
          <a:ln w="12700">
            <a:solidFill>
              <a:srgbClr val="D9DEE6"/>
            </a:solidFill>
            <a:prstDash val="solid"/>
          </a:ln>
        </p:spPr>
      </p:sp>
      <p:sp>
        <p:nvSpPr>
          <p:cNvPr id="7" name="Text 4"/>
          <p:cNvSpPr/>
          <p:nvPr/>
        </p:nvSpPr>
        <p:spPr>
          <a:xfrm>
            <a:off x="6986016" y="1783080"/>
            <a:ext cx="2165299" cy="742493"/>
          </a:xfrm>
          <a:prstGeom prst="rect">
            <a:avLst/>
          </a:prstGeom>
          <a:noFill/>
          <a:ln/>
        </p:spPr>
        <p:txBody>
          <a:bodyPr wrap="square" lIns="0" tIns="0" rIns="0" bIns="0" rtlCol="0" anchor="ctr"/>
          <a:lstStyle/>
          <a:p>
            <a:pPr algn="ctr" indent="0" marL="0">
              <a:buNone/>
            </a:pPr>
            <a:r>
              <a:rPr lang="en-US" sz="3400" dirty="0">
                <a:solidFill>
                  <a:srgbClr val="21304A"/>
                </a:solidFill>
                <a:latin typeface="Adobe Clean ExtraBold" pitchFamily="34" charset="0"/>
                <a:ea typeface="Adobe Clean ExtraBold" pitchFamily="34" charset="-122"/>
                <a:cs typeface="Adobe Clean ExtraBold" pitchFamily="34" charset="-120"/>
              </a:rPr>
              <a:t>~500 s</a:t>
            </a:r>
            <a:endParaRPr lang="en-US" sz="3400" dirty="0"/>
          </a:p>
        </p:txBody>
      </p:sp>
      <p:sp>
        <p:nvSpPr>
          <p:cNvPr id="8" name="Text 5"/>
          <p:cNvSpPr/>
          <p:nvPr/>
        </p:nvSpPr>
        <p:spPr>
          <a:xfrm>
            <a:off x="6986016" y="2513686"/>
            <a:ext cx="2165299" cy="424282"/>
          </a:xfrm>
          <a:prstGeom prst="rect">
            <a:avLst/>
          </a:prstGeom>
          <a:noFill/>
          <a:ln/>
        </p:spPr>
        <p:txBody>
          <a:bodyPr wrap="square" lIns="0" tIns="0" rIns="0" bIns="0" rtlCol="0" anchor="t"/>
          <a:lstStyle/>
          <a:p>
            <a:pPr algn="ctr" indent="0" marL="0">
              <a:buNone/>
            </a:pPr>
            <a:r>
              <a:rPr lang="en-US" sz="1200" dirty="0">
                <a:solidFill>
                  <a:srgbClr val="5F5F5F"/>
                </a:solidFill>
                <a:latin typeface="Adobe Clean" pitchFamily="34" charset="0"/>
                <a:ea typeface="Adobe Clean" pitchFamily="34" charset="-122"/>
                <a:cs typeface="Adobe Clean" pitchFamily="34" charset="-120"/>
              </a:rPr>
              <a:t>per GRPO step</a:t>
            </a:r>
            <a:endParaRPr lang="en-US" sz="1200" dirty="0"/>
          </a:p>
        </p:txBody>
      </p:sp>
      <p:sp>
        <p:nvSpPr>
          <p:cNvPr id="9" name="Shape 6"/>
          <p:cNvSpPr/>
          <p:nvPr/>
        </p:nvSpPr>
        <p:spPr>
          <a:xfrm>
            <a:off x="9374429" y="1691640"/>
            <a:ext cx="2238451" cy="1325880"/>
          </a:xfrm>
          <a:prstGeom prst="roundRect">
            <a:avLst>
              <a:gd name="adj" fmla="val 7586"/>
            </a:avLst>
          </a:prstGeom>
          <a:solidFill>
            <a:srgbClr val="F4F5F7"/>
          </a:solidFill>
          <a:ln w="12700">
            <a:solidFill>
              <a:srgbClr val="D9DEE6"/>
            </a:solidFill>
            <a:prstDash val="solid"/>
          </a:ln>
        </p:spPr>
      </p:sp>
      <p:sp>
        <p:nvSpPr>
          <p:cNvPr id="10" name="Text 7"/>
          <p:cNvSpPr/>
          <p:nvPr/>
        </p:nvSpPr>
        <p:spPr>
          <a:xfrm>
            <a:off x="9411005" y="1783080"/>
            <a:ext cx="2165299" cy="742493"/>
          </a:xfrm>
          <a:prstGeom prst="rect">
            <a:avLst/>
          </a:prstGeom>
          <a:noFill/>
          <a:ln/>
        </p:spPr>
        <p:txBody>
          <a:bodyPr wrap="square" lIns="0" tIns="0" rIns="0" bIns="0" rtlCol="0" anchor="ctr"/>
          <a:lstStyle/>
          <a:p>
            <a:pPr algn="ctr" indent="0" marL="0">
              <a:buNone/>
            </a:pPr>
            <a:r>
              <a:rPr lang="en-US" sz="3400" dirty="0">
                <a:solidFill>
                  <a:srgbClr val="21304A"/>
                </a:solidFill>
                <a:latin typeface="Adobe Clean ExtraBold" pitchFamily="34" charset="0"/>
                <a:ea typeface="Adobe Clean ExtraBold" pitchFamily="34" charset="-122"/>
                <a:cs typeface="Adobe Clean ExtraBold" pitchFamily="34" charset="-120"/>
              </a:rPr>
              <a:t>K = 8</a:t>
            </a:r>
            <a:endParaRPr lang="en-US" sz="3400" dirty="0"/>
          </a:p>
        </p:txBody>
      </p:sp>
      <p:sp>
        <p:nvSpPr>
          <p:cNvPr id="11" name="Text 8"/>
          <p:cNvSpPr/>
          <p:nvPr/>
        </p:nvSpPr>
        <p:spPr>
          <a:xfrm>
            <a:off x="9411005" y="2513686"/>
            <a:ext cx="2165299" cy="424282"/>
          </a:xfrm>
          <a:prstGeom prst="rect">
            <a:avLst/>
          </a:prstGeom>
          <a:noFill/>
          <a:ln/>
        </p:spPr>
        <p:txBody>
          <a:bodyPr wrap="square" lIns="0" tIns="0" rIns="0" bIns="0" rtlCol="0" anchor="t"/>
          <a:lstStyle/>
          <a:p>
            <a:pPr algn="ctr" indent="0" marL="0">
              <a:buNone/>
            </a:pPr>
            <a:r>
              <a:rPr lang="en-US" sz="1200" dirty="0">
                <a:solidFill>
                  <a:srgbClr val="5F5F5F"/>
                </a:solidFill>
                <a:latin typeface="Adobe Clean" pitchFamily="34" charset="0"/>
                <a:ea typeface="Adobe Clean" pitchFamily="34" charset="-122"/>
                <a:cs typeface="Adobe Clean" pitchFamily="34" charset="-120"/>
              </a:rPr>
              <a:t>rollouts / problem</a:t>
            </a:r>
            <a:endParaRPr lang="en-US" sz="1200" dirty="0"/>
          </a:p>
        </p:txBody>
      </p:sp>
      <p:sp>
        <p:nvSpPr>
          <p:cNvPr id="12" name="Shape 9"/>
          <p:cNvSpPr/>
          <p:nvPr/>
        </p:nvSpPr>
        <p:spPr>
          <a:xfrm>
            <a:off x="6949440" y="3154680"/>
            <a:ext cx="4663440" cy="1325880"/>
          </a:xfrm>
          <a:prstGeom prst="roundRect">
            <a:avLst>
              <a:gd name="adj" fmla="val 6897"/>
            </a:avLst>
          </a:prstGeom>
          <a:solidFill>
            <a:srgbClr val="EEF1F6"/>
          </a:solidFill>
          <a:ln w="12700">
            <a:solidFill>
              <a:srgbClr val="D9DEE6"/>
            </a:solidFill>
            <a:prstDash val="solid"/>
          </a:ln>
        </p:spPr>
      </p:sp>
      <p:sp>
        <p:nvSpPr>
          <p:cNvPr id="13" name="Text 10"/>
          <p:cNvSpPr/>
          <p:nvPr/>
        </p:nvSpPr>
        <p:spPr>
          <a:xfrm>
            <a:off x="7168896" y="3319272"/>
            <a:ext cx="4224528" cy="384048"/>
          </a:xfrm>
          <a:prstGeom prst="rect">
            <a:avLst/>
          </a:prstGeom>
          <a:noFill/>
          <a:ln/>
        </p:spPr>
        <p:txBody>
          <a:bodyPr wrap="square" lIns="0" tIns="0" rIns="0" bIns="0" rtlCol="0" anchor="t"/>
          <a:lstStyle/>
          <a:p>
            <a:pPr algn="l" indent="0" marL="0">
              <a:buNone/>
            </a:pPr>
            <a:r>
              <a:rPr lang="en-US" sz="1400" dirty="0">
                <a:solidFill>
                  <a:srgbClr val="21304A"/>
                </a:solidFill>
                <a:latin typeface="Adobe Clean ExtraBold" pitchFamily="34" charset="0"/>
                <a:ea typeface="Adobe Clean ExtraBold" pitchFamily="34" charset="-122"/>
                <a:cs typeface="Adobe Clean ExtraBold" pitchFamily="34" charset="-120"/>
              </a:rPr>
              <a:t>Why it costs more, and why it is worth it</a:t>
            </a:r>
            <a:endParaRPr lang="en-US" sz="1400" dirty="0"/>
          </a:p>
        </p:txBody>
      </p:sp>
      <p:sp>
        <p:nvSpPr>
          <p:cNvPr id="14" name="Text 11"/>
          <p:cNvSpPr/>
          <p:nvPr/>
        </p:nvSpPr>
        <p:spPr>
          <a:xfrm>
            <a:off x="7168896" y="3739896"/>
            <a:ext cx="4224528" cy="612648"/>
          </a:xfrm>
          <a:prstGeom prst="rect">
            <a:avLst/>
          </a:prstGeom>
          <a:noFill/>
          <a:ln/>
        </p:spPr>
        <p:txBody>
          <a:bodyPr wrap="square" lIns="0" tIns="0" rIns="0" bIns="0" rtlCol="0" anchor="t"/>
          <a:lstStyle/>
          <a:p>
            <a:pPr algn="l" indent="0" marL="0">
              <a:lnSpc>
                <a:spcPct val="112000"/>
              </a:lnSpc>
              <a:spcAft>
                <a:spcPts val="500"/>
              </a:spcAft>
              <a:buNone/>
            </a:pPr>
            <a:r>
              <a:rPr lang="en-US" sz="1250" dirty="0">
                <a:solidFill>
                  <a:srgbClr val="2C2C2C"/>
                </a:solidFill>
                <a:latin typeface="Adobe Clean" pitchFamily="34" charset="0"/>
                <a:ea typeface="Adobe Clean" pitchFamily="34" charset="-122"/>
                <a:cs typeface="Adobe Clean" pitchFamily="34" charset="-120"/>
              </a:rPr>
              <a:t>These 4 to 5k tokens are real multi-turn reasoning, not padding. The single-turn run sits near 1k, going through the motions.</a:t>
            </a:r>
            <a:endParaRPr lang="en-US" sz="1250" dirty="0"/>
          </a:p>
        </p:txBody>
      </p:sp>
      <p:sp>
        <p:nvSpPr>
          <p:cNvPr id="15" name="Shape 12"/>
          <p:cNvSpPr/>
          <p:nvPr/>
        </p:nvSpPr>
        <p:spPr>
          <a:xfrm>
            <a:off x="6949440" y="4572000"/>
            <a:ext cx="4663440" cy="1280160"/>
          </a:xfrm>
          <a:prstGeom prst="roundRect">
            <a:avLst>
              <a:gd name="adj" fmla="val 7143"/>
            </a:avLst>
          </a:prstGeom>
          <a:solidFill>
            <a:srgbClr val="F4F5F7"/>
          </a:solidFill>
          <a:ln w="12700">
            <a:solidFill>
              <a:srgbClr val="D9DEE6"/>
            </a:solidFill>
            <a:prstDash val="solid"/>
          </a:ln>
        </p:spPr>
      </p:sp>
      <p:sp>
        <p:nvSpPr>
          <p:cNvPr id="16" name="Text 13"/>
          <p:cNvSpPr/>
          <p:nvPr/>
        </p:nvSpPr>
        <p:spPr>
          <a:xfrm>
            <a:off x="7168896" y="4736592"/>
            <a:ext cx="4224528" cy="384048"/>
          </a:xfrm>
          <a:prstGeom prst="rect">
            <a:avLst/>
          </a:prstGeom>
          <a:noFill/>
          <a:ln/>
        </p:spPr>
        <p:txBody>
          <a:bodyPr wrap="square" lIns="0" tIns="0" rIns="0" bIns="0" rtlCol="0" anchor="t"/>
          <a:lstStyle/>
          <a:p>
            <a:pPr algn="l" indent="0" marL="0">
              <a:buNone/>
            </a:pPr>
            <a:r>
              <a:rPr lang="en-US" sz="1400" dirty="0">
                <a:solidFill>
                  <a:srgbClr val="21304A"/>
                </a:solidFill>
                <a:latin typeface="Adobe Clean ExtraBold" pitchFamily="34" charset="0"/>
                <a:ea typeface="Adobe Clean ExtraBold" pitchFamily="34" charset="-122"/>
                <a:cs typeface="Adobe Clean ExtraBold" pitchFamily="34" charset="-120"/>
              </a:rPr>
              <a:t>Engineering note</a:t>
            </a:r>
            <a:endParaRPr lang="en-US" sz="1400" dirty="0"/>
          </a:p>
        </p:txBody>
      </p:sp>
      <p:sp>
        <p:nvSpPr>
          <p:cNvPr id="17" name="Text 14"/>
          <p:cNvSpPr/>
          <p:nvPr/>
        </p:nvSpPr>
        <p:spPr>
          <a:xfrm>
            <a:off x="7168896" y="5157216"/>
            <a:ext cx="4224528" cy="566928"/>
          </a:xfrm>
          <a:prstGeom prst="rect">
            <a:avLst/>
          </a:prstGeom>
          <a:noFill/>
          <a:ln/>
        </p:spPr>
        <p:txBody>
          <a:bodyPr wrap="square" lIns="0" tIns="0" rIns="0" bIns="0" rtlCol="0" anchor="t"/>
          <a:lstStyle/>
          <a:p>
            <a:pPr algn="l" indent="0" marL="0">
              <a:lnSpc>
                <a:spcPct val="112000"/>
              </a:lnSpc>
              <a:spcAft>
                <a:spcPts val="500"/>
              </a:spcAft>
              <a:buNone/>
            </a:pPr>
            <a:r>
              <a:rPr lang="en-US" sz="1250" dirty="0">
                <a:solidFill>
                  <a:srgbClr val="2C2C2C"/>
                </a:solidFill>
                <a:latin typeface="Adobe Clean" pitchFamily="34" charset="0"/>
                <a:ea typeface="Adobe Clean" pitchFamily="34" charset="-122"/>
                <a:cs typeface="Adobe Clean" pitchFamily="34" charset="-120"/>
              </a:rPr>
              <a:t>Keeping training tractable required a </a:t>
            </a:r>
            <a:pPr algn="l" indent="0" marL="0">
              <a:lnSpc>
                <a:spcPct val="112000"/>
              </a:lnSpc>
              <a:spcAft>
                <a:spcPts val="500"/>
              </a:spcAft>
              <a:buNone/>
            </a:pPr>
            <a:r>
              <a:rPr lang="en-US" sz="1250" dirty="0">
                <a:solidFill>
                  <a:srgbClr val="21304A"/>
                </a:solidFill>
                <a:latin typeface="Adobe Clean ExtraBold" pitchFamily="34" charset="0"/>
                <a:ea typeface="Adobe Clean ExtraBold" pitchFamily="34" charset="-122"/>
                <a:cs typeface="Adobe Clean ExtraBold" pitchFamily="34" charset="-120"/>
              </a:rPr>
              <a:t>batched rollout</a:t>
            </a:r>
            <a:pPr algn="l" indent="0" marL="0">
              <a:lnSpc>
                <a:spcPct val="112000"/>
              </a:lnSpc>
              <a:spcAft>
                <a:spcPts val="500"/>
              </a:spcAft>
              <a:buNone/>
            </a:pPr>
            <a:r>
              <a:rPr lang="en-US" sz="1250" dirty="0">
                <a:solidFill>
                  <a:srgbClr val="2C2C2C"/>
                </a:solidFill>
                <a:latin typeface="Adobe Clean" pitchFamily="34" charset="0"/>
                <a:ea typeface="Adobe Clean" pitchFamily="34" charset="-122"/>
                <a:cs typeface="Adobe Clean" pitchFamily="34" charset="-120"/>
              </a:rPr>
              <a:t>. The rollout loop, not the loss, is where the cost and the correctness live.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64240" cy="676656"/>
          </a:xfrm>
          <a:prstGeom prst="rect">
            <a:avLst/>
          </a:prstGeom>
          <a:noFill/>
          <a:ln/>
        </p:spPr>
        <p:txBody>
          <a:bodyPr wrap="square" lIns="0" tIns="0" rIns="0" bIns="0" rtlCol="0" anchor="t"/>
          <a:lstStyle/>
          <a:p>
            <a:pPr algn="l" indent="0" marL="0">
              <a:buNone/>
            </a:pPr>
            <a:r>
              <a:rPr lang="en-US" sz="2800" dirty="0">
                <a:solidFill>
                  <a:srgbClr val="EB1000"/>
                </a:solidFill>
                <a:latin typeface="Adobe Clean ExtraBold" pitchFamily="34" charset="0"/>
                <a:ea typeface="Adobe Clean ExtraBold" pitchFamily="34" charset="-122"/>
                <a:cs typeface="Adobe Clean ExtraBold" pitchFamily="34" charset="-120"/>
              </a:rPr>
              <a:t>Held-Out Evaluation</a:t>
            </a:r>
            <a:endParaRPr lang="en-US" sz="2800" dirty="0"/>
          </a:p>
        </p:txBody>
      </p:sp>
      <p:sp>
        <p:nvSpPr>
          <p:cNvPr id="3" name="Text 1"/>
          <p:cNvSpPr/>
          <p:nvPr/>
        </p:nvSpPr>
        <p:spPr>
          <a:xfrm>
            <a:off x="566928" y="1060704"/>
            <a:ext cx="11064240" cy="384048"/>
          </a:xfrm>
          <a:prstGeom prst="rect">
            <a:avLst/>
          </a:prstGeom>
          <a:noFill/>
          <a:ln/>
        </p:spPr>
        <p:txBody>
          <a:bodyPr wrap="square" lIns="0" tIns="0" rIns="0" bIns="0" rtlCol="0" anchor="t"/>
          <a:lstStyle/>
          <a:p>
            <a:pPr algn="l" indent="0" marL="0">
              <a:buNone/>
            </a:pPr>
            <a:r>
              <a:rPr lang="en-US" sz="1450" dirty="0">
                <a:solidFill>
                  <a:srgbClr val="5A6473"/>
                </a:solidFill>
                <a:latin typeface="Adobe Clean" pitchFamily="34" charset="0"/>
                <a:ea typeface="Adobe Clean" pitchFamily="34" charset="-122"/>
                <a:cs typeface="Adobe Clean" pitchFamily="34" charset="-120"/>
              </a:rPr>
              <a:t>Feasibility, grammar success, and strength across the five configurations.</a:t>
            </a:r>
            <a:endParaRPr lang="en-US" sz="1450" dirty="0"/>
          </a:p>
        </p:txBody>
      </p:sp>
      <p:sp>
        <p:nvSpPr>
          <p:cNvPr id="4" name="Text 2"/>
          <p:cNvSpPr/>
          <p:nvPr/>
        </p:nvSpPr>
        <p:spPr>
          <a:xfrm>
            <a:off x="566928" y="1664208"/>
            <a:ext cx="5120640" cy="292608"/>
          </a:xfrm>
          <a:prstGeom prst="rect">
            <a:avLst/>
          </a:prstGeom>
          <a:noFill/>
          <a:ln/>
        </p:spPr>
        <p:txBody>
          <a:bodyPr wrap="square" lIns="0" tIns="0" rIns="0" bIns="0" rtlCol="0" anchor="t"/>
          <a:lstStyle/>
          <a:p>
            <a:pPr algn="l" indent="0" marL="0">
              <a:buNone/>
            </a:pPr>
            <a:r>
              <a:rPr lang="en-US" sz="1350" dirty="0">
                <a:solidFill>
                  <a:srgbClr val="21304A"/>
                </a:solidFill>
                <a:latin typeface="Adobe Clean ExtraBold" pitchFamily="34" charset="0"/>
                <a:ea typeface="Adobe Clean ExtraBold" pitchFamily="34" charset="-122"/>
                <a:cs typeface="Adobe Clean ExtraBold" pitchFamily="34" charset="-120"/>
              </a:rPr>
              <a:t>Held-out feasibility</a:t>
            </a:r>
            <a:endParaRPr lang="en-US" sz="1350" dirty="0"/>
          </a:p>
        </p:txBody>
      </p:sp>
      <p:graphicFrame>
        <p:nvGraphicFramePr>
          <p:cNvPr id="5" name="Chart 0" descr=""/>
          <p:cNvGraphicFramePr/>
          <p:nvPr/>
        </p:nvGraphicFramePr>
        <p:xfrm>
          <a:off x="566928" y="2057400"/>
          <a:ext cx="5166360" cy="3703320"/>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126480" y="2057400"/>
          <a:ext cx="5486400" cy="914400"/>
        </p:xfrm>
        <a:graphic>
          <a:graphicData uri="http://schemas.openxmlformats.org/drawingml/2006/table">
            <a:tbl>
              <a:tblPr/>
              <a:tblGrid>
                <a:gridCol w="2468880"/>
                <a:gridCol w="822960"/>
                <a:gridCol w="1005840"/>
                <a:gridCol w="1188720"/>
              </a:tblGrid>
              <a:tr h="420624">
                <a:tc>
                  <a:txBody>
                    <a:bodyPr/>
                    <a:lstStyle/>
                    <a:p>
                      <a:pPr algn="l" indent="0" marL="0">
                        <a:buNone/>
                      </a:pPr>
                      <a:r>
                        <a:rPr lang="en-US" sz="1200" b="1" dirty="0">
                          <a:solidFill>
                            <a:srgbClr val="FFFFFF"/>
                          </a:solidFill>
                          <a:latin typeface="Adobe Clean ExtraBold" pitchFamily="34" charset="0"/>
                          <a:ea typeface="Adobe Clean ExtraBold" pitchFamily="34" charset="-122"/>
                          <a:cs typeface="Adobe Clean ExtraBold" pitchFamily="34" charset="-120"/>
                        </a:rPr>
                        <a:t> Eval cell</a:t>
                      </a:r>
                      <a:endParaRPr lang="en-US" sz="1200" dirty="0">
                        <a:latin typeface="Adobe Clean ExtraBold" charset="0"/>
                        <a:ea typeface="Adobe Clean ExtraBold" charset="0"/>
                        <a:cs typeface="Adobe Clean ExtraBold" charset="0"/>
                      </a:endParaRPr>
                    </a:p>
                  </a:txBody>
                  <a:tcPr marL="63500" marR="635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21304A"/>
                    </a:solidFill>
                  </a:tcPr>
                </a:tc>
                <a:tc>
                  <a:txBody>
                    <a:bodyPr/>
                    <a:lstStyle/>
                    <a:p>
                      <a:pPr algn="l" indent="0" marL="0">
                        <a:buNone/>
                      </a:pPr>
                      <a:r>
                        <a:rPr lang="en-US" sz="1200" b="1" dirty="0">
                          <a:solidFill>
                            <a:srgbClr val="FFFFFF"/>
                          </a:solidFill>
                          <a:latin typeface="Adobe Clean ExtraBold" pitchFamily="34" charset="0"/>
                          <a:ea typeface="Adobe Clean ExtraBold" pitchFamily="34" charset="-122"/>
                          <a:cs typeface="Adobe Clean ExtraBold" pitchFamily="34" charset="-120"/>
                        </a:rPr>
                        <a:t>Feas.</a:t>
                      </a:r>
                      <a:endParaRPr lang="en-US" sz="1200" dirty="0">
                        <a:latin typeface="Adobe Clean ExtraBold" charset="0"/>
                        <a:ea typeface="Adobe Clean ExtraBold" charset="0"/>
                        <a:cs typeface="Adobe Clean ExtraBold" charset="0"/>
                      </a:endParaRPr>
                    </a:p>
                  </a:txBody>
                  <a:tcPr marL="63500" marR="635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21304A"/>
                    </a:solidFill>
                  </a:tcPr>
                </a:tc>
                <a:tc>
                  <a:txBody>
                    <a:bodyPr/>
                    <a:lstStyle/>
                    <a:p>
                      <a:pPr algn="l" indent="0" marL="0">
                        <a:buNone/>
                      </a:pPr>
                      <a:r>
                        <a:rPr lang="en-US" sz="1200" b="1" dirty="0">
                          <a:solidFill>
                            <a:srgbClr val="FFFFFF"/>
                          </a:solidFill>
                          <a:latin typeface="Adobe Clean ExtraBold" pitchFamily="34" charset="0"/>
                          <a:ea typeface="Adobe Clean ExtraBold" pitchFamily="34" charset="-122"/>
                          <a:cs typeface="Adobe Clean ExtraBold" pitchFamily="34" charset="-120"/>
                        </a:rPr>
                        <a:t>Grammar</a:t>
                      </a:r>
                      <a:endParaRPr lang="en-US" sz="1200" dirty="0">
                        <a:latin typeface="Adobe Clean ExtraBold" charset="0"/>
                        <a:ea typeface="Adobe Clean ExtraBold" charset="0"/>
                        <a:cs typeface="Adobe Clean ExtraBold" charset="0"/>
                      </a:endParaRPr>
                    </a:p>
                  </a:txBody>
                  <a:tcPr marL="63500" marR="635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21304A"/>
                    </a:solidFill>
                  </a:tcPr>
                </a:tc>
                <a:tc>
                  <a:txBody>
                    <a:bodyPr/>
                    <a:lstStyle/>
                    <a:p>
                      <a:pPr algn="l" indent="0" marL="0">
                        <a:buNone/>
                      </a:pPr>
                      <a:r>
                        <a:rPr lang="en-US" sz="1200" b="1" dirty="0">
                          <a:solidFill>
                            <a:srgbClr val="FFFFFF"/>
                          </a:solidFill>
                          <a:latin typeface="Adobe Clean ExtraBold" pitchFamily="34" charset="0"/>
                          <a:ea typeface="Adobe Clean ExtraBold" pitchFamily="34" charset="-122"/>
                          <a:cs typeface="Adobe Clean ExtraBold" pitchFamily="34" charset="-120"/>
                        </a:rPr>
                        <a:t>FOS_b</a:t>
                      </a:r>
                      <a:endParaRPr lang="en-US" sz="1200" dirty="0">
                        <a:latin typeface="Adobe Clean ExtraBold" charset="0"/>
                        <a:ea typeface="Adobe Clean ExtraBold" charset="0"/>
                        <a:cs typeface="Adobe Clean ExtraBold" charset="0"/>
                      </a:endParaRPr>
                    </a:p>
                  </a:txBody>
                  <a:tcPr marL="63500" marR="635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21304A"/>
                    </a:solidFill>
                  </a:tcPr>
                </a:tc>
              </a:tr>
              <a:tr h="457200">
                <a:tc>
                  <a:txBody>
                    <a:bodyPr/>
                    <a:lstStyle/>
                    <a:p>
                      <a:pPr algn="l" indent="0" marL="0">
                        <a:buNone/>
                      </a:pPr>
                      <a:r>
                        <a:rPr lang="en-US" sz="1150" dirty="0">
                          <a:solidFill>
                            <a:srgbClr val="2C2C2C"/>
                          </a:solidFill>
                          <a:latin typeface="Adobe Clean" pitchFamily="34" charset="0"/>
                          <a:ea typeface="Adobe Clean" pitchFamily="34" charset="-122"/>
                          <a:cs typeface="Adobe Clean" pitchFamily="34" charset="-120"/>
                        </a:rPr>
                        <a:t> warmstart (no RL)</a:t>
                      </a:r>
                      <a:endParaRPr lang="en-US" sz="1150" dirty="0">
                        <a:latin typeface="Adobe Clean" charset="0"/>
                        <a:ea typeface="Adobe Clean" charset="0"/>
                        <a:cs typeface="Adobe Clean" charset="0"/>
                      </a:endParaRPr>
                    </a:p>
                  </a:txBody>
                  <a:tcPr marL="63500" marR="635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C2C2C"/>
                          </a:solidFill>
                          <a:latin typeface="Adobe Clean" pitchFamily="34" charset="0"/>
                          <a:ea typeface="Adobe Clean" pitchFamily="34" charset="-122"/>
                          <a:cs typeface="Adobe Clean" pitchFamily="34" charset="-120"/>
                        </a:rPr>
                        <a:t>0%</a:t>
                      </a:r>
                      <a:endParaRPr lang="en-US" sz="1150" dirty="0">
                        <a:latin typeface="Adobe Clean" charset="0"/>
                        <a:ea typeface="Adobe Clean" charset="0"/>
                        <a:cs typeface="Adobe Clean" charset="0"/>
                      </a:endParaRPr>
                    </a:p>
                  </a:txBody>
                  <a:tcPr marL="63500" marR="635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E8449"/>
                          </a:solidFill>
                          <a:latin typeface="Adobe Clean" pitchFamily="34" charset="0"/>
                          <a:ea typeface="Adobe Clean" pitchFamily="34" charset="-122"/>
                          <a:cs typeface="Adobe Clean" pitchFamily="34" charset="-120"/>
                        </a:rPr>
                        <a:t>1.00</a:t>
                      </a:r>
                      <a:endParaRPr lang="en-US" sz="1150" dirty="0">
                        <a:latin typeface="Adobe Clean" charset="0"/>
                        <a:ea typeface="Adobe Clean" charset="0"/>
                        <a:cs typeface="Adobe Clean" charset="0"/>
                      </a:endParaRPr>
                    </a:p>
                  </a:txBody>
                  <a:tcPr marL="63500" marR="635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C2C2C"/>
                          </a:solidFill>
                          <a:latin typeface="Adobe Clean" pitchFamily="34" charset="0"/>
                          <a:ea typeface="Adobe Clean" pitchFamily="34" charset="-122"/>
                          <a:cs typeface="Adobe Clean" pitchFamily="34" charset="-120"/>
                        </a:rPr>
                        <a:t>0.41</a:t>
                      </a:r>
                      <a:endParaRPr lang="en-US" sz="1150" dirty="0">
                        <a:latin typeface="Adobe Clean" charset="0"/>
                        <a:ea typeface="Adobe Clean" charset="0"/>
                        <a:cs typeface="Adobe Clean" charset="0"/>
                      </a:endParaRPr>
                    </a:p>
                  </a:txBody>
                  <a:tcPr marL="63500" marR="635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2C2C2C"/>
                          </a:solidFill>
                          <a:latin typeface="Adobe Clean" pitchFamily="34" charset="0"/>
                          <a:ea typeface="Adobe Clean" pitchFamily="34" charset="-122"/>
                          <a:cs typeface="Adobe Clean" pitchFamily="34" charset="-120"/>
                        </a:rPr>
                        <a:t> GRPO, no feedback</a:t>
                      </a:r>
                      <a:endParaRPr lang="en-US" sz="1150" dirty="0">
                        <a:latin typeface="Adobe Clean" charset="0"/>
                        <a:ea typeface="Adobe Clean" charset="0"/>
                        <a:cs typeface="Adobe Clean" charset="0"/>
                      </a:endParaRPr>
                    </a:p>
                  </a:txBody>
                  <a:tcPr marL="63500" marR="635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C2C2C"/>
                          </a:solidFill>
                          <a:latin typeface="Adobe Clean" pitchFamily="34" charset="0"/>
                          <a:ea typeface="Adobe Clean" pitchFamily="34" charset="-122"/>
                          <a:cs typeface="Adobe Clean" pitchFamily="34" charset="-120"/>
                        </a:rPr>
                        <a:t>12%</a:t>
                      </a:r>
                      <a:endParaRPr lang="en-US" sz="1150" dirty="0">
                        <a:latin typeface="Adobe Clean" charset="0"/>
                        <a:ea typeface="Adobe Clean" charset="0"/>
                        <a:cs typeface="Adobe Clean" charset="0"/>
                      </a:endParaRPr>
                    </a:p>
                  </a:txBody>
                  <a:tcPr marL="63500" marR="635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C2C2C"/>
                          </a:solidFill>
                          <a:latin typeface="Adobe Clean" pitchFamily="34" charset="0"/>
                          <a:ea typeface="Adobe Clean" pitchFamily="34" charset="-122"/>
                          <a:cs typeface="Adobe Clean" pitchFamily="34" charset="-120"/>
                        </a:rPr>
                        <a:t>0.44</a:t>
                      </a:r>
                      <a:endParaRPr lang="en-US" sz="1150" dirty="0">
                        <a:latin typeface="Adobe Clean" charset="0"/>
                        <a:ea typeface="Adobe Clean" charset="0"/>
                        <a:cs typeface="Adobe Clean" charset="0"/>
                      </a:endParaRPr>
                    </a:p>
                  </a:txBody>
                  <a:tcPr marL="63500" marR="635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C2C2C"/>
                          </a:solidFill>
                          <a:latin typeface="Adobe Clean" pitchFamily="34" charset="0"/>
                          <a:ea typeface="Adobe Clean" pitchFamily="34" charset="-122"/>
                          <a:cs typeface="Adobe Clean" pitchFamily="34" charset="-120"/>
                        </a:rPr>
                        <a:t>1.42</a:t>
                      </a:r>
                      <a:endParaRPr lang="en-US" sz="1150" dirty="0">
                        <a:latin typeface="Adobe Clean" charset="0"/>
                        <a:ea typeface="Adobe Clean" charset="0"/>
                        <a:cs typeface="Adobe Clean" charset="0"/>
                      </a:endParaRPr>
                    </a:p>
                  </a:txBody>
                  <a:tcPr marL="63500" marR="635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2C2C2C"/>
                          </a:solidFill>
                          <a:latin typeface="Adobe Clean" pitchFamily="34" charset="0"/>
                          <a:ea typeface="Adobe Clean" pitchFamily="34" charset="-122"/>
                          <a:cs typeface="Adobe Clean" pitchFamily="34" charset="-120"/>
                        </a:rPr>
                        <a:t> GRPO + grammar</a:t>
                      </a:r>
                      <a:endParaRPr lang="en-US" sz="1150" dirty="0">
                        <a:latin typeface="Adobe Clean" charset="0"/>
                        <a:ea typeface="Adobe Clean" charset="0"/>
                        <a:cs typeface="Adobe Clean" charset="0"/>
                      </a:endParaRPr>
                    </a:p>
                  </a:txBody>
                  <a:tcPr marL="63500" marR="635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C2C2C"/>
                          </a:solidFill>
                          <a:latin typeface="Adobe Clean" pitchFamily="34" charset="0"/>
                          <a:ea typeface="Adobe Clean" pitchFamily="34" charset="-122"/>
                          <a:cs typeface="Adobe Clean" pitchFamily="34" charset="-120"/>
                        </a:rPr>
                        <a:t>4%</a:t>
                      </a:r>
                      <a:endParaRPr lang="en-US" sz="1150" dirty="0">
                        <a:latin typeface="Adobe Clean" charset="0"/>
                        <a:ea typeface="Adobe Clean" charset="0"/>
                        <a:cs typeface="Adobe Clean" charset="0"/>
                      </a:endParaRPr>
                    </a:p>
                  </a:txBody>
                  <a:tcPr marL="63500" marR="635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C2C2C"/>
                          </a:solidFill>
                          <a:latin typeface="Adobe Clean" pitchFamily="34" charset="0"/>
                          <a:ea typeface="Adobe Clean" pitchFamily="34" charset="-122"/>
                          <a:cs typeface="Adobe Clean" pitchFamily="34" charset="-120"/>
                        </a:rPr>
                        <a:t>0.42</a:t>
                      </a:r>
                      <a:endParaRPr lang="en-US" sz="1150" dirty="0">
                        <a:latin typeface="Adobe Clean" charset="0"/>
                        <a:ea typeface="Adobe Clean" charset="0"/>
                        <a:cs typeface="Adobe Clean" charset="0"/>
                      </a:endParaRPr>
                    </a:p>
                  </a:txBody>
                  <a:tcPr marL="63500" marR="635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C2C2C"/>
                          </a:solidFill>
                          <a:latin typeface="Adobe Clean" pitchFamily="34" charset="0"/>
                          <a:ea typeface="Adobe Clean" pitchFamily="34" charset="-122"/>
                          <a:cs typeface="Adobe Clean" pitchFamily="34" charset="-120"/>
                        </a:rPr>
                        <a:t>1.53</a:t>
                      </a:r>
                      <a:endParaRPr lang="en-US" sz="1150" dirty="0">
                        <a:latin typeface="Adobe Clean" charset="0"/>
                        <a:ea typeface="Adobe Clean" charset="0"/>
                        <a:cs typeface="Adobe Clean" charset="0"/>
                      </a:endParaRPr>
                    </a:p>
                  </a:txBody>
                  <a:tcPr marL="63500" marR="635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r>
              <a:tr h="566928">
                <a:tc>
                  <a:txBody>
                    <a:bodyPr/>
                    <a:lstStyle/>
                    <a:p>
                      <a:pPr algn="l" indent="0" marL="0">
                        <a:buNone/>
                      </a:pPr>
                      <a:r>
                        <a:rPr lang="en-US" sz="1150" b="1" dirty="0">
                          <a:solidFill>
                            <a:srgbClr val="2C2C2C"/>
                          </a:solidFill>
                          <a:latin typeface="Adobe Clean" pitchFamily="34" charset="0"/>
                          <a:ea typeface="Adobe Clean" pitchFamily="34" charset="-122"/>
                          <a:cs typeface="Adobe Clean" pitchFamily="34" charset="-120"/>
                        </a:rPr>
                        <a:t> GRPO + critical-member</a:t>
                      </a:r>
                      <a:endParaRPr lang="en-US" sz="1150" dirty="0">
                        <a:latin typeface="Adobe Clean" charset="0"/>
                        <a:ea typeface="Adobe Clean" charset="0"/>
                        <a:cs typeface="Adobe Clean" charset="0"/>
                      </a:endParaRPr>
                    </a:p>
                  </a:txBody>
                  <a:tcPr marL="63500" marR="635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EAF6EE"/>
                    </a:solidFill>
                  </a:tcPr>
                </a:tc>
                <a:tc>
                  <a:txBody>
                    <a:bodyPr/>
                    <a:lstStyle/>
                    <a:p>
                      <a:pPr algn="l" indent="0" marL="0">
                        <a:buNone/>
                      </a:pPr>
                      <a:r>
                        <a:rPr lang="en-US" sz="1150" b="1" dirty="0">
                          <a:solidFill>
                            <a:srgbClr val="EB1000"/>
                          </a:solidFill>
                          <a:latin typeface="Adobe Clean ExtraBold" pitchFamily="34" charset="0"/>
                          <a:ea typeface="Adobe Clean ExtraBold" pitchFamily="34" charset="-122"/>
                          <a:cs typeface="Adobe Clean ExtraBold" pitchFamily="34" charset="-120"/>
                        </a:rPr>
                        <a:t>68%</a:t>
                      </a:r>
                      <a:endParaRPr lang="en-US" sz="1150" dirty="0">
                        <a:latin typeface="Adobe Clean ExtraBold" charset="0"/>
                        <a:ea typeface="Adobe Clean ExtraBold" charset="0"/>
                        <a:cs typeface="Adobe Clean ExtraBold" charset="0"/>
                      </a:endParaRPr>
                    </a:p>
                  </a:txBody>
                  <a:tcPr marL="63500" marR="635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EAF6EE"/>
                    </a:solidFill>
                  </a:tcPr>
                </a:tc>
                <a:tc>
                  <a:txBody>
                    <a:bodyPr/>
                    <a:lstStyle/>
                    <a:p>
                      <a:pPr algn="l" indent="0" marL="0">
                        <a:buNone/>
                      </a:pPr>
                      <a:r>
                        <a:rPr lang="en-US" sz="1150" dirty="0">
                          <a:solidFill>
                            <a:srgbClr val="2C2C2C"/>
                          </a:solidFill>
                          <a:latin typeface="Adobe Clean" pitchFamily="34" charset="0"/>
                          <a:ea typeface="Adobe Clean" pitchFamily="34" charset="-122"/>
                          <a:cs typeface="Adobe Clean" pitchFamily="34" charset="-120"/>
                        </a:rPr>
                        <a:t>0.67</a:t>
                      </a:r>
                      <a:endParaRPr lang="en-US" sz="1150" dirty="0">
                        <a:latin typeface="Adobe Clean" charset="0"/>
                        <a:ea typeface="Adobe Clean" charset="0"/>
                        <a:cs typeface="Adobe Clean" charset="0"/>
                      </a:endParaRPr>
                    </a:p>
                  </a:txBody>
                  <a:tcPr marL="63500" marR="635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EAF6EE"/>
                    </a:solidFill>
                  </a:tcPr>
                </a:tc>
                <a:tc>
                  <a:txBody>
                    <a:bodyPr/>
                    <a:lstStyle/>
                    <a:p>
                      <a:pPr algn="l" indent="0" marL="0">
                        <a:buNone/>
                      </a:pPr>
                      <a:r>
                        <a:rPr lang="en-US" sz="1150" dirty="0">
                          <a:solidFill>
                            <a:srgbClr val="2C2C2C"/>
                          </a:solidFill>
                          <a:latin typeface="Adobe Clean" pitchFamily="34" charset="0"/>
                          <a:ea typeface="Adobe Clean" pitchFamily="34" charset="-122"/>
                          <a:cs typeface="Adobe Clean" pitchFamily="34" charset="-120"/>
                        </a:rPr>
                        <a:t>1.38–1.63</a:t>
                      </a:r>
                      <a:endParaRPr lang="en-US" sz="1150" dirty="0">
                        <a:latin typeface="Adobe Clean" charset="0"/>
                        <a:ea typeface="Adobe Clean" charset="0"/>
                        <a:cs typeface="Adobe Clean" charset="0"/>
                      </a:endParaRPr>
                    </a:p>
                  </a:txBody>
                  <a:tcPr marL="63500" marR="635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EAF6EE"/>
                    </a:solidFill>
                  </a:tcPr>
                </a:tc>
              </a:tr>
              <a:tr h="457200">
                <a:tc>
                  <a:txBody>
                    <a:bodyPr/>
                    <a:lstStyle/>
                    <a:p>
                      <a:pPr algn="l" indent="0" marL="0">
                        <a:buNone/>
                      </a:pPr>
                      <a:r>
                        <a:rPr lang="en-US" sz="1150" dirty="0">
                          <a:solidFill>
                            <a:srgbClr val="2C2C2C"/>
                          </a:solidFill>
                          <a:latin typeface="Adobe Clean" pitchFamily="34" charset="0"/>
                          <a:ea typeface="Adobe Clean" pitchFamily="34" charset="-122"/>
                          <a:cs typeface="Adobe Clean" pitchFamily="34" charset="-120"/>
                        </a:rPr>
                        <a:t> GRPO + critical + mass</a:t>
                      </a:r>
                      <a:endParaRPr lang="en-US" sz="1150" dirty="0">
                        <a:latin typeface="Adobe Clean" charset="0"/>
                        <a:ea typeface="Adobe Clean" charset="0"/>
                        <a:cs typeface="Adobe Clean" charset="0"/>
                      </a:endParaRPr>
                    </a:p>
                  </a:txBody>
                  <a:tcPr marL="63500" marR="635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B26B00"/>
                          </a:solidFill>
                          <a:latin typeface="Adobe Clean" pitchFamily="34" charset="0"/>
                          <a:ea typeface="Adobe Clean" pitchFamily="34" charset="-122"/>
                          <a:cs typeface="Adobe Clean" pitchFamily="34" charset="-120"/>
                        </a:rPr>
                        <a:t>52%</a:t>
                      </a:r>
                      <a:endParaRPr lang="en-US" sz="1150" dirty="0">
                        <a:latin typeface="Adobe Clean" charset="0"/>
                        <a:ea typeface="Adobe Clean" charset="0"/>
                        <a:cs typeface="Adobe Clean" charset="0"/>
                      </a:endParaRPr>
                    </a:p>
                  </a:txBody>
                  <a:tcPr marL="63500" marR="635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C2C2C"/>
                          </a:solidFill>
                          <a:latin typeface="Adobe Clean" pitchFamily="34" charset="0"/>
                          <a:ea typeface="Adobe Clean" pitchFamily="34" charset="-122"/>
                          <a:cs typeface="Adobe Clean" pitchFamily="34" charset="-120"/>
                        </a:rPr>
                        <a:t>0.67</a:t>
                      </a:r>
                      <a:endParaRPr lang="en-US" sz="1150" dirty="0">
                        <a:latin typeface="Adobe Clean" charset="0"/>
                        <a:ea typeface="Adobe Clean" charset="0"/>
                        <a:cs typeface="Adobe Clean" charset="0"/>
                      </a:endParaRPr>
                    </a:p>
                  </a:txBody>
                  <a:tcPr marL="63500" marR="635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C2C2C"/>
                          </a:solidFill>
                          <a:latin typeface="Adobe Clean" pitchFamily="34" charset="0"/>
                          <a:ea typeface="Adobe Clean" pitchFamily="34" charset="-122"/>
                          <a:cs typeface="Adobe Clean" pitchFamily="34" charset="-120"/>
                        </a:rPr>
                        <a:t>1.50</a:t>
                      </a:r>
                      <a:endParaRPr lang="en-US" sz="1150" dirty="0">
                        <a:latin typeface="Adobe Clean" charset="0"/>
                        <a:ea typeface="Adobe Clean" charset="0"/>
                        <a:cs typeface="Adobe Clean" charset="0"/>
                      </a:endParaRPr>
                    </a:p>
                  </a:txBody>
                  <a:tcPr marL="63500" marR="63500" marT="25400" marB="25400" anchor="ctr">
                    <a:lnL w="12700" cap="flat" cmpd="sng" algn="ctr">
                      <a:solidFill>
                        <a:srgbClr val="D9DEE6"/>
                      </a:solidFill>
                      <a:prstDash val="solid"/>
                      <a:round/>
                      <a:headEnd type="none" w="med" len="med"/>
                      <a:tailEnd type="none" w="med" len="med"/>
                    </a:lnL>
                    <a:lnR w="12700" cap="flat" cmpd="sng" algn="ctr">
                      <a:solidFill>
                        <a:srgbClr val="D9DEE6"/>
                      </a:solidFill>
                      <a:prstDash val="solid"/>
                      <a:round/>
                      <a:headEnd type="none" w="med" len="med"/>
                      <a:tailEnd type="none" w="med" len="med"/>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solidFill>
                      <a:srgbClr val="FFFFFF"/>
                    </a:solidFill>
                  </a:tcPr>
                </a:tc>
              </a:tr>
            </a:tbl>
          </a:graphicData>
        </a:graphic>
      </p:graphicFrame>
      <p:sp>
        <p:nvSpPr>
          <p:cNvPr id="7" name="Shape 3"/>
          <p:cNvSpPr/>
          <p:nvPr/>
        </p:nvSpPr>
        <p:spPr>
          <a:xfrm>
            <a:off x="6126480" y="5074920"/>
            <a:ext cx="5486400" cy="685800"/>
          </a:xfrm>
          <a:prstGeom prst="roundRect">
            <a:avLst>
              <a:gd name="adj" fmla="val 13333"/>
            </a:avLst>
          </a:prstGeom>
          <a:solidFill>
            <a:srgbClr val="F4F5F7"/>
          </a:solidFill>
          <a:ln w="12700">
            <a:solidFill>
              <a:srgbClr val="D9DEE6"/>
            </a:solidFill>
            <a:prstDash val="solid"/>
          </a:ln>
        </p:spPr>
      </p:sp>
      <p:sp>
        <p:nvSpPr>
          <p:cNvPr id="8" name="Text 4"/>
          <p:cNvSpPr/>
          <p:nvPr/>
        </p:nvSpPr>
        <p:spPr>
          <a:xfrm>
            <a:off x="6345936" y="5239512"/>
            <a:ext cx="5047488" cy="393192"/>
          </a:xfrm>
          <a:prstGeom prst="rect">
            <a:avLst/>
          </a:prstGeom>
          <a:noFill/>
          <a:ln/>
        </p:spPr>
        <p:txBody>
          <a:bodyPr wrap="square" lIns="0" tIns="0" rIns="0" bIns="0" rtlCol="0" anchor="ctr"/>
          <a:lstStyle/>
          <a:p>
            <a:pPr algn="l" indent="0" marL="0">
              <a:lnSpc>
                <a:spcPct val="112000"/>
              </a:lnSpc>
              <a:spcAft>
                <a:spcPts val="500"/>
              </a:spcAft>
              <a:buNone/>
            </a:pPr>
            <a:r>
              <a:rPr lang="en-US" sz="1200" dirty="0">
                <a:solidFill>
                  <a:srgbClr val="21304A"/>
                </a:solidFill>
                <a:latin typeface="Adobe Clean ExtraBold" pitchFamily="34" charset="0"/>
                <a:ea typeface="Adobe Clean ExtraBold" pitchFamily="34" charset="-122"/>
                <a:cs typeface="Adobe Clean ExtraBold" pitchFamily="34" charset="-120"/>
              </a:rPr>
              <a:t>These are 25-problem numbers </a:t>
            </a:r>
            <a:pPr algn="l" indent="0" marL="0">
              <a:lnSpc>
                <a:spcPct val="112000"/>
              </a:lnSpc>
              <a:spcAft>
                <a:spcPts val="500"/>
              </a:spcAft>
              <a:buNone/>
            </a:pPr>
            <a:r>
              <a:rPr lang="en-US" sz="1200" dirty="0">
                <a:solidFill>
                  <a:srgbClr val="2C2C2C"/>
                </a:solidFill>
                <a:latin typeface="Adobe Clean" pitchFamily="34" charset="0"/>
                <a:ea typeface="Adobe Clean" pitchFamily="34" charset="-122"/>
                <a:cs typeface="Adobe Clean" pitchFamily="34" charset="-120"/>
              </a:rPr>
              <a:t>and carry about ±8%. A 50-problem robust eval of the champion is in flight.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64240" cy="676656"/>
          </a:xfrm>
          <a:prstGeom prst="rect">
            <a:avLst/>
          </a:prstGeom>
          <a:noFill/>
          <a:ln/>
        </p:spPr>
        <p:txBody>
          <a:bodyPr wrap="square" lIns="0" tIns="0" rIns="0" bIns="0" rtlCol="0" anchor="t"/>
          <a:lstStyle/>
          <a:p>
            <a:pPr algn="l" indent="0" marL="0">
              <a:buNone/>
            </a:pPr>
            <a:r>
              <a:rPr lang="en-US" sz="2800" dirty="0">
                <a:solidFill>
                  <a:srgbClr val="EB1000"/>
                </a:solidFill>
                <a:latin typeface="Adobe Clean ExtraBold" pitchFamily="34" charset="0"/>
                <a:ea typeface="Adobe Clean ExtraBold" pitchFamily="34" charset="-122"/>
                <a:cs typeface="Adobe Clean ExtraBold" pitchFamily="34" charset="-120"/>
              </a:rPr>
              <a:t>Grammar Success and FOS</a:t>
            </a:r>
            <a:endParaRPr lang="en-US" sz="2800" dirty="0"/>
          </a:p>
        </p:txBody>
      </p:sp>
      <p:sp>
        <p:nvSpPr>
          <p:cNvPr id="3" name="Text 1"/>
          <p:cNvSpPr/>
          <p:nvPr/>
        </p:nvSpPr>
        <p:spPr>
          <a:xfrm>
            <a:off x="566928" y="1060704"/>
            <a:ext cx="11064240" cy="384048"/>
          </a:xfrm>
          <a:prstGeom prst="rect">
            <a:avLst/>
          </a:prstGeom>
          <a:noFill/>
          <a:ln/>
        </p:spPr>
        <p:txBody>
          <a:bodyPr wrap="square" lIns="0" tIns="0" rIns="0" bIns="0" rtlCol="0" anchor="t"/>
          <a:lstStyle/>
          <a:p>
            <a:pPr algn="l" indent="0" marL="0">
              <a:buNone/>
            </a:pPr>
            <a:r>
              <a:rPr lang="en-US" sz="1450" dirty="0">
                <a:solidFill>
                  <a:srgbClr val="5A6473"/>
                </a:solidFill>
                <a:latin typeface="Adobe Clean" pitchFamily="34" charset="0"/>
                <a:ea typeface="Adobe Clean" pitchFamily="34" charset="-122"/>
                <a:cs typeface="Adobe Clean" pitchFamily="34" charset="-120"/>
              </a:rPr>
              <a:t>The warmstart formats perfectly but solves nothing. Training trades some format for large strength gains.</a:t>
            </a:r>
            <a:endParaRPr lang="en-US" sz="1450" dirty="0"/>
          </a:p>
        </p:txBody>
      </p:sp>
      <p:sp>
        <p:nvSpPr>
          <p:cNvPr id="4" name="Text 2"/>
          <p:cNvSpPr/>
          <p:nvPr/>
        </p:nvSpPr>
        <p:spPr>
          <a:xfrm>
            <a:off x="566928" y="1664208"/>
            <a:ext cx="5120640" cy="274320"/>
          </a:xfrm>
          <a:prstGeom prst="rect">
            <a:avLst/>
          </a:prstGeom>
          <a:noFill/>
          <a:ln/>
        </p:spPr>
        <p:txBody>
          <a:bodyPr wrap="square" lIns="0" tIns="0" rIns="0" bIns="0" rtlCol="0" anchor="t"/>
          <a:lstStyle/>
          <a:p>
            <a:pPr algn="l" indent="0" marL="0">
              <a:buNone/>
            </a:pPr>
            <a:r>
              <a:rPr lang="en-US" sz="1300" dirty="0">
                <a:solidFill>
                  <a:srgbClr val="21304A"/>
                </a:solidFill>
                <a:latin typeface="Adobe Clean ExtraBold" pitchFamily="34" charset="0"/>
                <a:ea typeface="Adobe Clean ExtraBold" pitchFamily="34" charset="-122"/>
                <a:cs typeface="Adobe Clean ExtraBold" pitchFamily="34" charset="-120"/>
              </a:rPr>
              <a:t>Grammar success</a:t>
            </a:r>
            <a:endParaRPr lang="en-US" sz="1300" dirty="0"/>
          </a:p>
        </p:txBody>
      </p:sp>
      <p:graphicFrame>
        <p:nvGraphicFramePr>
          <p:cNvPr id="5" name="Chart 0" descr=""/>
          <p:cNvGraphicFramePr/>
          <p:nvPr/>
        </p:nvGraphicFramePr>
        <p:xfrm>
          <a:off x="566928" y="2011680"/>
          <a:ext cx="5212080" cy="33832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19088" y="1664208"/>
            <a:ext cx="5120640" cy="274320"/>
          </a:xfrm>
          <a:prstGeom prst="rect">
            <a:avLst/>
          </a:prstGeom>
          <a:noFill/>
          <a:ln/>
        </p:spPr>
        <p:txBody>
          <a:bodyPr wrap="square" lIns="0" tIns="0" rIns="0" bIns="0" rtlCol="0" anchor="t"/>
          <a:lstStyle/>
          <a:p>
            <a:pPr algn="l" indent="0" marL="0">
              <a:buNone/>
            </a:pPr>
            <a:r>
              <a:rPr lang="en-US" sz="1300" dirty="0">
                <a:solidFill>
                  <a:srgbClr val="21304A"/>
                </a:solidFill>
                <a:latin typeface="Adobe Clean ExtraBold" pitchFamily="34" charset="0"/>
                <a:ea typeface="Adobe Clean ExtraBold" pitchFamily="34" charset="-122"/>
                <a:cs typeface="Adobe Clean ExtraBold" pitchFamily="34" charset="-120"/>
              </a:rPr>
              <a:t>Mean FOS_buckling</a:t>
            </a:r>
            <a:endParaRPr lang="en-US" sz="1300" dirty="0"/>
          </a:p>
        </p:txBody>
      </p:sp>
      <p:graphicFrame>
        <p:nvGraphicFramePr>
          <p:cNvPr id="7" name="Chart 1" descr=""/>
          <p:cNvGraphicFramePr/>
          <p:nvPr/>
        </p:nvGraphicFramePr>
        <p:xfrm>
          <a:off x="6419088" y="2011680"/>
          <a:ext cx="5212080" cy="338328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6766560" y="2924251"/>
            <a:ext cx="4736592" cy="0"/>
          </a:xfrm>
          <a:prstGeom prst="line">
            <a:avLst/>
          </a:prstGeom>
          <a:noFill/>
          <a:ln w="22225">
            <a:solidFill>
              <a:srgbClr val="21304A"/>
            </a:solidFill>
            <a:prstDash val="dash"/>
          </a:ln>
        </p:spPr>
      </p:sp>
      <p:sp>
        <p:nvSpPr>
          <p:cNvPr id="9" name="Shape 5"/>
          <p:cNvSpPr/>
          <p:nvPr/>
        </p:nvSpPr>
        <p:spPr>
          <a:xfrm>
            <a:off x="566928" y="5486400"/>
            <a:ext cx="11064240" cy="502920"/>
          </a:xfrm>
          <a:prstGeom prst="roundRect">
            <a:avLst>
              <a:gd name="adj" fmla="val 18182"/>
            </a:avLst>
          </a:prstGeom>
          <a:solidFill>
            <a:srgbClr val="EEF1F6"/>
          </a:solidFill>
          <a:ln w="12700">
            <a:solidFill>
              <a:srgbClr val="D9DEE6"/>
            </a:solidFill>
            <a:prstDash val="solid"/>
          </a:ln>
        </p:spPr>
      </p:sp>
      <p:sp>
        <p:nvSpPr>
          <p:cNvPr id="10" name="Text 6"/>
          <p:cNvSpPr/>
          <p:nvPr/>
        </p:nvSpPr>
        <p:spPr>
          <a:xfrm>
            <a:off x="786384" y="5650992"/>
            <a:ext cx="10625328" cy="210312"/>
          </a:xfrm>
          <a:prstGeom prst="rect">
            <a:avLst/>
          </a:prstGeom>
          <a:noFill/>
          <a:ln/>
        </p:spPr>
        <p:txBody>
          <a:bodyPr wrap="square" lIns="0" tIns="0" rIns="0" bIns="0" rtlCol="0" anchor="ctr"/>
          <a:lstStyle/>
          <a:p>
            <a:pPr algn="l" indent="0" marL="0">
              <a:lnSpc>
                <a:spcPct val="112000"/>
              </a:lnSpc>
              <a:spcAft>
                <a:spcPts val="500"/>
              </a:spcAft>
              <a:buNone/>
            </a:pPr>
            <a:r>
              <a:rPr lang="en-US" sz="1200" dirty="0">
                <a:solidFill>
                  <a:srgbClr val="21304A"/>
                </a:solidFill>
                <a:latin typeface="Adobe Clean ExtraBold" pitchFamily="34" charset="0"/>
                <a:ea typeface="Adobe Clean ExtraBold" pitchFamily="34" charset="-122"/>
                <a:cs typeface="Adobe Clean ExtraBold" pitchFamily="34" charset="-120"/>
              </a:rPr>
              <a:t>The trade is a knob, not a law.  </a:t>
            </a:r>
            <a:pPr algn="l" indent="0" marL="0">
              <a:lnSpc>
                <a:spcPct val="112000"/>
              </a:lnSpc>
              <a:spcAft>
                <a:spcPts val="500"/>
              </a:spcAft>
              <a:buNone/>
            </a:pPr>
            <a:r>
              <a:rPr lang="en-US" sz="1200" dirty="0">
                <a:solidFill>
                  <a:srgbClr val="2C2C2C"/>
                </a:solidFill>
                <a:latin typeface="Adobe Clean" pitchFamily="34" charset="0"/>
                <a:ea typeface="Adobe Clean" pitchFamily="34" charset="-122"/>
                <a:cs typeface="Adobe Clean" pitchFamily="34" charset="-120"/>
              </a:rPr>
              <a:t>Training drifts to about 0.45 to 0.67 grammar for the strength gains. Grammar drift wastes about a third of turns, which a format-protecting constraint could fix (see the roadmap).</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64240" cy="676656"/>
          </a:xfrm>
          <a:prstGeom prst="rect">
            <a:avLst/>
          </a:prstGeom>
          <a:noFill/>
          <a:ln/>
        </p:spPr>
        <p:txBody>
          <a:bodyPr wrap="square" lIns="0" tIns="0" rIns="0" bIns="0" rtlCol="0" anchor="t"/>
          <a:lstStyle/>
          <a:p>
            <a:pPr algn="l" indent="0" marL="0">
              <a:buNone/>
            </a:pPr>
            <a:r>
              <a:rPr lang="en-US" sz="2800" dirty="0">
                <a:solidFill>
                  <a:srgbClr val="EB1000"/>
                </a:solidFill>
                <a:latin typeface="Adobe Clean ExtraBold" pitchFamily="34" charset="0"/>
                <a:ea typeface="Adobe Clean ExtraBold" pitchFamily="34" charset="-122"/>
                <a:cs typeface="Adobe Clean ExtraBold" pitchFamily="34" charset="-120"/>
              </a:rPr>
              <a:t>The Information Bottleneck</a:t>
            </a:r>
            <a:endParaRPr lang="en-US" sz="2800" dirty="0"/>
          </a:p>
        </p:txBody>
      </p:sp>
      <p:sp>
        <p:nvSpPr>
          <p:cNvPr id="3" name="Text 1"/>
          <p:cNvSpPr/>
          <p:nvPr/>
        </p:nvSpPr>
        <p:spPr>
          <a:xfrm>
            <a:off x="566928" y="1060704"/>
            <a:ext cx="11064240" cy="384048"/>
          </a:xfrm>
          <a:prstGeom prst="rect">
            <a:avLst/>
          </a:prstGeom>
          <a:noFill/>
          <a:ln/>
        </p:spPr>
        <p:txBody>
          <a:bodyPr wrap="square" lIns="0" tIns="0" rIns="0" bIns="0" rtlCol="0" anchor="t"/>
          <a:lstStyle/>
          <a:p>
            <a:pPr algn="l" indent="0" marL="0">
              <a:buNone/>
            </a:pPr>
            <a:r>
              <a:rPr lang="en-US" sz="1450" dirty="0">
                <a:solidFill>
                  <a:srgbClr val="5A6473"/>
                </a:solidFill>
                <a:latin typeface="Adobe Clean" pitchFamily="34" charset="0"/>
                <a:ea typeface="Adobe Clean" pitchFamily="34" charset="-122"/>
                <a:cs typeface="Adobe Clean" pitchFamily="34" charset="-120"/>
              </a:rPr>
              <a:t>A strong model that can see the failing member solves the task with no reinforcement learning.</a:t>
            </a:r>
            <a:endParaRPr lang="en-US" sz="1450" dirty="0"/>
          </a:p>
        </p:txBody>
      </p:sp>
      <p:sp>
        <p:nvSpPr>
          <p:cNvPr id="4" name="Shape 2"/>
          <p:cNvSpPr/>
          <p:nvPr/>
        </p:nvSpPr>
        <p:spPr>
          <a:xfrm>
            <a:off x="525780" y="1828800"/>
            <a:ext cx="3456432" cy="2240280"/>
          </a:xfrm>
          <a:prstGeom prst="roundRect">
            <a:avLst>
              <a:gd name="adj" fmla="val 4898"/>
            </a:avLst>
          </a:prstGeom>
          <a:solidFill>
            <a:srgbClr val="F4F5F7"/>
          </a:solidFill>
          <a:ln w="12700">
            <a:solidFill>
              <a:srgbClr val="D9DEE6"/>
            </a:solidFill>
            <a:prstDash val="solid"/>
          </a:ln>
        </p:spPr>
      </p:sp>
      <p:sp>
        <p:nvSpPr>
          <p:cNvPr id="5" name="Text 3"/>
          <p:cNvSpPr/>
          <p:nvPr/>
        </p:nvSpPr>
        <p:spPr>
          <a:xfrm>
            <a:off x="617220" y="2084832"/>
            <a:ext cx="3273552" cy="960120"/>
          </a:xfrm>
          <a:prstGeom prst="rect">
            <a:avLst/>
          </a:prstGeom>
          <a:noFill/>
          <a:ln/>
        </p:spPr>
        <p:txBody>
          <a:bodyPr wrap="square" lIns="0" tIns="0" rIns="0" bIns="0" rtlCol="0" anchor="ctr"/>
          <a:lstStyle/>
          <a:p>
            <a:pPr algn="ctr" indent="0" marL="0">
              <a:buNone/>
            </a:pPr>
            <a:r>
              <a:rPr lang="en-US" sz="5800" dirty="0">
                <a:solidFill>
                  <a:srgbClr val="1E8449"/>
                </a:solidFill>
                <a:latin typeface="Adobe Clean ExtraBold" pitchFamily="34" charset="0"/>
                <a:ea typeface="Adobe Clean ExtraBold" pitchFamily="34" charset="-122"/>
                <a:cs typeface="Adobe Clean ExtraBold" pitchFamily="34" charset="-120"/>
              </a:rPr>
              <a:t>4 / 6</a:t>
            </a:r>
            <a:endParaRPr lang="en-US" sz="5800" dirty="0"/>
          </a:p>
        </p:txBody>
      </p:sp>
      <p:sp>
        <p:nvSpPr>
          <p:cNvPr id="6" name="Text 4"/>
          <p:cNvSpPr/>
          <p:nvPr/>
        </p:nvSpPr>
        <p:spPr>
          <a:xfrm>
            <a:off x="690372" y="3108960"/>
            <a:ext cx="3127248" cy="822960"/>
          </a:xfrm>
          <a:prstGeom prst="rect">
            <a:avLst/>
          </a:prstGeom>
          <a:noFill/>
          <a:ln/>
        </p:spPr>
        <p:txBody>
          <a:bodyPr wrap="square" lIns="0" tIns="0" rIns="0" bIns="0" rtlCol="0" anchor="t"/>
          <a:lstStyle/>
          <a:p>
            <a:pPr algn="ctr" indent="0" marL="0">
              <a:lnSpc>
                <a:spcPct val="110000"/>
              </a:lnSpc>
              <a:buNone/>
            </a:pPr>
            <a:r>
              <a:rPr lang="en-US" sz="1250" dirty="0">
                <a:solidFill>
                  <a:srgbClr val="5A6473"/>
                </a:solidFill>
                <a:latin typeface="Adobe Clean" pitchFamily="34" charset="0"/>
                <a:ea typeface="Adobe Clean" pitchFamily="34" charset="-122"/>
                <a:cs typeface="Adobe Clean" pitchFamily="34" charset="-120"/>
              </a:rPr>
              <a:t>strong model told the</a:t>
            </a:r>
            <a:endParaRPr lang="en-US" sz="1250" dirty="0"/>
          </a:p>
          <a:p>
            <a:pPr algn="ctr" indent="0" marL="0">
              <a:lnSpc>
                <a:spcPct val="110000"/>
              </a:lnSpc>
              <a:buNone/>
            </a:pPr>
            <a:r>
              <a:rPr lang="en-US" sz="1250" dirty="0">
                <a:solidFill>
                  <a:srgbClr val="5A6473"/>
                </a:solidFill>
                <a:latin typeface="Adobe Clean" pitchFamily="34" charset="0"/>
                <a:ea typeface="Adobe Clean" pitchFamily="34" charset="-122"/>
                <a:cs typeface="Adobe Clean" pitchFamily="34" charset="-120"/>
              </a:rPr>
              <a:t>failing member, no training</a:t>
            </a:r>
            <a:endParaRPr lang="en-US" sz="1250" dirty="0"/>
          </a:p>
        </p:txBody>
      </p:sp>
      <p:sp>
        <p:nvSpPr>
          <p:cNvPr id="7" name="Shape 5"/>
          <p:cNvSpPr/>
          <p:nvPr/>
        </p:nvSpPr>
        <p:spPr>
          <a:xfrm>
            <a:off x="4366260" y="1828800"/>
            <a:ext cx="3456432" cy="2240280"/>
          </a:xfrm>
          <a:prstGeom prst="roundRect">
            <a:avLst>
              <a:gd name="adj" fmla="val 4898"/>
            </a:avLst>
          </a:prstGeom>
          <a:solidFill>
            <a:srgbClr val="F4F5F7"/>
          </a:solidFill>
          <a:ln w="12700">
            <a:solidFill>
              <a:srgbClr val="D9DEE6"/>
            </a:solidFill>
            <a:prstDash val="solid"/>
          </a:ln>
        </p:spPr>
      </p:sp>
      <p:sp>
        <p:nvSpPr>
          <p:cNvPr id="8" name="Text 6"/>
          <p:cNvSpPr/>
          <p:nvPr/>
        </p:nvSpPr>
        <p:spPr>
          <a:xfrm>
            <a:off x="4457700" y="2084832"/>
            <a:ext cx="3273552" cy="960120"/>
          </a:xfrm>
          <a:prstGeom prst="rect">
            <a:avLst/>
          </a:prstGeom>
          <a:noFill/>
          <a:ln/>
        </p:spPr>
        <p:txBody>
          <a:bodyPr wrap="square" lIns="0" tIns="0" rIns="0" bIns="0" rtlCol="0" anchor="ctr"/>
          <a:lstStyle/>
          <a:p>
            <a:pPr algn="ctr" indent="0" marL="0">
              <a:buNone/>
            </a:pPr>
            <a:r>
              <a:rPr lang="en-US" sz="5800" dirty="0">
                <a:solidFill>
                  <a:srgbClr val="EB1000"/>
                </a:solidFill>
                <a:latin typeface="Adobe Clean ExtraBold" pitchFamily="34" charset="0"/>
                <a:ea typeface="Adobe Clean ExtraBold" pitchFamily="34" charset="-122"/>
                <a:cs typeface="Adobe Clean ExtraBold" pitchFamily="34" charset="-120"/>
              </a:rPr>
              <a:t>0 / 6</a:t>
            </a:r>
            <a:endParaRPr lang="en-US" sz="5800" dirty="0"/>
          </a:p>
        </p:txBody>
      </p:sp>
      <p:sp>
        <p:nvSpPr>
          <p:cNvPr id="9" name="Text 7"/>
          <p:cNvSpPr/>
          <p:nvPr/>
        </p:nvSpPr>
        <p:spPr>
          <a:xfrm>
            <a:off x="4530852" y="3108960"/>
            <a:ext cx="3127248" cy="822960"/>
          </a:xfrm>
          <a:prstGeom prst="rect">
            <a:avLst/>
          </a:prstGeom>
          <a:noFill/>
          <a:ln/>
        </p:spPr>
        <p:txBody>
          <a:bodyPr wrap="square" lIns="0" tIns="0" rIns="0" bIns="0" rtlCol="0" anchor="t"/>
          <a:lstStyle/>
          <a:p>
            <a:pPr algn="ctr" indent="0" marL="0">
              <a:lnSpc>
                <a:spcPct val="110000"/>
              </a:lnSpc>
              <a:buNone/>
            </a:pPr>
            <a:r>
              <a:rPr lang="en-US" sz="1250" dirty="0">
                <a:solidFill>
                  <a:srgbClr val="5A6473"/>
                </a:solidFill>
                <a:latin typeface="Adobe Clean" pitchFamily="34" charset="0"/>
                <a:ea typeface="Adobe Clean" pitchFamily="34" charset="-122"/>
                <a:cs typeface="Adobe Clean" pitchFamily="34" charset="-120"/>
              </a:rPr>
              <a:t>the same test, without</a:t>
            </a:r>
            <a:endParaRPr lang="en-US" sz="1250" dirty="0"/>
          </a:p>
          <a:p>
            <a:pPr algn="ctr" indent="0" marL="0">
              <a:lnSpc>
                <a:spcPct val="110000"/>
              </a:lnSpc>
              <a:buNone/>
            </a:pPr>
            <a:r>
              <a:rPr lang="en-US" sz="1250" dirty="0">
                <a:solidFill>
                  <a:srgbClr val="5A6473"/>
                </a:solidFill>
                <a:latin typeface="Adobe Clean" pitchFamily="34" charset="0"/>
                <a:ea typeface="Adobe Clean" pitchFamily="34" charset="-122"/>
                <a:cs typeface="Adobe Clean" pitchFamily="34" charset="-120"/>
              </a:rPr>
              <a:t>the failing member named</a:t>
            </a:r>
            <a:endParaRPr lang="en-US" sz="1250" dirty="0"/>
          </a:p>
        </p:txBody>
      </p:sp>
      <p:sp>
        <p:nvSpPr>
          <p:cNvPr id="10" name="Shape 8"/>
          <p:cNvSpPr/>
          <p:nvPr/>
        </p:nvSpPr>
        <p:spPr>
          <a:xfrm>
            <a:off x="8206740" y="1828800"/>
            <a:ext cx="3456432" cy="2240280"/>
          </a:xfrm>
          <a:prstGeom prst="roundRect">
            <a:avLst>
              <a:gd name="adj" fmla="val 4898"/>
            </a:avLst>
          </a:prstGeom>
          <a:solidFill>
            <a:srgbClr val="F4F5F7"/>
          </a:solidFill>
          <a:ln w="12700">
            <a:solidFill>
              <a:srgbClr val="D9DEE6"/>
            </a:solidFill>
            <a:prstDash val="solid"/>
          </a:ln>
        </p:spPr>
      </p:sp>
      <p:sp>
        <p:nvSpPr>
          <p:cNvPr id="11" name="Text 9"/>
          <p:cNvSpPr/>
          <p:nvPr/>
        </p:nvSpPr>
        <p:spPr>
          <a:xfrm>
            <a:off x="8298180" y="2084832"/>
            <a:ext cx="3273552" cy="960120"/>
          </a:xfrm>
          <a:prstGeom prst="rect">
            <a:avLst/>
          </a:prstGeom>
          <a:noFill/>
          <a:ln/>
        </p:spPr>
        <p:txBody>
          <a:bodyPr wrap="square" lIns="0" tIns="0" rIns="0" bIns="0" rtlCol="0" anchor="ctr"/>
          <a:lstStyle/>
          <a:p>
            <a:pPr algn="ctr" indent="0" marL="0">
              <a:buNone/>
            </a:pPr>
            <a:r>
              <a:rPr lang="en-US" sz="5800" dirty="0">
                <a:solidFill>
                  <a:srgbClr val="21304A"/>
                </a:solidFill>
                <a:latin typeface="Adobe Clean ExtraBold" pitchFamily="34" charset="0"/>
                <a:ea typeface="Adobe Clean ExtraBold" pitchFamily="34" charset="-122"/>
                <a:cs typeface="Adobe Clean ExtraBold" pitchFamily="34" charset="-120"/>
              </a:rPr>
              <a:t>2.12</a:t>
            </a:r>
            <a:endParaRPr lang="en-US" sz="5800" dirty="0"/>
          </a:p>
        </p:txBody>
      </p:sp>
      <p:sp>
        <p:nvSpPr>
          <p:cNvPr id="12" name="Text 10"/>
          <p:cNvSpPr/>
          <p:nvPr/>
        </p:nvSpPr>
        <p:spPr>
          <a:xfrm>
            <a:off x="8371332" y="3108960"/>
            <a:ext cx="3127248" cy="822960"/>
          </a:xfrm>
          <a:prstGeom prst="rect">
            <a:avLst/>
          </a:prstGeom>
          <a:noFill/>
          <a:ln/>
        </p:spPr>
        <p:txBody>
          <a:bodyPr wrap="square" lIns="0" tIns="0" rIns="0" bIns="0" rtlCol="0" anchor="t"/>
          <a:lstStyle/>
          <a:p>
            <a:pPr algn="ctr" indent="0" marL="0">
              <a:lnSpc>
                <a:spcPct val="110000"/>
              </a:lnSpc>
              <a:buNone/>
            </a:pPr>
            <a:r>
              <a:rPr lang="en-US" sz="1250" dirty="0">
                <a:solidFill>
                  <a:srgbClr val="5A6473"/>
                </a:solidFill>
                <a:latin typeface="Adobe Clean" pitchFamily="34" charset="0"/>
                <a:ea typeface="Adobe Clean" pitchFamily="34" charset="-122"/>
                <a:cs typeface="Adobe Clean" pitchFamily="34" charset="-120"/>
              </a:rPr>
              <a:t>best FOS from a short</a:t>
            </a:r>
            <a:endParaRPr lang="en-US" sz="1250" dirty="0"/>
          </a:p>
          <a:p>
            <a:pPr algn="ctr" indent="0" marL="0">
              <a:lnSpc>
                <a:spcPct val="110000"/>
              </a:lnSpc>
              <a:buNone/>
            </a:pPr>
            <a:r>
              <a:rPr lang="en-US" sz="1250" dirty="0">
                <a:solidFill>
                  <a:srgbClr val="5A6473"/>
                </a:solidFill>
                <a:latin typeface="Adobe Clean" pitchFamily="34" charset="0"/>
                <a:ea typeface="Adobe Clean" pitchFamily="34" charset="-122"/>
                <a:cs typeface="Adobe Clean" pitchFamily="34" charset="-120"/>
              </a:rPr>
              <a:t>search over edits</a:t>
            </a:r>
            <a:endParaRPr lang="en-US" sz="1250" dirty="0"/>
          </a:p>
        </p:txBody>
      </p:sp>
      <p:sp>
        <p:nvSpPr>
          <p:cNvPr id="13" name="Shape 11"/>
          <p:cNvSpPr/>
          <p:nvPr/>
        </p:nvSpPr>
        <p:spPr>
          <a:xfrm>
            <a:off x="525780" y="4434840"/>
            <a:ext cx="11137392" cy="1463040"/>
          </a:xfrm>
          <a:prstGeom prst="roundRect">
            <a:avLst>
              <a:gd name="adj" fmla="val 6250"/>
            </a:avLst>
          </a:prstGeom>
          <a:solidFill>
            <a:srgbClr val="EEF1F6"/>
          </a:solidFill>
          <a:ln w="12700">
            <a:solidFill>
              <a:srgbClr val="D9DEE6"/>
            </a:solidFill>
            <a:prstDash val="solid"/>
          </a:ln>
        </p:spPr>
      </p:sp>
      <p:sp>
        <p:nvSpPr>
          <p:cNvPr id="14" name="Text 12"/>
          <p:cNvSpPr/>
          <p:nvPr/>
        </p:nvSpPr>
        <p:spPr>
          <a:xfrm>
            <a:off x="745236" y="4599432"/>
            <a:ext cx="10698480" cy="384048"/>
          </a:xfrm>
          <a:prstGeom prst="rect">
            <a:avLst/>
          </a:prstGeom>
          <a:noFill/>
          <a:ln/>
        </p:spPr>
        <p:txBody>
          <a:bodyPr wrap="square" lIns="0" tIns="0" rIns="0" bIns="0" rtlCol="0" anchor="t"/>
          <a:lstStyle/>
          <a:p>
            <a:pPr algn="l" indent="0" marL="0">
              <a:buNone/>
            </a:pPr>
            <a:r>
              <a:rPr lang="en-US" sz="1600" dirty="0">
                <a:solidFill>
                  <a:srgbClr val="EB1000"/>
                </a:solidFill>
                <a:latin typeface="Adobe Clean ExtraBold" pitchFamily="34" charset="0"/>
                <a:ea typeface="Adobe Clean ExtraBold" pitchFamily="34" charset="-122"/>
                <a:cs typeface="Adobe Clean ExtraBold" pitchFamily="34" charset="-120"/>
              </a:rPr>
              <a:t>What this shows</a:t>
            </a:r>
            <a:endParaRPr lang="en-US" sz="1600" dirty="0"/>
          </a:p>
        </p:txBody>
      </p:sp>
      <p:sp>
        <p:nvSpPr>
          <p:cNvPr id="15" name="Text 13"/>
          <p:cNvSpPr/>
          <p:nvPr/>
        </p:nvSpPr>
        <p:spPr>
          <a:xfrm>
            <a:off x="745236" y="5020056"/>
            <a:ext cx="10698480" cy="749808"/>
          </a:xfrm>
          <a:prstGeom prst="rect">
            <a:avLst/>
          </a:prstGeom>
          <a:noFill/>
          <a:ln/>
        </p:spPr>
        <p:txBody>
          <a:bodyPr wrap="square" lIns="0" tIns="0" rIns="0" bIns="0" rtlCol="0" anchor="ctr"/>
          <a:lstStyle/>
          <a:p>
            <a:pPr algn="l" indent="0" marL="0">
              <a:lnSpc>
                <a:spcPct val="112000"/>
              </a:lnSpc>
              <a:spcAft>
                <a:spcPts val="500"/>
              </a:spcAft>
              <a:buNone/>
            </a:pPr>
            <a:r>
              <a:rPr lang="en-US" sz="1350" dirty="0">
                <a:solidFill>
                  <a:srgbClr val="21304A"/>
                </a:solidFill>
                <a:latin typeface="Adobe Clean ExtraBold" pitchFamily="34" charset="0"/>
                <a:ea typeface="Adobe Clean ExtraBold" pitchFamily="34" charset="-122"/>
                <a:cs typeface="Adobe Clean ExtraBold" pitchFamily="34" charset="-120"/>
              </a:rPr>
              <a:t>A strong model that can see the failing member solves the task with no training at all. </a:t>
            </a:r>
            <a:pPr algn="l" indent="0" marL="0">
              <a:lnSpc>
                <a:spcPct val="112000"/>
              </a:lnSpc>
              <a:spcAft>
                <a:spcPts val="500"/>
              </a:spcAft>
              <a:buNone/>
            </a:pPr>
            <a:r>
              <a:rPr lang="en-US" sz="1350" dirty="0">
                <a:solidFill>
                  <a:srgbClr val="2C2C2C"/>
                </a:solidFill>
                <a:latin typeface="Adobe Clean" pitchFamily="34" charset="0"/>
                <a:ea typeface="Adobe Clean" pitchFamily="34" charset="-122"/>
                <a:cs typeface="Adobe Clean" pitchFamily="34" charset="-120"/>
              </a:rPr>
              <a:t>The reasoning ability was always there. What the system lacked was the one piece of information that makes the problem easy. The training gains are real, but they are mostly the model finally being told what it needed to know.</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64240" cy="676656"/>
          </a:xfrm>
          <a:prstGeom prst="rect">
            <a:avLst/>
          </a:prstGeom>
          <a:noFill/>
          <a:ln/>
        </p:spPr>
        <p:txBody>
          <a:bodyPr wrap="square" lIns="0" tIns="0" rIns="0" bIns="0" rtlCol="0" anchor="t"/>
          <a:lstStyle/>
          <a:p>
            <a:pPr algn="l" indent="0" marL="0">
              <a:buNone/>
            </a:pPr>
            <a:r>
              <a:rPr lang="en-US" sz="2800" dirty="0">
                <a:solidFill>
                  <a:srgbClr val="EB1000"/>
                </a:solidFill>
                <a:latin typeface="Adobe Clean ExtraBold" pitchFamily="34" charset="0"/>
                <a:ea typeface="Adobe Clean ExtraBold" pitchFamily="34" charset="-122"/>
                <a:cs typeface="Adobe Clean ExtraBold" pitchFamily="34" charset="-120"/>
              </a:rPr>
              <a:t>One Evaluation Turn in Detail</a:t>
            </a:r>
            <a:endParaRPr lang="en-US" sz="2800" dirty="0"/>
          </a:p>
        </p:txBody>
      </p:sp>
      <p:sp>
        <p:nvSpPr>
          <p:cNvPr id="3" name="Text 1"/>
          <p:cNvSpPr/>
          <p:nvPr/>
        </p:nvSpPr>
        <p:spPr>
          <a:xfrm>
            <a:off x="566928" y="1060704"/>
            <a:ext cx="11064240" cy="384048"/>
          </a:xfrm>
          <a:prstGeom prst="rect">
            <a:avLst/>
          </a:prstGeom>
          <a:noFill/>
          <a:ln/>
        </p:spPr>
        <p:txBody>
          <a:bodyPr wrap="square" lIns="0" tIns="0" rIns="0" bIns="0" rtlCol="0" anchor="t"/>
          <a:lstStyle/>
          <a:p>
            <a:pPr algn="l" indent="0" marL="0">
              <a:buNone/>
            </a:pPr>
            <a:r>
              <a:rPr lang="en-US" sz="1450" dirty="0">
                <a:solidFill>
                  <a:srgbClr val="5A6473"/>
                </a:solidFill>
                <a:latin typeface="Adobe Clean" pitchFamily="34" charset="0"/>
                <a:ea typeface="Adobe Clean" pitchFamily="34" charset="-122"/>
                <a:cs typeface="Adobe Clean" pitchFamily="34" charset="-120"/>
              </a:rPr>
              <a:t>One turn from the champion model. The feedback now names the member that is about to buckle.</a:t>
            </a:r>
            <a:endParaRPr lang="en-US" sz="1450" dirty="0"/>
          </a:p>
        </p:txBody>
      </p:sp>
      <p:sp>
        <p:nvSpPr>
          <p:cNvPr id="4" name="Shape 2"/>
          <p:cNvSpPr/>
          <p:nvPr/>
        </p:nvSpPr>
        <p:spPr>
          <a:xfrm>
            <a:off x="566928" y="1783080"/>
            <a:ext cx="5623560" cy="3977640"/>
          </a:xfrm>
          <a:prstGeom prst="roundRect">
            <a:avLst>
              <a:gd name="adj" fmla="val 2299"/>
            </a:avLst>
          </a:prstGeom>
          <a:solidFill>
            <a:srgbClr val="F4F5F7"/>
          </a:solidFill>
          <a:ln w="12700">
            <a:solidFill>
              <a:srgbClr val="D9DEE6"/>
            </a:solidFill>
            <a:prstDash val="solid"/>
          </a:ln>
        </p:spPr>
      </p:sp>
      <p:sp>
        <p:nvSpPr>
          <p:cNvPr id="5" name="Text 3"/>
          <p:cNvSpPr/>
          <p:nvPr/>
        </p:nvSpPr>
        <p:spPr>
          <a:xfrm>
            <a:off x="804672" y="1929384"/>
            <a:ext cx="5166360" cy="292608"/>
          </a:xfrm>
          <a:prstGeom prst="rect">
            <a:avLst/>
          </a:prstGeom>
          <a:noFill/>
          <a:ln/>
        </p:spPr>
        <p:txBody>
          <a:bodyPr wrap="square" lIns="0" tIns="0" rIns="0" bIns="0" rtlCol="0" anchor="t"/>
          <a:lstStyle/>
          <a:p>
            <a:pPr algn="l" indent="0" marL="0">
              <a:buNone/>
            </a:pPr>
            <a:r>
              <a:rPr lang="en-US" sz="1250" dirty="0">
                <a:solidFill>
                  <a:srgbClr val="5A6473"/>
                </a:solidFill>
                <a:latin typeface="Adobe Clean ExtraBold" pitchFamily="34" charset="0"/>
                <a:ea typeface="Adobe Clean ExtraBold" pitchFamily="34" charset="-122"/>
                <a:cs typeface="Adobe Clean ExtraBold" pitchFamily="34" charset="-120"/>
              </a:rPr>
              <a:t>Feedback from the physics solver</a:t>
            </a:r>
            <a:endParaRPr lang="en-US" sz="1250" dirty="0"/>
          </a:p>
        </p:txBody>
      </p:sp>
      <p:sp>
        <p:nvSpPr>
          <p:cNvPr id="6" name="Text 4"/>
          <p:cNvSpPr/>
          <p:nvPr/>
        </p:nvSpPr>
        <p:spPr>
          <a:xfrm>
            <a:off x="804672" y="2295144"/>
            <a:ext cx="5166360" cy="3337560"/>
          </a:xfrm>
          <a:prstGeom prst="rect">
            <a:avLst/>
          </a:prstGeom>
          <a:noFill/>
          <a:ln/>
        </p:spPr>
        <p:txBody>
          <a:bodyPr wrap="square" lIns="0" tIns="0" rIns="0" bIns="0" rtlCol="0" anchor="t"/>
          <a:lstStyle/>
          <a:p>
            <a:pPr algn="l" indent="0" marL="0">
              <a:lnSpc>
                <a:spcPct val="124000"/>
              </a:lnSpc>
              <a:buNone/>
            </a:pPr>
            <a:r>
              <a:rPr lang="en-US" sz="1300" dirty="0">
                <a:solidFill>
                  <a:srgbClr val="5A6473"/>
                </a:solidFill>
                <a:latin typeface="Courier New" pitchFamily="34" charset="0"/>
                <a:ea typeface="Courier New" pitchFamily="34" charset="-122"/>
                <a:cs typeface="Courier New" pitchFamily="34" charset="-120"/>
              </a:rPr>
              <a:t>Mass: </a:t>
            </a:r>
            <a:pPr algn="l" indent="0" marL="0">
              <a:lnSpc>
                <a:spcPct val="124000"/>
              </a:lnSpc>
              <a:buNone/>
            </a:pPr>
            <a:r>
              <a:rPr lang="en-US" sz="1300" dirty="0">
                <a:solidFill>
                  <a:srgbClr val="2C2C2C"/>
                </a:solidFill>
                <a:latin typeface="Courier New" pitchFamily="34" charset="0"/>
                <a:ea typeface="Courier New" pitchFamily="34" charset="-122"/>
                <a:cs typeface="Courier New" pitchFamily="34" charset="-120"/>
              </a:rPr>
              <a:t>116.73 kg
</a:t>
            </a:r>
            <a:pPr algn="l" indent="0" marL="0">
              <a:lnSpc>
                <a:spcPct val="124000"/>
              </a:lnSpc>
              <a:buNone/>
            </a:pPr>
            <a:r>
              <a:rPr lang="en-US" sz="1300" dirty="0">
                <a:solidFill>
                  <a:srgbClr val="5A6473"/>
                </a:solidFill>
                <a:latin typeface="Courier New" pitchFamily="34" charset="0"/>
                <a:ea typeface="Courier New" pitchFamily="34" charset="-122"/>
                <a:cs typeface="Courier New" pitchFamily="34" charset="-120"/>
              </a:rPr>
              <a:t>FOS (buckling): </a:t>
            </a:r>
            <a:pPr algn="l" indent="0" marL="0">
              <a:lnSpc>
                <a:spcPct val="124000"/>
              </a:lnSpc>
              <a:buNone/>
            </a:pPr>
            <a:r>
              <a:rPr lang="en-US" sz="1300" dirty="0">
                <a:solidFill>
                  <a:srgbClr val="EB1000"/>
                </a:solidFill>
                <a:latin typeface="Courier New" pitchFamily="34" charset="0"/>
                <a:ea typeface="Courier New" pitchFamily="34" charset="-122"/>
                <a:cs typeface="Courier New" pitchFamily="34" charset="-120"/>
              </a:rPr>
              <a:t>0.48
</a:t>
            </a:r>
            <a:pPr algn="l" indent="0" marL="0">
              <a:lnSpc>
                <a:spcPct val="124000"/>
              </a:lnSpc>
              <a:buNone/>
            </a:pPr>
            <a:r>
              <a:rPr lang="en-US" sz="1300" dirty="0">
                <a:solidFill>
                  <a:srgbClr val="5A6473"/>
                </a:solidFill>
                <a:latin typeface="Courier New" pitchFamily="34" charset="0"/>
                <a:ea typeface="Courier New" pitchFamily="34" charset="-122"/>
                <a:cs typeface="Courier New" pitchFamily="34" charset="-120"/>
              </a:rPr>
              <a:t>FOS (yielding):  </a:t>
            </a:r>
            <a:pPr algn="l" indent="0" marL="0">
              <a:lnSpc>
                <a:spcPct val="124000"/>
              </a:lnSpc>
              <a:buNone/>
            </a:pPr>
            <a:r>
              <a:rPr lang="en-US" sz="1300" dirty="0">
                <a:solidFill>
                  <a:srgbClr val="2C2C2C"/>
                </a:solidFill>
                <a:latin typeface="Courier New" pitchFamily="34" charset="0"/>
                <a:ea typeface="Courier New" pitchFamily="34" charset="-122"/>
                <a:cs typeface="Courier New" pitchFamily="34" charset="-120"/>
              </a:rPr>
              <a:t>2.49
</a:t>
            </a:r>
            <a:pPr algn="l" indent="0" marL="0">
              <a:lnSpc>
                <a:spcPct val="124000"/>
              </a:lnSpc>
              <a:buNone/>
            </a:pPr>
            <a:r>
              <a:rPr lang="en-US" sz="1300" dirty="0">
                <a:solidFill>
                  <a:srgbClr val="5A6473"/>
                </a:solidFill>
                <a:latin typeface="Courier New" pitchFamily="34" charset="0"/>
                <a:ea typeface="Courier New" pitchFamily="34" charset="-122"/>
                <a:cs typeface="Courier New" pitchFamily="34" charset="-120"/>
              </a:rPr>
              <a:t>Max deflection: </a:t>
            </a:r>
            <a:pPr algn="l" indent="0" marL="0">
              <a:lnSpc>
                <a:spcPct val="124000"/>
              </a:lnSpc>
              <a:buNone/>
            </a:pPr>
            <a:r>
              <a:rPr lang="en-US" sz="1300" dirty="0">
                <a:solidFill>
                  <a:srgbClr val="2C2C2C"/>
                </a:solidFill>
                <a:latin typeface="Courier New" pitchFamily="34" charset="0"/>
                <a:ea typeface="Courier New" pitchFamily="34" charset="-122"/>
                <a:cs typeface="Courier New" pitchFamily="34" charset="-120"/>
              </a:rPr>
              <a:t>3.91e-02 m
</a:t>
            </a:r>
            <a:pPr algn="l" indent="0" marL="0">
              <a:lnSpc>
                <a:spcPct val="124000"/>
              </a:lnSpc>
              <a:buNone/>
            </a:pPr>
            <a:r>
              <a:rPr lang="en-US" sz="1300" dirty="0">
                <a:solidFill>
                  <a:srgbClr val="5A6473"/>
                </a:solidFill>
                <a:latin typeface="Courier New" pitchFamily="34" charset="0"/>
                <a:ea typeface="Courier New" pitchFamily="34" charset="-122"/>
                <a:cs typeface="Courier New" pitchFamily="34" charset="-120"/>
              </a:rPr>
              <a:t>Status: </a:t>
            </a:r>
            <a:pPr algn="l" indent="0" marL="0">
              <a:lnSpc>
                <a:spcPct val="124000"/>
              </a:lnSpc>
              <a:buNone/>
            </a:pPr>
            <a:r>
              <a:rPr lang="en-US" sz="1300" dirty="0">
                <a:solidFill>
                  <a:srgbClr val="EB1000"/>
                </a:solidFill>
                <a:latin typeface="Courier New" pitchFamily="34" charset="0"/>
                <a:ea typeface="Courier New" pitchFamily="34" charset="-122"/>
                <a:cs typeface="Courier New" pitchFamily="34" charset="-120"/>
              </a:rPr>
              <a:t>INFEASIBLE
</a:t>
            </a:r>
            <a:pPr algn="l" indent="0" marL="0">
              <a:lnSpc>
                <a:spcPct val="124000"/>
              </a:lnSpc>
              <a:buNone/>
            </a:pPr>
            <a:r>
              <a:rPr lang="en-US" sz="1300" dirty="0">
                <a:solidFill>
                  <a:srgbClr val="5A6473"/>
                </a:solidFill>
                <a:latin typeface="Courier New" pitchFamily="34" charset="0"/>
                <a:ea typeface="Courier New" pitchFamily="34" charset="-122"/>
                <a:cs typeface="Courier New" pitchFamily="34" charset="-120"/>
              </a:rPr>
              <a:t>Constraint violations:
</a:t>
            </a:r>
            <a:pPr algn="l" indent="0" marL="0">
              <a:lnSpc>
                <a:spcPct val="124000"/>
              </a:lnSpc>
              <a:buNone/>
            </a:pPr>
            <a:r>
              <a:rPr lang="en-US" sz="1300" dirty="0">
                <a:solidFill>
                  <a:srgbClr val="2C2C2C"/>
                </a:solidFill>
                <a:latin typeface="Courier New" pitchFamily="34" charset="0"/>
                <a:ea typeface="Courier New" pitchFamily="34" charset="-122"/>
                <a:cs typeface="Courier New" pitchFamily="34" charset="-120"/>
              </a:rPr>
              <a:t>– Buckling FOS 0.48 &lt; 1.5  →  worst member: </a:t>
            </a:r>
            <a:pPr algn="l" indent="0" marL="0">
              <a:lnSpc>
                <a:spcPct val="124000"/>
              </a:lnSpc>
              <a:buNone/>
            </a:pPr>
            <a:r>
              <a:rPr lang="en-US" sz="1300" dirty="0">
                <a:solidFill>
                  <a:srgbClr val="EB1000"/>
                </a:solidFill>
                <a:latin typeface="Courier New" pitchFamily="34" charset="0"/>
                <a:ea typeface="Courier New" pitchFamily="34" charset="-122"/>
                <a:cs typeface="Courier New" pitchFamily="34" charset="-120"/>
              </a:rPr>
              <a:t>M4
</a:t>
            </a:r>
            <a:pPr algn="l" indent="0" marL="0">
              <a:lnSpc>
                <a:spcPct val="124000"/>
              </a:lnSpc>
              <a:buNone/>
            </a:pPr>
            <a:r>
              <a:rPr lang="en-US" sz="1300" dirty="0">
                <a:solidFill>
                  <a:srgbClr val="2C2C2C"/>
                </a:solidFill>
                <a:latin typeface="Courier New" pitchFamily="34" charset="0"/>
                <a:ea typeface="Courier New" pitchFamily="34" charset="-122"/>
                <a:cs typeface="Courier New" pitchFamily="34" charset="-120"/>
              </a:rPr>
              <a:t>– Deflection 3.91e-02 m &gt; 0.01 m allowed</a:t>
            </a:r>
            <a:endParaRPr lang="en-US" sz="1300" dirty="0"/>
          </a:p>
        </p:txBody>
      </p:sp>
      <p:sp>
        <p:nvSpPr>
          <p:cNvPr id="7" name="Shape 5"/>
          <p:cNvSpPr/>
          <p:nvPr/>
        </p:nvSpPr>
        <p:spPr>
          <a:xfrm>
            <a:off x="6510528" y="1783080"/>
            <a:ext cx="5120640" cy="3977640"/>
          </a:xfrm>
          <a:prstGeom prst="roundRect">
            <a:avLst>
              <a:gd name="adj" fmla="val 2299"/>
            </a:avLst>
          </a:prstGeom>
          <a:solidFill>
            <a:srgbClr val="1B2233"/>
          </a:solidFill>
          <a:ln/>
        </p:spPr>
      </p:sp>
      <p:sp>
        <p:nvSpPr>
          <p:cNvPr id="8" name="Text 6"/>
          <p:cNvSpPr/>
          <p:nvPr/>
        </p:nvSpPr>
        <p:spPr>
          <a:xfrm>
            <a:off x="6748272" y="1929384"/>
            <a:ext cx="4663440" cy="292608"/>
          </a:xfrm>
          <a:prstGeom prst="rect">
            <a:avLst/>
          </a:prstGeom>
          <a:noFill/>
          <a:ln/>
        </p:spPr>
        <p:txBody>
          <a:bodyPr wrap="square" lIns="0" tIns="0" rIns="0" bIns="0" rtlCol="0" anchor="t"/>
          <a:lstStyle/>
          <a:p>
            <a:pPr algn="l" indent="0" marL="0">
              <a:buNone/>
            </a:pPr>
            <a:r>
              <a:rPr lang="en-US" sz="1250" dirty="0">
                <a:solidFill>
                  <a:srgbClr val="8FA0BE"/>
                </a:solidFill>
                <a:latin typeface="Adobe Clean ExtraBold" pitchFamily="34" charset="0"/>
                <a:ea typeface="Adobe Clean ExtraBold" pitchFamily="34" charset="-122"/>
                <a:cs typeface="Adobe Clean ExtraBold" pitchFamily="34" charset="-120"/>
              </a:rPr>
              <a:t>policy response</a:t>
            </a:r>
            <a:endParaRPr lang="en-US" sz="1250" dirty="0"/>
          </a:p>
        </p:txBody>
      </p:sp>
      <p:sp>
        <p:nvSpPr>
          <p:cNvPr id="9" name="Text 7"/>
          <p:cNvSpPr/>
          <p:nvPr/>
        </p:nvSpPr>
        <p:spPr>
          <a:xfrm>
            <a:off x="6748272" y="2295144"/>
            <a:ext cx="4663440" cy="3337560"/>
          </a:xfrm>
          <a:prstGeom prst="rect">
            <a:avLst/>
          </a:prstGeom>
          <a:noFill/>
          <a:ln/>
        </p:spPr>
        <p:txBody>
          <a:bodyPr wrap="square" lIns="0" tIns="0" rIns="0" bIns="0" rtlCol="0" anchor="t"/>
          <a:lstStyle/>
          <a:p>
            <a:pPr algn="l" indent="0" marL="0">
              <a:lnSpc>
                <a:spcPct val="126000"/>
              </a:lnSpc>
              <a:buNone/>
            </a:pPr>
            <a:r>
              <a:rPr lang="en-US" sz="1300" dirty="0">
                <a:solidFill>
                  <a:srgbClr val="8FA0BE"/>
                </a:solidFill>
                <a:latin typeface="Courier New" pitchFamily="34" charset="0"/>
                <a:ea typeface="Courier New" pitchFamily="34" charset="-122"/>
                <a:cs typeface="Courier New" pitchFamily="34" charset="-120"/>
              </a:rPr>
              <a:t>&lt;think&gt;
</a:t>
            </a:r>
            <a:pPr algn="l" indent="0" marL="0">
              <a:lnSpc>
                <a:spcPct val="126000"/>
              </a:lnSpc>
              <a:buNone/>
            </a:pPr>
            <a:r>
              <a:rPr lang="en-US" sz="1300" dirty="0">
                <a:solidFill>
                  <a:srgbClr val="E7ECF5"/>
                </a:solidFill>
                <a:latin typeface="Courier New" pitchFamily="34" charset="0"/>
                <a:ea typeface="Courier New" pitchFamily="34" charset="-122"/>
                <a:cs typeface="Courier New" pitchFamily="34" charset="-120"/>
              </a:rPr>
              <a:t>The main issues are the low buckling FOS and excessive</a:t>
            </a:r>
            <a:endParaRPr lang="en-US" sz="1300" dirty="0"/>
          </a:p>
          <a:p>
            <a:pPr algn="l" indent="0" marL="0">
              <a:lnSpc>
                <a:spcPct val="126000"/>
              </a:lnSpc>
              <a:buNone/>
            </a:pPr>
            <a:r>
              <a:rPr lang="en-US" sz="1300" dirty="0">
                <a:solidFill>
                  <a:srgbClr val="E7ECF5"/>
                </a:solidFill>
                <a:latin typeface="Courier New" pitchFamily="34" charset="0"/>
                <a:ea typeface="Courier New" pitchFamily="34" charset="-122"/>
                <a:cs typeface="Courier New" pitchFamily="34" charset="-120"/>
              </a:rPr>
              <a:t>deflection. The worst member for buckling is </a:t>
            </a:r>
            <a:endParaRPr lang="en-US" sz="1300" dirty="0"/>
          </a:p>
          <a:p>
            <a:pPr algn="l" indent="0" marL="0">
              <a:lnSpc>
                <a:spcPct val="126000"/>
              </a:lnSpc>
              <a:buNone/>
            </a:pPr>
            <a:r>
              <a:rPr lang="en-US" sz="1300" dirty="0">
                <a:solidFill>
                  <a:srgbClr val="FF8A7A"/>
                </a:solidFill>
                <a:latin typeface="Courier New" pitchFamily="34" charset="0"/>
                <a:ea typeface="Courier New" pitchFamily="34" charset="-122"/>
                <a:cs typeface="Courier New" pitchFamily="34" charset="-120"/>
              </a:rPr>
              <a:t>M4 (J6–J7)</a:t>
            </a:r>
            <a:pPr algn="l" indent="0" marL="0">
              <a:lnSpc>
                <a:spcPct val="126000"/>
              </a:lnSpc>
              <a:buNone/>
            </a:pPr>
            <a:r>
              <a:rPr lang="en-US" sz="1300" dirty="0">
                <a:solidFill>
                  <a:srgbClr val="E7ECF5"/>
                </a:solidFill>
                <a:latin typeface="Courier New" pitchFamily="34" charset="0"/>
                <a:ea typeface="Courier New" pitchFamily="34" charset="-122"/>
                <a:cs typeface="Courier New" pitchFamily="34" charset="-120"/>
              </a:rPr>
              <a:t>. Current
FOS 0.48, way below 1.5. Since M4 is critical, increasing
its cross-sectional area should help…
</a:t>
            </a:r>
            <a:pPr algn="l" indent="0" marL="0">
              <a:lnSpc>
                <a:spcPct val="126000"/>
              </a:lnSpc>
              <a:buNone/>
            </a:pPr>
            <a:r>
              <a:rPr lang="en-US" sz="1300" dirty="0">
                <a:solidFill>
                  <a:srgbClr val="8FA0BE"/>
                </a:solidFill>
                <a:latin typeface="Courier New" pitchFamily="34" charset="0"/>
                <a:ea typeface="Courier New" pitchFamily="34" charset="-122"/>
                <a:cs typeface="Courier New" pitchFamily="34" charset="-120"/>
              </a:rPr>
              <a:t>&lt;/think&gt;
</a:t>
            </a:r>
            <a:pPr algn="l" indent="0" marL="0">
              <a:lnSpc>
                <a:spcPct val="126000"/>
              </a:lnSpc>
              <a:buNone/>
            </a:pPr>
            <a:r>
              <a:rPr lang="en-US" sz="1300" dirty="0">
                <a:solidFill>
                  <a:srgbClr val="8FA0BE"/>
                </a:solidFill>
                <a:latin typeface="Courier New" pitchFamily="34" charset="0"/>
                <a:ea typeface="Courier New" pitchFamily="34" charset="-122"/>
                <a:cs typeface="Courier New" pitchFamily="34" charset="-120"/>
              </a:rPr>
              <a:t>&lt;action&gt;</a:t>
            </a:r>
            <a:pPr algn="l" indent="0" marL="0">
              <a:lnSpc>
                <a:spcPct val="126000"/>
              </a:lnSpc>
              <a:buNone/>
            </a:pPr>
            <a:r>
              <a:rPr lang="en-US" sz="1300" dirty="0">
                <a:solidFill>
                  <a:srgbClr val="7FE0A8"/>
                </a:solidFill>
                <a:latin typeface="Courier New" pitchFamily="34" charset="0"/>
                <a:ea typeface="Courier New" pitchFamily="34" charset="-122"/>
                <a:cs typeface="Courier New" pitchFamily="34" charset="-120"/>
              </a:rPr>
              <a:t>SCALE_PARAM(4, r, 1.5)</a:t>
            </a:r>
            <a:pPr algn="l" indent="0" marL="0">
              <a:lnSpc>
                <a:spcPct val="126000"/>
              </a:lnSpc>
              <a:buNone/>
            </a:pPr>
            <a:r>
              <a:rPr lang="en-US" sz="1300" dirty="0">
                <a:solidFill>
                  <a:srgbClr val="8FA0BE"/>
                </a:solidFill>
                <a:latin typeface="Courier New" pitchFamily="34" charset="0"/>
                <a:ea typeface="Courier New" pitchFamily="34" charset="-122"/>
                <a:cs typeface="Courier New" pitchFamily="34" charset="-120"/>
              </a:rPr>
              <a:t>&lt;/action&gt;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64240" cy="676656"/>
          </a:xfrm>
          <a:prstGeom prst="rect">
            <a:avLst/>
          </a:prstGeom>
          <a:noFill/>
          <a:ln/>
        </p:spPr>
        <p:txBody>
          <a:bodyPr wrap="square" lIns="0" tIns="0" rIns="0" bIns="0" rtlCol="0" anchor="t"/>
          <a:lstStyle/>
          <a:p>
            <a:pPr algn="l" indent="0" marL="0">
              <a:buNone/>
            </a:pPr>
            <a:r>
              <a:rPr lang="en-US" sz="2800" dirty="0">
                <a:solidFill>
                  <a:srgbClr val="EB1000"/>
                </a:solidFill>
                <a:latin typeface="Adobe Clean ExtraBold" pitchFamily="34" charset="0"/>
                <a:ea typeface="Adobe Clean ExtraBold" pitchFamily="34" charset="-122"/>
                <a:cs typeface="Adobe Clean ExtraBold" pitchFamily="34" charset="-120"/>
              </a:rPr>
              <a:t>The Remaining 32%</a:t>
            </a:r>
            <a:endParaRPr lang="en-US" sz="2800" dirty="0"/>
          </a:p>
        </p:txBody>
      </p:sp>
      <p:sp>
        <p:nvSpPr>
          <p:cNvPr id="3" name="Text 1"/>
          <p:cNvSpPr/>
          <p:nvPr/>
        </p:nvSpPr>
        <p:spPr>
          <a:xfrm>
            <a:off x="566928" y="1060704"/>
            <a:ext cx="11064240" cy="384048"/>
          </a:xfrm>
          <a:prstGeom prst="rect">
            <a:avLst/>
          </a:prstGeom>
          <a:noFill/>
          <a:ln/>
        </p:spPr>
        <p:txBody>
          <a:bodyPr wrap="square" lIns="0" tIns="0" rIns="0" bIns="0" rtlCol="0" anchor="t"/>
          <a:lstStyle/>
          <a:p>
            <a:pPr algn="l" indent="0" marL="0">
              <a:buNone/>
            </a:pPr>
            <a:r>
              <a:rPr lang="en-US" sz="1450" dirty="0">
                <a:solidFill>
                  <a:srgbClr val="5A6473"/>
                </a:solidFill>
                <a:latin typeface="Adobe Clean" pitchFamily="34" charset="0"/>
                <a:ea typeface="Adobe Clean" pitchFamily="34" charset="-122"/>
                <a:cs typeface="Adobe Clean" pitchFamily="34" charset="-120"/>
              </a:rPr>
              <a:t>Adding the missing information has reached its limit. The remaining failures fall into three kinds.</a:t>
            </a:r>
            <a:endParaRPr lang="en-US" sz="1450" dirty="0"/>
          </a:p>
        </p:txBody>
      </p:sp>
      <p:graphicFrame>
        <p:nvGraphicFramePr>
          <p:cNvPr id="4" name="Chart 0" descr=""/>
          <p:cNvGraphicFramePr/>
          <p:nvPr/>
        </p:nvGraphicFramePr>
        <p:xfrm>
          <a:off x="475488" y="1828800"/>
          <a:ext cx="4297680" cy="38404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1435608" y="3246120"/>
            <a:ext cx="2148840" cy="914400"/>
          </a:xfrm>
          <a:prstGeom prst="rect">
            <a:avLst/>
          </a:prstGeom>
          <a:noFill/>
          <a:ln/>
        </p:spPr>
        <p:txBody>
          <a:bodyPr wrap="square" lIns="0" tIns="0" rIns="0" bIns="0" rtlCol="0" anchor="ctr"/>
          <a:lstStyle/>
          <a:p>
            <a:pPr algn="ctr" indent="0" marL="0">
              <a:buNone/>
            </a:pPr>
            <a:r>
              <a:rPr lang="en-US" sz="3000" dirty="0">
                <a:solidFill>
                  <a:srgbClr val="1E8449"/>
                </a:solidFill>
                <a:latin typeface="Adobe Clean ExtraBold" pitchFamily="34" charset="0"/>
                <a:ea typeface="Adobe Clean ExtraBold" pitchFamily="34" charset="-122"/>
                <a:cs typeface="Adobe Clean ExtraBold" pitchFamily="34" charset="-120"/>
              </a:rPr>
              <a:t>68%</a:t>
            </a:r>
            <a:endParaRPr lang="en-US" sz="3000" dirty="0"/>
          </a:p>
          <a:p>
            <a:pPr algn="ctr" indent="0" marL="0">
              <a:buNone/>
            </a:pPr>
            <a:r>
              <a:rPr lang="en-US" sz="1300" dirty="0">
                <a:solidFill>
                  <a:srgbClr val="5A6473"/>
                </a:solidFill>
                <a:latin typeface="Adobe Clean" pitchFamily="34" charset="0"/>
                <a:ea typeface="Adobe Clean" pitchFamily="34" charset="-122"/>
                <a:cs typeface="Adobe Clean" pitchFamily="34" charset="-120"/>
              </a:rPr>
              <a:t>feasible</a:t>
            </a:r>
            <a:endParaRPr lang="en-US" sz="3000" dirty="0"/>
          </a:p>
        </p:txBody>
      </p:sp>
      <p:sp>
        <p:nvSpPr>
          <p:cNvPr id="6" name="Text 3"/>
          <p:cNvSpPr/>
          <p:nvPr/>
        </p:nvSpPr>
        <p:spPr>
          <a:xfrm>
            <a:off x="5074920" y="1664208"/>
            <a:ext cx="6537960" cy="292608"/>
          </a:xfrm>
          <a:prstGeom prst="rect">
            <a:avLst/>
          </a:prstGeom>
          <a:noFill/>
          <a:ln/>
        </p:spPr>
        <p:txBody>
          <a:bodyPr wrap="square" lIns="0" tIns="0" rIns="0" bIns="0" rtlCol="0" anchor="t"/>
          <a:lstStyle/>
          <a:p>
            <a:pPr algn="l" indent="0" marL="0">
              <a:buNone/>
            </a:pPr>
            <a:r>
              <a:rPr lang="en-US" sz="1400" dirty="0">
                <a:solidFill>
                  <a:srgbClr val="21304A"/>
                </a:solidFill>
                <a:latin typeface="Adobe Clean ExtraBold" pitchFamily="34" charset="0"/>
                <a:ea typeface="Adobe Clean ExtraBold" pitchFamily="34" charset="-122"/>
                <a:cs typeface="Adobe Clean ExtraBold" pitchFamily="34" charset="-120"/>
              </a:rPr>
              <a:t>Where the 32% goes, and the fix each one needs</a:t>
            </a:r>
            <a:endParaRPr lang="en-US" sz="1400" dirty="0"/>
          </a:p>
        </p:txBody>
      </p:sp>
      <p:sp>
        <p:nvSpPr>
          <p:cNvPr id="7" name="Shape 4"/>
          <p:cNvSpPr/>
          <p:nvPr/>
        </p:nvSpPr>
        <p:spPr>
          <a:xfrm>
            <a:off x="5074920" y="2103120"/>
            <a:ext cx="6537960" cy="841248"/>
          </a:xfrm>
          <a:prstGeom prst="roundRect">
            <a:avLst>
              <a:gd name="adj" fmla="val 9783"/>
            </a:avLst>
          </a:prstGeom>
          <a:solidFill>
            <a:srgbClr val="FFFFFF"/>
          </a:solidFill>
          <a:ln w="12700">
            <a:solidFill>
              <a:srgbClr val="D9DEE6"/>
            </a:solidFill>
            <a:prstDash val="solid"/>
          </a:ln>
        </p:spPr>
      </p:sp>
      <p:sp>
        <p:nvSpPr>
          <p:cNvPr id="8" name="Shape 5"/>
          <p:cNvSpPr/>
          <p:nvPr/>
        </p:nvSpPr>
        <p:spPr>
          <a:xfrm>
            <a:off x="5070348" y="2249424"/>
            <a:ext cx="68580" cy="548640"/>
          </a:xfrm>
          <a:prstGeom prst="roundRect">
            <a:avLst>
              <a:gd name="adj" fmla="val 53333"/>
            </a:avLst>
          </a:prstGeom>
          <a:solidFill>
            <a:srgbClr val="B26B00"/>
          </a:solidFill>
          <a:ln/>
        </p:spPr>
      </p:sp>
      <p:sp>
        <p:nvSpPr>
          <p:cNvPr id="9" name="Text 6"/>
          <p:cNvSpPr/>
          <p:nvPr/>
        </p:nvSpPr>
        <p:spPr>
          <a:xfrm>
            <a:off x="5321808" y="2139696"/>
            <a:ext cx="6153912" cy="768096"/>
          </a:xfrm>
          <a:prstGeom prst="rect">
            <a:avLst/>
          </a:prstGeom>
          <a:noFill/>
          <a:ln/>
        </p:spPr>
        <p:txBody>
          <a:bodyPr wrap="square" lIns="0" tIns="0" rIns="0" bIns="0" rtlCol="0" anchor="ctr"/>
          <a:lstStyle/>
          <a:p>
            <a:pPr algn="l" indent="0" marL="0">
              <a:lnSpc>
                <a:spcPct val="104000"/>
              </a:lnSpc>
              <a:spcAft>
                <a:spcPts val="200"/>
              </a:spcAft>
              <a:buNone/>
            </a:pPr>
            <a:r>
              <a:rPr lang="en-US" sz="1450" dirty="0">
                <a:solidFill>
                  <a:srgbClr val="21304A"/>
                </a:solidFill>
                <a:latin typeface="Adobe Clean ExtraBold" pitchFamily="34" charset="0"/>
                <a:ea typeface="Adobe Clean ExtraBold" pitchFamily="34" charset="-122"/>
                <a:cs typeface="Adobe Clean ExtraBold" pitchFamily="34" charset="-120"/>
              </a:rPr>
              <a:t>Mass over-shoot (3)</a:t>
            </a:r>
            <a:endParaRPr lang="en-US" sz="1450" dirty="0"/>
          </a:p>
          <a:p>
            <a:pPr algn="l" indent="0" marL="0">
              <a:lnSpc>
                <a:spcPct val="104000"/>
              </a:lnSpc>
              <a:spcAft>
                <a:spcPts val="200"/>
              </a:spcAft>
              <a:buNone/>
            </a:pPr>
            <a:r>
              <a:rPr lang="en-US" sz="1200" dirty="0">
                <a:solidFill>
                  <a:srgbClr val="5A6473"/>
                </a:solidFill>
                <a:latin typeface="Adobe Clean" pitchFamily="34" charset="0"/>
                <a:ea typeface="Adobe Clean" pitchFamily="34" charset="-122"/>
                <a:cs typeface="Adobe Clean" pitchFamily="34" charset="-120"/>
              </a:rPr>
              <a:t>FOS fixed but mass exceeded → soft reward-side FOS and mass balancing</a:t>
            </a:r>
            <a:endParaRPr lang="en-US" sz="1450" dirty="0"/>
          </a:p>
        </p:txBody>
      </p:sp>
      <p:sp>
        <p:nvSpPr>
          <p:cNvPr id="10" name="Shape 7"/>
          <p:cNvSpPr/>
          <p:nvPr/>
        </p:nvSpPr>
        <p:spPr>
          <a:xfrm>
            <a:off x="5074920" y="3063240"/>
            <a:ext cx="6537960" cy="841248"/>
          </a:xfrm>
          <a:prstGeom prst="roundRect">
            <a:avLst>
              <a:gd name="adj" fmla="val 9783"/>
            </a:avLst>
          </a:prstGeom>
          <a:solidFill>
            <a:srgbClr val="FFFFFF"/>
          </a:solidFill>
          <a:ln w="12700">
            <a:solidFill>
              <a:srgbClr val="D9DEE6"/>
            </a:solidFill>
            <a:prstDash val="solid"/>
          </a:ln>
        </p:spPr>
      </p:sp>
      <p:sp>
        <p:nvSpPr>
          <p:cNvPr id="11" name="Shape 8"/>
          <p:cNvSpPr/>
          <p:nvPr/>
        </p:nvSpPr>
        <p:spPr>
          <a:xfrm>
            <a:off x="5070348" y="3209544"/>
            <a:ext cx="68580" cy="548640"/>
          </a:xfrm>
          <a:prstGeom prst="roundRect">
            <a:avLst>
              <a:gd name="adj" fmla="val 53333"/>
            </a:avLst>
          </a:prstGeom>
          <a:solidFill>
            <a:srgbClr val="5A6473"/>
          </a:solidFill>
          <a:ln/>
        </p:spPr>
      </p:sp>
      <p:sp>
        <p:nvSpPr>
          <p:cNvPr id="12" name="Text 9"/>
          <p:cNvSpPr/>
          <p:nvPr/>
        </p:nvSpPr>
        <p:spPr>
          <a:xfrm>
            <a:off x="5321808" y="3099816"/>
            <a:ext cx="6153912" cy="768096"/>
          </a:xfrm>
          <a:prstGeom prst="rect">
            <a:avLst/>
          </a:prstGeom>
          <a:noFill/>
          <a:ln/>
        </p:spPr>
        <p:txBody>
          <a:bodyPr wrap="square" lIns="0" tIns="0" rIns="0" bIns="0" rtlCol="0" anchor="ctr"/>
          <a:lstStyle/>
          <a:p>
            <a:pPr algn="l" indent="0" marL="0">
              <a:lnSpc>
                <a:spcPct val="104000"/>
              </a:lnSpc>
              <a:spcAft>
                <a:spcPts val="200"/>
              </a:spcAft>
              <a:buNone/>
            </a:pPr>
            <a:r>
              <a:rPr lang="en-US" sz="1450" dirty="0">
                <a:solidFill>
                  <a:srgbClr val="21304A"/>
                </a:solidFill>
                <a:latin typeface="Adobe Clean ExtraBold" pitchFamily="34" charset="0"/>
                <a:ea typeface="Adobe Clean ExtraBold" pitchFamily="34" charset="-122"/>
                <a:cs typeface="Adobe Clean ExtraBold" pitchFamily="34" charset="-120"/>
              </a:rPr>
              <a:t>Degenerate FEA (4)</a:t>
            </a:r>
            <a:endParaRPr lang="en-US" sz="1450" dirty="0"/>
          </a:p>
          <a:p>
            <a:pPr algn="l" indent="0" marL="0">
              <a:lnSpc>
                <a:spcPct val="104000"/>
              </a:lnSpc>
              <a:spcAft>
                <a:spcPts val="200"/>
              </a:spcAft>
              <a:buNone/>
            </a:pPr>
            <a:r>
              <a:rPr lang="en-US" sz="1200" dirty="0">
                <a:solidFill>
                  <a:srgbClr val="5A6473"/>
                </a:solidFill>
                <a:latin typeface="Adobe Clean" pitchFamily="34" charset="0"/>
                <a:ea typeface="Adobe Clean" pitchFamily="34" charset="-122"/>
                <a:cs typeface="Adobe Clean" pitchFamily="34" charset="-120"/>
              </a:rPr>
              <a:t>structurally broken or very heavy intermediate states → robust state handling</a:t>
            </a:r>
            <a:endParaRPr lang="en-US" sz="1450" dirty="0"/>
          </a:p>
        </p:txBody>
      </p:sp>
      <p:sp>
        <p:nvSpPr>
          <p:cNvPr id="13" name="Shape 10"/>
          <p:cNvSpPr/>
          <p:nvPr/>
        </p:nvSpPr>
        <p:spPr>
          <a:xfrm>
            <a:off x="5074920" y="4023360"/>
            <a:ext cx="6537960" cy="841248"/>
          </a:xfrm>
          <a:prstGeom prst="roundRect">
            <a:avLst>
              <a:gd name="adj" fmla="val 9783"/>
            </a:avLst>
          </a:prstGeom>
          <a:solidFill>
            <a:srgbClr val="FFFFFF"/>
          </a:solidFill>
          <a:ln w="12700">
            <a:solidFill>
              <a:srgbClr val="D9DEE6"/>
            </a:solidFill>
            <a:prstDash val="solid"/>
          </a:ln>
        </p:spPr>
      </p:sp>
      <p:sp>
        <p:nvSpPr>
          <p:cNvPr id="14" name="Shape 11"/>
          <p:cNvSpPr/>
          <p:nvPr/>
        </p:nvSpPr>
        <p:spPr>
          <a:xfrm>
            <a:off x="5070348" y="4169664"/>
            <a:ext cx="68580" cy="548640"/>
          </a:xfrm>
          <a:prstGeom prst="roundRect">
            <a:avLst>
              <a:gd name="adj" fmla="val 53333"/>
            </a:avLst>
          </a:prstGeom>
          <a:solidFill>
            <a:srgbClr val="EB1000"/>
          </a:solidFill>
          <a:ln/>
        </p:spPr>
      </p:sp>
      <p:sp>
        <p:nvSpPr>
          <p:cNvPr id="15" name="Text 12"/>
          <p:cNvSpPr/>
          <p:nvPr/>
        </p:nvSpPr>
        <p:spPr>
          <a:xfrm>
            <a:off x="5321808" y="4059936"/>
            <a:ext cx="6153912" cy="768096"/>
          </a:xfrm>
          <a:prstGeom prst="rect">
            <a:avLst/>
          </a:prstGeom>
          <a:noFill/>
          <a:ln/>
        </p:spPr>
        <p:txBody>
          <a:bodyPr wrap="square" lIns="0" tIns="0" rIns="0" bIns="0" rtlCol="0" anchor="ctr"/>
          <a:lstStyle/>
          <a:p>
            <a:pPr algn="l" indent="0" marL="0">
              <a:lnSpc>
                <a:spcPct val="104000"/>
              </a:lnSpc>
              <a:spcAft>
                <a:spcPts val="200"/>
              </a:spcAft>
              <a:buNone/>
            </a:pPr>
            <a:r>
              <a:rPr lang="en-US" sz="1450" dirty="0">
                <a:solidFill>
                  <a:srgbClr val="21304A"/>
                </a:solidFill>
                <a:latin typeface="Adobe Clean ExtraBold" pitchFamily="34" charset="0"/>
                <a:ea typeface="Adobe Clean ExtraBold" pitchFamily="34" charset="-122"/>
                <a:cs typeface="Adobe Clean ExtraBold" pitchFamily="34" charset="-120"/>
              </a:rPr>
              <a:t>Grammar drift (~33% wasted turns)</a:t>
            </a:r>
            <a:endParaRPr lang="en-US" sz="1450" dirty="0"/>
          </a:p>
          <a:p>
            <a:pPr algn="l" indent="0" marL="0">
              <a:lnSpc>
                <a:spcPct val="104000"/>
              </a:lnSpc>
              <a:spcAft>
                <a:spcPts val="200"/>
              </a:spcAft>
              <a:buNone/>
            </a:pPr>
            <a:r>
              <a:rPr lang="en-US" sz="1200" dirty="0">
                <a:solidFill>
                  <a:srgbClr val="5A6473"/>
                </a:solidFill>
                <a:latin typeface="Adobe Clean" pitchFamily="34" charset="0"/>
                <a:ea typeface="Adobe Clean" pitchFamily="34" charset="-122"/>
                <a:cs typeface="Adobe Clean" pitchFamily="34" charset="-120"/>
              </a:rPr>
              <a:t>the policy forgets the warmstart format → format-protecting constraint</a:t>
            </a:r>
            <a:endParaRPr lang="en-US" sz="1450" dirty="0"/>
          </a:p>
        </p:txBody>
      </p:sp>
      <p:sp>
        <p:nvSpPr>
          <p:cNvPr id="16" name="Shape 13"/>
          <p:cNvSpPr/>
          <p:nvPr/>
        </p:nvSpPr>
        <p:spPr>
          <a:xfrm>
            <a:off x="5074920" y="5074920"/>
            <a:ext cx="6537960" cy="713232"/>
          </a:xfrm>
          <a:prstGeom prst="roundRect">
            <a:avLst>
              <a:gd name="adj" fmla="val 12821"/>
            </a:avLst>
          </a:prstGeom>
          <a:solidFill>
            <a:srgbClr val="F4F5F7"/>
          </a:solidFill>
          <a:ln w="12700">
            <a:solidFill>
              <a:srgbClr val="D9DEE6"/>
            </a:solidFill>
            <a:prstDash val="solid"/>
          </a:ln>
        </p:spPr>
      </p:sp>
      <p:sp>
        <p:nvSpPr>
          <p:cNvPr id="17" name="Text 14"/>
          <p:cNvSpPr/>
          <p:nvPr/>
        </p:nvSpPr>
        <p:spPr>
          <a:xfrm>
            <a:off x="5294376" y="5239512"/>
            <a:ext cx="6099048" cy="420624"/>
          </a:xfrm>
          <a:prstGeom prst="rect">
            <a:avLst/>
          </a:prstGeom>
          <a:noFill/>
          <a:ln/>
        </p:spPr>
        <p:txBody>
          <a:bodyPr wrap="square" lIns="0" tIns="0" rIns="0" bIns="0" rtlCol="0" anchor="ctr"/>
          <a:lstStyle/>
          <a:p>
            <a:pPr algn="l" indent="0" marL="0">
              <a:lnSpc>
                <a:spcPct val="112000"/>
              </a:lnSpc>
              <a:spcAft>
                <a:spcPts val="500"/>
              </a:spcAft>
              <a:buNone/>
            </a:pPr>
            <a:r>
              <a:rPr lang="en-US" sz="1250" dirty="0">
                <a:solidFill>
                  <a:srgbClr val="21304A"/>
                </a:solidFill>
                <a:latin typeface="Adobe Clean ExtraBold" pitchFamily="34" charset="0"/>
                <a:ea typeface="Adobe Clean ExtraBold" pitchFamily="34" charset="-122"/>
                <a:cs typeface="Adobe Clean ExtraBold" pitchFamily="34" charset="-120"/>
              </a:rPr>
              <a:t>A hard prompt rule over-corrects, as the mass regression showed. </a:t>
            </a:r>
            <a:pPr algn="l" indent="0" marL="0">
              <a:lnSpc>
                <a:spcPct val="112000"/>
              </a:lnSpc>
              <a:spcAft>
                <a:spcPts val="500"/>
              </a:spcAft>
              <a:buNone/>
            </a:pPr>
            <a:r>
              <a:rPr lang="en-US" sz="1250" dirty="0">
                <a:solidFill>
                  <a:srgbClr val="2C2C2C"/>
                </a:solidFill>
                <a:latin typeface="Adobe Clean" pitchFamily="34" charset="0"/>
                <a:ea typeface="Adobe Clean" pitchFamily="34" charset="-122"/>
                <a:cs typeface="Adobe Clean" pitchFamily="34" charset="-120"/>
              </a:rPr>
              <a:t>The next gains must come from softer, structural fixes.</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64240" cy="676656"/>
          </a:xfrm>
          <a:prstGeom prst="rect">
            <a:avLst/>
          </a:prstGeom>
          <a:noFill/>
          <a:ln/>
        </p:spPr>
        <p:txBody>
          <a:bodyPr wrap="square" lIns="0" tIns="0" rIns="0" bIns="0" rtlCol="0" anchor="t"/>
          <a:lstStyle/>
          <a:p>
            <a:pPr algn="l" indent="0" marL="0">
              <a:buNone/>
            </a:pPr>
            <a:r>
              <a:rPr lang="en-US" sz="2800" dirty="0">
                <a:solidFill>
                  <a:srgbClr val="EB1000"/>
                </a:solidFill>
                <a:latin typeface="Adobe Clean ExtraBold" pitchFamily="34" charset="0"/>
                <a:ea typeface="Adobe Clean ExtraBold" pitchFamily="34" charset="-122"/>
                <a:cs typeface="Adobe Clean ExtraBold" pitchFamily="34" charset="-120"/>
              </a:rPr>
              <a:t>Roadmap</a:t>
            </a:r>
            <a:endParaRPr lang="en-US" sz="2800" dirty="0"/>
          </a:p>
        </p:txBody>
      </p:sp>
      <p:sp>
        <p:nvSpPr>
          <p:cNvPr id="3" name="Text 1"/>
          <p:cNvSpPr/>
          <p:nvPr/>
        </p:nvSpPr>
        <p:spPr>
          <a:xfrm>
            <a:off x="566928" y="1060704"/>
            <a:ext cx="11064240" cy="384048"/>
          </a:xfrm>
          <a:prstGeom prst="rect">
            <a:avLst/>
          </a:prstGeom>
          <a:noFill/>
          <a:ln/>
        </p:spPr>
        <p:txBody>
          <a:bodyPr wrap="square" lIns="0" tIns="0" rIns="0" bIns="0" rtlCol="0" anchor="t"/>
          <a:lstStyle/>
          <a:p>
            <a:pPr algn="l" indent="0" marL="0">
              <a:buNone/>
            </a:pPr>
            <a:r>
              <a:rPr lang="en-US" sz="1450" dirty="0">
                <a:solidFill>
                  <a:srgbClr val="5A6473"/>
                </a:solidFill>
                <a:latin typeface="Adobe Clean" pitchFamily="34" charset="0"/>
                <a:ea typeface="Adobe Clean" pitchFamily="34" charset="-122"/>
                <a:cs typeface="Adobe Clean" pitchFamily="34" charset="-120"/>
              </a:rPr>
              <a:t>Three changes on the main path, with distillation kept in reserve.</a:t>
            </a:r>
            <a:endParaRPr lang="en-US" sz="1450" dirty="0"/>
          </a:p>
        </p:txBody>
      </p:sp>
      <p:sp>
        <p:nvSpPr>
          <p:cNvPr id="4" name="Shape 2"/>
          <p:cNvSpPr/>
          <p:nvPr/>
        </p:nvSpPr>
        <p:spPr>
          <a:xfrm>
            <a:off x="566928" y="1874520"/>
            <a:ext cx="2532888" cy="3383280"/>
          </a:xfrm>
          <a:prstGeom prst="roundRect">
            <a:avLst>
              <a:gd name="adj" fmla="val 4332"/>
            </a:avLst>
          </a:prstGeom>
          <a:solidFill>
            <a:srgbClr val="FFFFFF"/>
          </a:solidFill>
          <a:ln w="15875">
            <a:solidFill>
              <a:srgbClr val="D9DEE6"/>
            </a:solidFill>
            <a:prstDash val="solid"/>
          </a:ln>
        </p:spPr>
      </p:sp>
      <p:sp>
        <p:nvSpPr>
          <p:cNvPr id="5" name="Shape 3"/>
          <p:cNvSpPr/>
          <p:nvPr/>
        </p:nvSpPr>
        <p:spPr>
          <a:xfrm>
            <a:off x="822960" y="2148840"/>
            <a:ext cx="640080" cy="640080"/>
          </a:xfrm>
          <a:prstGeom prst="ellipse">
            <a:avLst/>
          </a:prstGeom>
          <a:solidFill>
            <a:srgbClr val="B26B00"/>
          </a:solidFill>
          <a:ln/>
        </p:spPr>
      </p:sp>
      <p:sp>
        <p:nvSpPr>
          <p:cNvPr id="6" name="Text 4"/>
          <p:cNvSpPr/>
          <p:nvPr/>
        </p:nvSpPr>
        <p:spPr>
          <a:xfrm>
            <a:off x="822960" y="2148840"/>
            <a:ext cx="640080" cy="640080"/>
          </a:xfrm>
          <a:prstGeom prst="rect">
            <a:avLst/>
          </a:prstGeom>
          <a:noFill/>
          <a:ln/>
        </p:spPr>
        <p:txBody>
          <a:bodyPr wrap="square" lIns="0" tIns="0" rIns="0" bIns="0" rtlCol="0" anchor="ctr"/>
          <a:lstStyle/>
          <a:p>
            <a:pPr algn="ctr" indent="0" marL="0">
              <a:buNone/>
            </a:pPr>
            <a:r>
              <a:rPr lang="en-US" sz="2000" dirty="0">
                <a:solidFill>
                  <a:srgbClr val="FFFFFF"/>
                </a:solidFill>
                <a:latin typeface="Adobe Clean ExtraBold" pitchFamily="34" charset="0"/>
                <a:ea typeface="Adobe Clean ExtraBold" pitchFamily="34" charset="-122"/>
                <a:cs typeface="Adobe Clean ExtraBold" pitchFamily="34" charset="-120"/>
              </a:rPr>
              <a:t>01</a:t>
            </a:r>
            <a:endParaRPr lang="en-US" sz="2000" dirty="0"/>
          </a:p>
        </p:txBody>
      </p:sp>
      <p:sp>
        <p:nvSpPr>
          <p:cNvPr id="7" name="Text 5"/>
          <p:cNvSpPr/>
          <p:nvPr/>
        </p:nvSpPr>
        <p:spPr>
          <a:xfrm>
            <a:off x="804672" y="2953512"/>
            <a:ext cx="2057400" cy="777240"/>
          </a:xfrm>
          <a:prstGeom prst="rect">
            <a:avLst/>
          </a:prstGeom>
          <a:noFill/>
          <a:ln/>
        </p:spPr>
        <p:txBody>
          <a:bodyPr wrap="square" lIns="0" tIns="0" rIns="0" bIns="0" rtlCol="0" anchor="t"/>
          <a:lstStyle/>
          <a:p>
            <a:pPr algn="l" indent="0" marL="0">
              <a:lnSpc>
                <a:spcPct val="102000"/>
              </a:lnSpc>
              <a:buNone/>
            </a:pPr>
            <a:r>
              <a:rPr lang="en-US" sz="1550" dirty="0">
                <a:solidFill>
                  <a:srgbClr val="21304A"/>
                </a:solidFill>
                <a:latin typeface="Adobe Clean ExtraBold" pitchFamily="34" charset="0"/>
                <a:ea typeface="Adobe Clean ExtraBold" pitchFamily="34" charset="-122"/>
                <a:cs typeface="Adobe Clean ExtraBold" pitchFamily="34" charset="-120"/>
              </a:rPr>
              <a:t>Soft FOS and mass balancing</a:t>
            </a:r>
            <a:endParaRPr lang="en-US" sz="1550" dirty="0"/>
          </a:p>
        </p:txBody>
      </p:sp>
      <p:sp>
        <p:nvSpPr>
          <p:cNvPr id="8" name="Text 6"/>
          <p:cNvSpPr/>
          <p:nvPr/>
        </p:nvSpPr>
        <p:spPr>
          <a:xfrm>
            <a:off x="804672" y="3749040"/>
            <a:ext cx="2057400" cy="1371600"/>
          </a:xfrm>
          <a:prstGeom prst="rect">
            <a:avLst/>
          </a:prstGeom>
          <a:noFill/>
          <a:ln/>
        </p:spPr>
        <p:txBody>
          <a:bodyPr wrap="square" lIns="0" tIns="0" rIns="0" bIns="0" rtlCol="0" anchor="t"/>
          <a:lstStyle/>
          <a:p>
            <a:pPr algn="l" indent="0" marL="0">
              <a:lnSpc>
                <a:spcPct val="112000"/>
              </a:lnSpc>
              <a:buNone/>
            </a:pPr>
            <a:r>
              <a:rPr lang="en-US" sz="1150" dirty="0">
                <a:solidFill>
                  <a:srgbClr val="5A6473"/>
                </a:solidFill>
                <a:latin typeface="Adobe Clean" pitchFamily="34" charset="0"/>
                <a:ea typeface="Adobe Clean" pitchFamily="34" charset="-122"/>
                <a:cs typeface="Adobe Clean" pitchFamily="34" charset="-120"/>
              </a:rPr>
              <a:t>A reward-side trade-off so the policy fixes buckling without over-shooting mass, since a hard rule over-corrects.</a:t>
            </a:r>
            <a:endParaRPr lang="en-US" sz="1150" dirty="0"/>
          </a:p>
        </p:txBody>
      </p:sp>
      <p:sp>
        <p:nvSpPr>
          <p:cNvPr id="9" name="Shape 7"/>
          <p:cNvSpPr/>
          <p:nvPr/>
        </p:nvSpPr>
        <p:spPr>
          <a:xfrm>
            <a:off x="3154680" y="3401568"/>
            <a:ext cx="201168" cy="310896"/>
          </a:xfrm>
          <a:prstGeom prst="chevron">
            <a:avLst/>
          </a:prstGeom>
          <a:solidFill>
            <a:srgbClr val="C4CAD4"/>
          </a:solidFill>
          <a:ln/>
        </p:spPr>
      </p:sp>
      <p:sp>
        <p:nvSpPr>
          <p:cNvPr id="10" name="Shape 8"/>
          <p:cNvSpPr/>
          <p:nvPr/>
        </p:nvSpPr>
        <p:spPr>
          <a:xfrm>
            <a:off x="3410712" y="1874520"/>
            <a:ext cx="2532888" cy="3383280"/>
          </a:xfrm>
          <a:prstGeom prst="roundRect">
            <a:avLst>
              <a:gd name="adj" fmla="val 4332"/>
            </a:avLst>
          </a:prstGeom>
          <a:solidFill>
            <a:srgbClr val="FFFFFF"/>
          </a:solidFill>
          <a:ln w="15875">
            <a:solidFill>
              <a:srgbClr val="D9DEE6"/>
            </a:solidFill>
            <a:prstDash val="solid"/>
          </a:ln>
        </p:spPr>
      </p:sp>
      <p:sp>
        <p:nvSpPr>
          <p:cNvPr id="11" name="Shape 9"/>
          <p:cNvSpPr/>
          <p:nvPr/>
        </p:nvSpPr>
        <p:spPr>
          <a:xfrm>
            <a:off x="3666744" y="2148840"/>
            <a:ext cx="640080" cy="640080"/>
          </a:xfrm>
          <a:prstGeom prst="ellipse">
            <a:avLst/>
          </a:prstGeom>
          <a:solidFill>
            <a:srgbClr val="EB1000"/>
          </a:solidFill>
          <a:ln/>
        </p:spPr>
      </p:sp>
      <p:sp>
        <p:nvSpPr>
          <p:cNvPr id="12" name="Text 10"/>
          <p:cNvSpPr/>
          <p:nvPr/>
        </p:nvSpPr>
        <p:spPr>
          <a:xfrm>
            <a:off x="3666744" y="2148840"/>
            <a:ext cx="640080" cy="640080"/>
          </a:xfrm>
          <a:prstGeom prst="rect">
            <a:avLst/>
          </a:prstGeom>
          <a:noFill/>
          <a:ln/>
        </p:spPr>
        <p:txBody>
          <a:bodyPr wrap="square" lIns="0" tIns="0" rIns="0" bIns="0" rtlCol="0" anchor="ctr"/>
          <a:lstStyle/>
          <a:p>
            <a:pPr algn="ctr" indent="0" marL="0">
              <a:buNone/>
            </a:pPr>
            <a:r>
              <a:rPr lang="en-US" sz="2000" dirty="0">
                <a:solidFill>
                  <a:srgbClr val="FFFFFF"/>
                </a:solidFill>
                <a:latin typeface="Adobe Clean ExtraBold" pitchFamily="34" charset="0"/>
                <a:ea typeface="Adobe Clean ExtraBold" pitchFamily="34" charset="-122"/>
                <a:cs typeface="Adobe Clean ExtraBold" pitchFamily="34" charset="-120"/>
              </a:rPr>
              <a:t>02</a:t>
            </a:r>
            <a:endParaRPr lang="en-US" sz="2000" dirty="0"/>
          </a:p>
        </p:txBody>
      </p:sp>
      <p:sp>
        <p:nvSpPr>
          <p:cNvPr id="13" name="Text 11"/>
          <p:cNvSpPr/>
          <p:nvPr/>
        </p:nvSpPr>
        <p:spPr>
          <a:xfrm>
            <a:off x="3648456" y="2953512"/>
            <a:ext cx="2057400" cy="777240"/>
          </a:xfrm>
          <a:prstGeom prst="rect">
            <a:avLst/>
          </a:prstGeom>
          <a:noFill/>
          <a:ln/>
        </p:spPr>
        <p:txBody>
          <a:bodyPr wrap="square" lIns="0" tIns="0" rIns="0" bIns="0" rtlCol="0" anchor="t"/>
          <a:lstStyle/>
          <a:p>
            <a:pPr algn="l" indent="0" marL="0">
              <a:lnSpc>
                <a:spcPct val="102000"/>
              </a:lnSpc>
              <a:buNone/>
            </a:pPr>
            <a:r>
              <a:rPr lang="en-US" sz="1550" dirty="0">
                <a:solidFill>
                  <a:srgbClr val="21304A"/>
                </a:solidFill>
                <a:latin typeface="Adobe Clean ExtraBold" pitchFamily="34" charset="0"/>
                <a:ea typeface="Adobe Clean ExtraBold" pitchFamily="34" charset="-122"/>
                <a:cs typeface="Adobe Clean ExtraBold" pitchFamily="34" charset="-120"/>
              </a:rPr>
              <a:t>Format-protecting constraint</a:t>
            </a:r>
            <a:endParaRPr lang="en-US" sz="1550" dirty="0"/>
          </a:p>
        </p:txBody>
      </p:sp>
      <p:sp>
        <p:nvSpPr>
          <p:cNvPr id="14" name="Text 12"/>
          <p:cNvSpPr/>
          <p:nvPr/>
        </p:nvSpPr>
        <p:spPr>
          <a:xfrm>
            <a:off x="3648456" y="3749040"/>
            <a:ext cx="2057400" cy="1371600"/>
          </a:xfrm>
          <a:prstGeom prst="rect">
            <a:avLst/>
          </a:prstGeom>
          <a:noFill/>
          <a:ln/>
        </p:spPr>
        <p:txBody>
          <a:bodyPr wrap="square" lIns="0" tIns="0" rIns="0" bIns="0" rtlCol="0" anchor="t"/>
          <a:lstStyle/>
          <a:p>
            <a:pPr algn="l" indent="0" marL="0">
              <a:lnSpc>
                <a:spcPct val="112000"/>
              </a:lnSpc>
              <a:buNone/>
            </a:pPr>
            <a:r>
              <a:rPr lang="en-US" sz="1150" dirty="0">
                <a:solidFill>
                  <a:srgbClr val="5A6473"/>
                </a:solidFill>
                <a:latin typeface="Adobe Clean" pitchFamily="34" charset="0"/>
                <a:ea typeface="Adobe Clean" pitchFamily="34" charset="-122"/>
                <a:cs typeface="Adobe Clean" pitchFamily="34" charset="-120"/>
              </a:rPr>
              <a:t>Keep the policy close to the warmstart format to stop grammar drift and reclaim the wasted turns.</a:t>
            </a:r>
            <a:endParaRPr lang="en-US" sz="1150" dirty="0"/>
          </a:p>
        </p:txBody>
      </p:sp>
      <p:sp>
        <p:nvSpPr>
          <p:cNvPr id="15" name="Shape 13"/>
          <p:cNvSpPr/>
          <p:nvPr/>
        </p:nvSpPr>
        <p:spPr>
          <a:xfrm>
            <a:off x="5998464" y="3401568"/>
            <a:ext cx="201168" cy="310896"/>
          </a:xfrm>
          <a:prstGeom prst="chevron">
            <a:avLst/>
          </a:prstGeom>
          <a:solidFill>
            <a:srgbClr val="C4CAD4"/>
          </a:solidFill>
          <a:ln/>
        </p:spPr>
      </p:sp>
      <p:sp>
        <p:nvSpPr>
          <p:cNvPr id="16" name="Shape 14"/>
          <p:cNvSpPr/>
          <p:nvPr/>
        </p:nvSpPr>
        <p:spPr>
          <a:xfrm>
            <a:off x="6254496" y="1874520"/>
            <a:ext cx="2532888" cy="3383280"/>
          </a:xfrm>
          <a:prstGeom prst="roundRect">
            <a:avLst>
              <a:gd name="adj" fmla="val 4332"/>
            </a:avLst>
          </a:prstGeom>
          <a:solidFill>
            <a:srgbClr val="FFFFFF"/>
          </a:solidFill>
          <a:ln w="15875">
            <a:solidFill>
              <a:srgbClr val="D9DEE6"/>
            </a:solidFill>
            <a:prstDash val="solid"/>
          </a:ln>
        </p:spPr>
      </p:sp>
      <p:sp>
        <p:nvSpPr>
          <p:cNvPr id="17" name="Shape 15"/>
          <p:cNvSpPr/>
          <p:nvPr/>
        </p:nvSpPr>
        <p:spPr>
          <a:xfrm>
            <a:off x="6510528" y="2148840"/>
            <a:ext cx="640080" cy="640080"/>
          </a:xfrm>
          <a:prstGeom prst="ellipse">
            <a:avLst/>
          </a:prstGeom>
          <a:solidFill>
            <a:srgbClr val="5A6473"/>
          </a:solidFill>
          <a:ln/>
        </p:spPr>
      </p:sp>
      <p:sp>
        <p:nvSpPr>
          <p:cNvPr id="18" name="Text 16"/>
          <p:cNvSpPr/>
          <p:nvPr/>
        </p:nvSpPr>
        <p:spPr>
          <a:xfrm>
            <a:off x="6510528" y="2148840"/>
            <a:ext cx="640080" cy="640080"/>
          </a:xfrm>
          <a:prstGeom prst="rect">
            <a:avLst/>
          </a:prstGeom>
          <a:noFill/>
          <a:ln/>
        </p:spPr>
        <p:txBody>
          <a:bodyPr wrap="square" lIns="0" tIns="0" rIns="0" bIns="0" rtlCol="0" anchor="ctr"/>
          <a:lstStyle/>
          <a:p>
            <a:pPr algn="ctr" indent="0" marL="0">
              <a:buNone/>
            </a:pPr>
            <a:r>
              <a:rPr lang="en-US" sz="2000" dirty="0">
                <a:solidFill>
                  <a:srgbClr val="FFFFFF"/>
                </a:solidFill>
                <a:latin typeface="Adobe Clean ExtraBold" pitchFamily="34" charset="0"/>
                <a:ea typeface="Adobe Clean ExtraBold" pitchFamily="34" charset="-122"/>
                <a:cs typeface="Adobe Clean ExtraBold" pitchFamily="34" charset="-120"/>
              </a:rPr>
              <a:t>03</a:t>
            </a:r>
            <a:endParaRPr lang="en-US" sz="2000" dirty="0"/>
          </a:p>
        </p:txBody>
      </p:sp>
      <p:sp>
        <p:nvSpPr>
          <p:cNvPr id="19" name="Text 17"/>
          <p:cNvSpPr/>
          <p:nvPr/>
        </p:nvSpPr>
        <p:spPr>
          <a:xfrm>
            <a:off x="6492240" y="2953512"/>
            <a:ext cx="2057400" cy="777240"/>
          </a:xfrm>
          <a:prstGeom prst="rect">
            <a:avLst/>
          </a:prstGeom>
          <a:noFill/>
          <a:ln/>
        </p:spPr>
        <p:txBody>
          <a:bodyPr wrap="square" lIns="0" tIns="0" rIns="0" bIns="0" rtlCol="0" anchor="t"/>
          <a:lstStyle/>
          <a:p>
            <a:pPr algn="l" indent="0" marL="0">
              <a:lnSpc>
                <a:spcPct val="102000"/>
              </a:lnSpc>
              <a:buNone/>
            </a:pPr>
            <a:r>
              <a:rPr lang="en-US" sz="1550" dirty="0">
                <a:solidFill>
                  <a:srgbClr val="21304A"/>
                </a:solidFill>
                <a:latin typeface="Adobe Clean ExtraBold" pitchFamily="34" charset="0"/>
                <a:ea typeface="Adobe Clean ExtraBold" pitchFamily="34" charset="-122"/>
                <a:cs typeface="Adobe Clean ExtraBold" pitchFamily="34" charset="-120"/>
              </a:rPr>
              <a:t>Robust degenerate states</a:t>
            </a:r>
            <a:endParaRPr lang="en-US" sz="1550" dirty="0"/>
          </a:p>
        </p:txBody>
      </p:sp>
      <p:sp>
        <p:nvSpPr>
          <p:cNvPr id="20" name="Text 18"/>
          <p:cNvSpPr/>
          <p:nvPr/>
        </p:nvSpPr>
        <p:spPr>
          <a:xfrm>
            <a:off x="6492240" y="3749040"/>
            <a:ext cx="2057400" cy="1371600"/>
          </a:xfrm>
          <a:prstGeom prst="rect">
            <a:avLst/>
          </a:prstGeom>
          <a:noFill/>
          <a:ln/>
        </p:spPr>
        <p:txBody>
          <a:bodyPr wrap="square" lIns="0" tIns="0" rIns="0" bIns="0" rtlCol="0" anchor="t"/>
          <a:lstStyle/>
          <a:p>
            <a:pPr algn="l" indent="0" marL="0">
              <a:lnSpc>
                <a:spcPct val="112000"/>
              </a:lnSpc>
              <a:buNone/>
            </a:pPr>
            <a:r>
              <a:rPr lang="en-US" sz="1150" dirty="0">
                <a:solidFill>
                  <a:srgbClr val="5A6473"/>
                </a:solidFill>
                <a:latin typeface="Adobe Clean" pitchFamily="34" charset="0"/>
                <a:ea typeface="Adobe Clean" pitchFamily="34" charset="-122"/>
                <a:cs typeface="Adobe Clean" pitchFamily="34" charset="-120"/>
              </a:rPr>
              <a:t>Handle structurally broken or very heavy intermediate designs so the solver returns usable signal.</a:t>
            </a:r>
            <a:endParaRPr lang="en-US" sz="1150" dirty="0"/>
          </a:p>
        </p:txBody>
      </p:sp>
      <p:sp>
        <p:nvSpPr>
          <p:cNvPr id="21" name="Shape 19"/>
          <p:cNvSpPr/>
          <p:nvPr/>
        </p:nvSpPr>
        <p:spPr>
          <a:xfrm>
            <a:off x="8842248" y="3401568"/>
            <a:ext cx="201168" cy="310896"/>
          </a:xfrm>
          <a:prstGeom prst="chevron">
            <a:avLst/>
          </a:prstGeom>
          <a:solidFill>
            <a:srgbClr val="C4CAD4"/>
          </a:solidFill>
          <a:ln/>
        </p:spPr>
      </p:sp>
      <p:sp>
        <p:nvSpPr>
          <p:cNvPr id="22" name="Shape 20"/>
          <p:cNvSpPr/>
          <p:nvPr/>
        </p:nvSpPr>
        <p:spPr>
          <a:xfrm>
            <a:off x="9098280" y="1874520"/>
            <a:ext cx="2532888" cy="3383280"/>
          </a:xfrm>
          <a:prstGeom prst="roundRect">
            <a:avLst>
              <a:gd name="adj" fmla="val 4332"/>
            </a:avLst>
          </a:prstGeom>
          <a:solidFill>
            <a:srgbClr val="FFFFFF"/>
          </a:solidFill>
          <a:ln w="15875">
            <a:solidFill>
              <a:srgbClr val="D9DEE6"/>
            </a:solidFill>
            <a:prstDash val="solid"/>
          </a:ln>
        </p:spPr>
      </p:sp>
      <p:sp>
        <p:nvSpPr>
          <p:cNvPr id="23" name="Shape 21"/>
          <p:cNvSpPr/>
          <p:nvPr/>
        </p:nvSpPr>
        <p:spPr>
          <a:xfrm>
            <a:off x="9354312" y="2148840"/>
            <a:ext cx="640080" cy="640080"/>
          </a:xfrm>
          <a:prstGeom prst="ellipse">
            <a:avLst/>
          </a:prstGeom>
          <a:solidFill>
            <a:srgbClr val="21304A"/>
          </a:solidFill>
          <a:ln/>
        </p:spPr>
      </p:sp>
      <p:sp>
        <p:nvSpPr>
          <p:cNvPr id="24" name="Text 22"/>
          <p:cNvSpPr/>
          <p:nvPr/>
        </p:nvSpPr>
        <p:spPr>
          <a:xfrm>
            <a:off x="9354312" y="2148840"/>
            <a:ext cx="640080" cy="640080"/>
          </a:xfrm>
          <a:prstGeom prst="rect">
            <a:avLst/>
          </a:prstGeom>
          <a:noFill/>
          <a:ln/>
        </p:spPr>
        <p:txBody>
          <a:bodyPr wrap="square" lIns="0" tIns="0" rIns="0" bIns="0" rtlCol="0" anchor="ctr"/>
          <a:lstStyle/>
          <a:p>
            <a:pPr algn="ctr" indent="0" marL="0">
              <a:buNone/>
            </a:pPr>
            <a:r>
              <a:rPr lang="en-US" sz="2000" dirty="0">
                <a:solidFill>
                  <a:srgbClr val="FFFFFF"/>
                </a:solidFill>
                <a:latin typeface="Adobe Clean ExtraBold" pitchFamily="34" charset="0"/>
                <a:ea typeface="Adobe Clean ExtraBold" pitchFamily="34" charset="-122"/>
                <a:cs typeface="Adobe Clean ExtraBold" pitchFamily="34" charset="-120"/>
              </a:rPr>
              <a:t>★</a:t>
            </a:r>
            <a:endParaRPr lang="en-US" sz="2000" dirty="0"/>
          </a:p>
        </p:txBody>
      </p:sp>
      <p:sp>
        <p:nvSpPr>
          <p:cNvPr id="25" name="Text 23"/>
          <p:cNvSpPr/>
          <p:nvPr/>
        </p:nvSpPr>
        <p:spPr>
          <a:xfrm>
            <a:off x="9336024" y="2953512"/>
            <a:ext cx="2057400" cy="777240"/>
          </a:xfrm>
          <a:prstGeom prst="rect">
            <a:avLst/>
          </a:prstGeom>
          <a:noFill/>
          <a:ln/>
        </p:spPr>
        <p:txBody>
          <a:bodyPr wrap="square" lIns="0" tIns="0" rIns="0" bIns="0" rtlCol="0" anchor="t"/>
          <a:lstStyle/>
          <a:p>
            <a:pPr algn="l" indent="0" marL="0">
              <a:lnSpc>
                <a:spcPct val="102000"/>
              </a:lnSpc>
              <a:buNone/>
            </a:pPr>
            <a:r>
              <a:rPr lang="en-US" sz="1550" dirty="0">
                <a:solidFill>
                  <a:srgbClr val="21304A"/>
                </a:solidFill>
                <a:latin typeface="Adobe Clean ExtraBold" pitchFamily="34" charset="0"/>
                <a:ea typeface="Adobe Clean ExtraBold" pitchFamily="34" charset="-122"/>
                <a:cs typeface="Adobe Clean ExtraBold" pitchFamily="34" charset="-120"/>
              </a:rPr>
              <a:t>Distillation (in reserve)</a:t>
            </a:r>
            <a:endParaRPr lang="en-US" sz="1550" dirty="0"/>
          </a:p>
        </p:txBody>
      </p:sp>
      <p:sp>
        <p:nvSpPr>
          <p:cNvPr id="26" name="Text 24"/>
          <p:cNvSpPr/>
          <p:nvPr/>
        </p:nvSpPr>
        <p:spPr>
          <a:xfrm>
            <a:off x="9336024" y="3749040"/>
            <a:ext cx="2057400" cy="1371600"/>
          </a:xfrm>
          <a:prstGeom prst="rect">
            <a:avLst/>
          </a:prstGeom>
          <a:noFill/>
          <a:ln/>
        </p:spPr>
        <p:txBody>
          <a:bodyPr wrap="square" lIns="0" tIns="0" rIns="0" bIns="0" rtlCol="0" anchor="t"/>
          <a:lstStyle/>
          <a:p>
            <a:pPr algn="l" indent="0" marL="0">
              <a:lnSpc>
                <a:spcPct val="112000"/>
              </a:lnSpc>
              <a:buNone/>
            </a:pPr>
            <a:r>
              <a:rPr lang="en-US" sz="1150" dirty="0">
                <a:solidFill>
                  <a:srgbClr val="5A6473"/>
                </a:solidFill>
                <a:latin typeface="Adobe Clean" pitchFamily="34" charset="0"/>
                <a:ea typeface="Adobe Clean" pitchFamily="34" charset="-122"/>
                <a:cs typeface="Adobe Clean" pitchFamily="34" charset="-120"/>
              </a:rPr>
              <a:t>The 30B teacher now produces trajectories that solve 67%, worth distilling into the 14B if the above stall.</a:t>
            </a:r>
            <a:endParaRPr lang="en-US" sz="1150" dirty="0"/>
          </a:p>
        </p:txBody>
      </p:sp>
      <p:sp>
        <p:nvSpPr>
          <p:cNvPr id="27" name="Shape 25"/>
          <p:cNvSpPr/>
          <p:nvPr/>
        </p:nvSpPr>
        <p:spPr>
          <a:xfrm>
            <a:off x="566928" y="5486400"/>
            <a:ext cx="11064240" cy="502920"/>
          </a:xfrm>
          <a:prstGeom prst="roundRect">
            <a:avLst>
              <a:gd name="adj" fmla="val 18182"/>
            </a:avLst>
          </a:prstGeom>
          <a:solidFill>
            <a:srgbClr val="EEF1F6"/>
          </a:solidFill>
          <a:ln w="12700">
            <a:solidFill>
              <a:srgbClr val="D9DEE6"/>
            </a:solidFill>
            <a:prstDash val="solid"/>
          </a:ln>
        </p:spPr>
      </p:sp>
      <p:sp>
        <p:nvSpPr>
          <p:cNvPr id="28" name="Text 26"/>
          <p:cNvSpPr/>
          <p:nvPr/>
        </p:nvSpPr>
        <p:spPr>
          <a:xfrm>
            <a:off x="786384" y="5650992"/>
            <a:ext cx="10625328" cy="210312"/>
          </a:xfrm>
          <a:prstGeom prst="rect">
            <a:avLst/>
          </a:prstGeom>
          <a:noFill/>
          <a:ln/>
        </p:spPr>
        <p:txBody>
          <a:bodyPr wrap="square" lIns="0" tIns="0" rIns="0" bIns="0" rtlCol="0" anchor="ctr"/>
          <a:lstStyle/>
          <a:p>
            <a:pPr algn="l" indent="0" marL="0">
              <a:lnSpc>
                <a:spcPct val="112000"/>
              </a:lnSpc>
              <a:spcAft>
                <a:spcPts val="500"/>
              </a:spcAft>
              <a:buNone/>
            </a:pPr>
            <a:r>
              <a:rPr lang="en-US" sz="1250" dirty="0">
                <a:solidFill>
                  <a:srgbClr val="21304A"/>
                </a:solidFill>
                <a:latin typeface="Adobe Clean ExtraBold" pitchFamily="34" charset="0"/>
                <a:ea typeface="Adobe Clean ExtraBold" pitchFamily="34" charset="-122"/>
                <a:cs typeface="Adobe Clean ExtraBold" pitchFamily="34" charset="-120"/>
              </a:rPr>
              <a:t>Each step targets a named failure mode from the previous slide, so the gap to 90% and beyond is a list, not a mystery.</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64240" cy="676656"/>
          </a:xfrm>
          <a:prstGeom prst="rect">
            <a:avLst/>
          </a:prstGeom>
          <a:noFill/>
          <a:ln/>
        </p:spPr>
        <p:txBody>
          <a:bodyPr wrap="square" lIns="0" tIns="0" rIns="0" bIns="0" rtlCol="0" anchor="t"/>
          <a:lstStyle/>
          <a:p>
            <a:pPr algn="l" indent="0" marL="0">
              <a:buNone/>
            </a:pPr>
            <a:r>
              <a:rPr lang="en-US" sz="2800" dirty="0">
                <a:solidFill>
                  <a:srgbClr val="EB1000"/>
                </a:solidFill>
                <a:latin typeface="Adobe Clean ExtraBold" pitchFamily="34" charset="0"/>
                <a:ea typeface="Adobe Clean ExtraBold" pitchFamily="34" charset="-122"/>
                <a:cs typeface="Adobe Clean ExtraBold" pitchFamily="34" charset="-120"/>
              </a:rPr>
              <a:t>Key Takeaways</a:t>
            </a:r>
            <a:endParaRPr lang="en-US" sz="2800" dirty="0"/>
          </a:p>
        </p:txBody>
      </p:sp>
      <p:sp>
        <p:nvSpPr>
          <p:cNvPr id="3" name="Text 1"/>
          <p:cNvSpPr/>
          <p:nvPr/>
        </p:nvSpPr>
        <p:spPr>
          <a:xfrm>
            <a:off x="566928" y="1060704"/>
            <a:ext cx="11064240" cy="384048"/>
          </a:xfrm>
          <a:prstGeom prst="rect">
            <a:avLst/>
          </a:prstGeom>
          <a:noFill/>
          <a:ln/>
        </p:spPr>
        <p:txBody>
          <a:bodyPr wrap="square" lIns="0" tIns="0" rIns="0" bIns="0" rtlCol="0" anchor="t"/>
          <a:lstStyle/>
          <a:p>
            <a:pPr algn="l" indent="0" marL="0">
              <a:buNone/>
            </a:pPr>
            <a:r>
              <a:rPr lang="en-US" sz="1450" dirty="0">
                <a:solidFill>
                  <a:srgbClr val="5A6473"/>
                </a:solidFill>
                <a:latin typeface="Adobe Clean" pitchFamily="34" charset="0"/>
                <a:ea typeface="Adobe Clean" pitchFamily="34" charset="-122"/>
                <a:cs typeface="Adobe Clean" pitchFamily="34" charset="-120"/>
              </a:rPr>
              <a:t>Four lessons from taking a 14B model from 0% to 68%.</a:t>
            </a:r>
            <a:endParaRPr lang="en-US" sz="1450" dirty="0"/>
          </a:p>
        </p:txBody>
      </p:sp>
      <p:sp>
        <p:nvSpPr>
          <p:cNvPr id="4" name="Shape 2"/>
          <p:cNvSpPr/>
          <p:nvPr/>
        </p:nvSpPr>
        <p:spPr>
          <a:xfrm>
            <a:off x="566928" y="1627632"/>
            <a:ext cx="11064240" cy="1024128"/>
          </a:xfrm>
          <a:prstGeom prst="roundRect">
            <a:avLst>
              <a:gd name="adj" fmla="val 8929"/>
            </a:avLst>
          </a:prstGeom>
          <a:solidFill>
            <a:srgbClr val="F4F5F7"/>
          </a:solidFill>
          <a:ln w="12700">
            <a:solidFill>
              <a:srgbClr val="D9DEE6"/>
            </a:solidFill>
            <a:prstDash val="solid"/>
          </a:ln>
        </p:spPr>
      </p:sp>
      <p:sp>
        <p:nvSpPr>
          <p:cNvPr id="5" name="Shape 3"/>
          <p:cNvSpPr/>
          <p:nvPr/>
        </p:nvSpPr>
        <p:spPr>
          <a:xfrm>
            <a:off x="822960" y="1801368"/>
            <a:ext cx="676656" cy="676656"/>
          </a:xfrm>
          <a:prstGeom prst="ellipse">
            <a:avLst/>
          </a:prstGeom>
          <a:solidFill>
            <a:srgbClr val="21304A"/>
          </a:solidFill>
          <a:ln/>
        </p:spPr>
      </p:sp>
      <p:sp>
        <p:nvSpPr>
          <p:cNvPr id="6" name="Text 4"/>
          <p:cNvSpPr/>
          <p:nvPr/>
        </p:nvSpPr>
        <p:spPr>
          <a:xfrm>
            <a:off x="822960" y="1801368"/>
            <a:ext cx="676656" cy="676656"/>
          </a:xfrm>
          <a:prstGeom prst="rect">
            <a:avLst/>
          </a:prstGeom>
          <a:noFill/>
          <a:ln/>
        </p:spPr>
        <p:txBody>
          <a:bodyPr wrap="square" lIns="0" tIns="0" rIns="0" bIns="0" rtlCol="0" anchor="ctr"/>
          <a:lstStyle/>
          <a:p>
            <a:pPr algn="ctr" indent="0" marL="0">
              <a:buNone/>
            </a:pPr>
            <a:r>
              <a:rPr lang="en-US" sz="1900" dirty="0">
                <a:solidFill>
                  <a:srgbClr val="FFFFFF"/>
                </a:solidFill>
                <a:latin typeface="Adobe Clean ExtraBold" pitchFamily="34" charset="0"/>
                <a:ea typeface="Adobe Clean ExtraBold" pitchFamily="34" charset="-122"/>
                <a:cs typeface="Adobe Clean ExtraBold" pitchFamily="34" charset="-120"/>
              </a:rPr>
              <a:t>01</a:t>
            </a:r>
            <a:endParaRPr lang="en-US" sz="1900" dirty="0"/>
          </a:p>
        </p:txBody>
      </p:sp>
      <p:sp>
        <p:nvSpPr>
          <p:cNvPr id="7" name="Text 5"/>
          <p:cNvSpPr/>
          <p:nvPr/>
        </p:nvSpPr>
        <p:spPr>
          <a:xfrm>
            <a:off x="1755648" y="1700784"/>
            <a:ext cx="9646920" cy="877824"/>
          </a:xfrm>
          <a:prstGeom prst="rect">
            <a:avLst/>
          </a:prstGeom>
          <a:noFill/>
          <a:ln/>
        </p:spPr>
        <p:txBody>
          <a:bodyPr wrap="square" lIns="0" tIns="0" rIns="0" bIns="0" rtlCol="0" anchor="ctr"/>
          <a:lstStyle/>
          <a:p>
            <a:pPr algn="l" indent="0" marL="0">
              <a:lnSpc>
                <a:spcPct val="106000"/>
              </a:lnSpc>
              <a:buNone/>
            </a:pPr>
            <a:r>
              <a:rPr lang="en-US" sz="1700" dirty="0">
                <a:solidFill>
                  <a:srgbClr val="21304A"/>
                </a:solidFill>
                <a:latin typeface="Adobe Clean ExtraBold" pitchFamily="34" charset="0"/>
                <a:ea typeface="Adobe Clean ExtraBold" pitchFamily="34" charset="-122"/>
                <a:cs typeface="Adobe Clean ExtraBold" pitchFamily="34" charset="-120"/>
              </a:rPr>
              <a:t>Protocol first   </a:t>
            </a:r>
            <a:pPr algn="l" indent="0" marL="0">
              <a:lnSpc>
                <a:spcPct val="106000"/>
              </a:lnSpc>
              <a:buNone/>
            </a:pPr>
            <a:r>
              <a:rPr lang="en-US" sz="1250" dirty="0">
                <a:solidFill>
                  <a:srgbClr val="5A6473"/>
                </a:solidFill>
                <a:latin typeface="Adobe Clean" pitchFamily="34" charset="0"/>
                <a:ea typeface="Adobe Clean" pitchFamily="34" charset="-122"/>
                <a:cs typeface="Adobe Clean" pitchFamily="34" charset="-120"/>
              </a:rPr>
              <a:t>A per-turn policy must be run per-turn. The single-turn mismatch alone cost almost all feasibility, so match training to deployment.</a:t>
            </a:r>
            <a:endParaRPr lang="en-US" sz="1700" dirty="0"/>
          </a:p>
        </p:txBody>
      </p:sp>
      <p:sp>
        <p:nvSpPr>
          <p:cNvPr id="8" name="Shape 6"/>
          <p:cNvSpPr/>
          <p:nvPr/>
        </p:nvSpPr>
        <p:spPr>
          <a:xfrm>
            <a:off x="566928" y="2798064"/>
            <a:ext cx="11064240" cy="1024128"/>
          </a:xfrm>
          <a:prstGeom prst="roundRect">
            <a:avLst>
              <a:gd name="adj" fmla="val 8929"/>
            </a:avLst>
          </a:prstGeom>
          <a:solidFill>
            <a:srgbClr val="F4F5F7"/>
          </a:solidFill>
          <a:ln w="12700">
            <a:solidFill>
              <a:srgbClr val="D9DEE6"/>
            </a:solidFill>
            <a:prstDash val="solid"/>
          </a:ln>
        </p:spPr>
      </p:sp>
      <p:sp>
        <p:nvSpPr>
          <p:cNvPr id="9" name="Shape 7"/>
          <p:cNvSpPr/>
          <p:nvPr/>
        </p:nvSpPr>
        <p:spPr>
          <a:xfrm>
            <a:off x="822960" y="2971800"/>
            <a:ext cx="676656" cy="676656"/>
          </a:xfrm>
          <a:prstGeom prst="ellipse">
            <a:avLst/>
          </a:prstGeom>
          <a:solidFill>
            <a:srgbClr val="EB1000"/>
          </a:solidFill>
          <a:ln/>
        </p:spPr>
      </p:sp>
      <p:sp>
        <p:nvSpPr>
          <p:cNvPr id="10" name="Text 8"/>
          <p:cNvSpPr/>
          <p:nvPr/>
        </p:nvSpPr>
        <p:spPr>
          <a:xfrm>
            <a:off x="822960" y="2971800"/>
            <a:ext cx="676656" cy="676656"/>
          </a:xfrm>
          <a:prstGeom prst="rect">
            <a:avLst/>
          </a:prstGeom>
          <a:noFill/>
          <a:ln/>
        </p:spPr>
        <p:txBody>
          <a:bodyPr wrap="square" lIns="0" tIns="0" rIns="0" bIns="0" rtlCol="0" anchor="ctr"/>
          <a:lstStyle/>
          <a:p>
            <a:pPr algn="ctr" indent="0" marL="0">
              <a:buNone/>
            </a:pPr>
            <a:r>
              <a:rPr lang="en-US" sz="1900" dirty="0">
                <a:solidFill>
                  <a:srgbClr val="FFFFFF"/>
                </a:solidFill>
                <a:latin typeface="Adobe Clean ExtraBold" pitchFamily="34" charset="0"/>
                <a:ea typeface="Adobe Clean ExtraBold" pitchFamily="34" charset="-122"/>
                <a:cs typeface="Adobe Clean ExtraBold" pitchFamily="34" charset="-120"/>
              </a:rPr>
              <a:t>02</a:t>
            </a:r>
            <a:endParaRPr lang="en-US" sz="1900" dirty="0"/>
          </a:p>
        </p:txBody>
      </p:sp>
      <p:sp>
        <p:nvSpPr>
          <p:cNvPr id="11" name="Text 9"/>
          <p:cNvSpPr/>
          <p:nvPr/>
        </p:nvSpPr>
        <p:spPr>
          <a:xfrm>
            <a:off x="1755648" y="2871216"/>
            <a:ext cx="9646920" cy="877824"/>
          </a:xfrm>
          <a:prstGeom prst="rect">
            <a:avLst/>
          </a:prstGeom>
          <a:noFill/>
          <a:ln/>
        </p:spPr>
        <p:txBody>
          <a:bodyPr wrap="square" lIns="0" tIns="0" rIns="0" bIns="0" rtlCol="0" anchor="ctr"/>
          <a:lstStyle/>
          <a:p>
            <a:pPr algn="l" indent="0" marL="0">
              <a:lnSpc>
                <a:spcPct val="106000"/>
              </a:lnSpc>
              <a:buNone/>
            </a:pPr>
            <a:r>
              <a:rPr lang="en-US" sz="1700" dirty="0">
                <a:solidFill>
                  <a:srgbClr val="21304A"/>
                </a:solidFill>
                <a:latin typeface="Adobe Clean ExtraBold" pitchFamily="34" charset="0"/>
                <a:ea typeface="Adobe Clean ExtraBold" pitchFamily="34" charset="-122"/>
                <a:cs typeface="Adobe Clean ExtraBold" pitchFamily="34" charset="-120"/>
              </a:rPr>
              <a:t>Information beats reward engineering   </a:t>
            </a:r>
            <a:pPr algn="l" indent="0" marL="0">
              <a:lnSpc>
                <a:spcPct val="106000"/>
              </a:lnSpc>
              <a:buNone/>
            </a:pPr>
            <a:r>
              <a:rPr lang="en-US" sz="1250" dirty="0">
                <a:solidFill>
                  <a:srgbClr val="5A6473"/>
                </a:solidFill>
                <a:latin typeface="Adobe Clean" pitchFamily="34" charset="0"/>
                <a:ea typeface="Adobe Clean" pitchFamily="34" charset="-122"/>
                <a:cs typeface="Adobe Clean" pitchFamily="34" charset="-120"/>
              </a:rPr>
              <a:t>One missing field, the failing member, was worth 56 points. Extra reward terms for grammar and mass hurt.</a:t>
            </a:r>
            <a:endParaRPr lang="en-US" sz="1700" dirty="0"/>
          </a:p>
        </p:txBody>
      </p:sp>
      <p:sp>
        <p:nvSpPr>
          <p:cNvPr id="12" name="Shape 10"/>
          <p:cNvSpPr/>
          <p:nvPr/>
        </p:nvSpPr>
        <p:spPr>
          <a:xfrm>
            <a:off x="566928" y="3968496"/>
            <a:ext cx="11064240" cy="1024128"/>
          </a:xfrm>
          <a:prstGeom prst="roundRect">
            <a:avLst>
              <a:gd name="adj" fmla="val 8929"/>
            </a:avLst>
          </a:prstGeom>
          <a:solidFill>
            <a:srgbClr val="F4F5F7"/>
          </a:solidFill>
          <a:ln w="12700">
            <a:solidFill>
              <a:srgbClr val="D9DEE6"/>
            </a:solidFill>
            <a:prstDash val="solid"/>
          </a:ln>
        </p:spPr>
      </p:sp>
      <p:sp>
        <p:nvSpPr>
          <p:cNvPr id="13" name="Shape 11"/>
          <p:cNvSpPr/>
          <p:nvPr/>
        </p:nvSpPr>
        <p:spPr>
          <a:xfrm>
            <a:off x="822960" y="4142232"/>
            <a:ext cx="676656" cy="676656"/>
          </a:xfrm>
          <a:prstGeom prst="ellipse">
            <a:avLst/>
          </a:prstGeom>
          <a:solidFill>
            <a:srgbClr val="0E7C7B"/>
          </a:solidFill>
          <a:ln/>
        </p:spPr>
      </p:sp>
      <p:sp>
        <p:nvSpPr>
          <p:cNvPr id="14" name="Text 12"/>
          <p:cNvSpPr/>
          <p:nvPr/>
        </p:nvSpPr>
        <p:spPr>
          <a:xfrm>
            <a:off x="822960" y="4142232"/>
            <a:ext cx="676656" cy="676656"/>
          </a:xfrm>
          <a:prstGeom prst="rect">
            <a:avLst/>
          </a:prstGeom>
          <a:noFill/>
          <a:ln/>
        </p:spPr>
        <p:txBody>
          <a:bodyPr wrap="square" lIns="0" tIns="0" rIns="0" bIns="0" rtlCol="0" anchor="ctr"/>
          <a:lstStyle/>
          <a:p>
            <a:pPr algn="ctr" indent="0" marL="0">
              <a:buNone/>
            </a:pPr>
            <a:r>
              <a:rPr lang="en-US" sz="1900" dirty="0">
                <a:solidFill>
                  <a:srgbClr val="FFFFFF"/>
                </a:solidFill>
                <a:latin typeface="Adobe Clean ExtraBold" pitchFamily="34" charset="0"/>
                <a:ea typeface="Adobe Clean ExtraBold" pitchFamily="34" charset="-122"/>
                <a:cs typeface="Adobe Clean ExtraBold" pitchFamily="34" charset="-120"/>
              </a:rPr>
              <a:t>03</a:t>
            </a:r>
            <a:endParaRPr lang="en-US" sz="1900" dirty="0"/>
          </a:p>
        </p:txBody>
      </p:sp>
      <p:sp>
        <p:nvSpPr>
          <p:cNvPr id="15" name="Text 13"/>
          <p:cNvSpPr/>
          <p:nvPr/>
        </p:nvSpPr>
        <p:spPr>
          <a:xfrm>
            <a:off x="1755648" y="4041648"/>
            <a:ext cx="9646920" cy="877824"/>
          </a:xfrm>
          <a:prstGeom prst="rect">
            <a:avLst/>
          </a:prstGeom>
          <a:noFill/>
          <a:ln/>
        </p:spPr>
        <p:txBody>
          <a:bodyPr wrap="square" lIns="0" tIns="0" rIns="0" bIns="0" rtlCol="0" anchor="ctr"/>
          <a:lstStyle/>
          <a:p>
            <a:pPr algn="l" indent="0" marL="0">
              <a:lnSpc>
                <a:spcPct val="106000"/>
              </a:lnSpc>
              <a:buNone/>
            </a:pPr>
            <a:r>
              <a:rPr lang="en-US" sz="1700" dirty="0">
                <a:solidFill>
                  <a:srgbClr val="21304A"/>
                </a:solidFill>
                <a:latin typeface="Adobe Clean ExtraBold" pitchFamily="34" charset="0"/>
                <a:ea typeface="Adobe Clean ExtraBold" pitchFamily="34" charset="-122"/>
                <a:cs typeface="Adobe Clean ExtraBold" pitchFamily="34" charset="-120"/>
              </a:rPr>
              <a:t>KL is the honest signal   </a:t>
            </a:r>
            <a:pPr algn="l" indent="0" marL="0">
              <a:lnSpc>
                <a:spcPct val="106000"/>
              </a:lnSpc>
              <a:buNone/>
            </a:pPr>
            <a:r>
              <a:rPr lang="en-US" sz="1250" dirty="0">
                <a:solidFill>
                  <a:srgbClr val="5A6473"/>
                </a:solidFill>
                <a:latin typeface="Adobe Clean" pitchFamily="34" charset="0"/>
                <a:ea typeface="Adobe Clean" pitchFamily="34" charset="-122"/>
                <a:cs typeface="Adobe Clean" pitchFamily="34" charset="-120"/>
              </a:rPr>
              <a:t>When reward is noisy across problem batches, how much the policy moves tells you whether it is actually learning.</a:t>
            </a:r>
            <a:endParaRPr lang="en-US" sz="1700" dirty="0"/>
          </a:p>
        </p:txBody>
      </p:sp>
      <p:sp>
        <p:nvSpPr>
          <p:cNvPr id="16" name="Shape 14"/>
          <p:cNvSpPr/>
          <p:nvPr/>
        </p:nvSpPr>
        <p:spPr>
          <a:xfrm>
            <a:off x="566928" y="5138928"/>
            <a:ext cx="11064240" cy="1024128"/>
          </a:xfrm>
          <a:prstGeom prst="roundRect">
            <a:avLst>
              <a:gd name="adj" fmla="val 8929"/>
            </a:avLst>
          </a:prstGeom>
          <a:solidFill>
            <a:srgbClr val="F4F5F7"/>
          </a:solidFill>
          <a:ln w="12700">
            <a:solidFill>
              <a:srgbClr val="D9DEE6"/>
            </a:solidFill>
            <a:prstDash val="solid"/>
          </a:ln>
        </p:spPr>
      </p:sp>
      <p:sp>
        <p:nvSpPr>
          <p:cNvPr id="17" name="Shape 15"/>
          <p:cNvSpPr/>
          <p:nvPr/>
        </p:nvSpPr>
        <p:spPr>
          <a:xfrm>
            <a:off x="822960" y="5312664"/>
            <a:ext cx="676656" cy="676656"/>
          </a:xfrm>
          <a:prstGeom prst="ellipse">
            <a:avLst/>
          </a:prstGeom>
          <a:solidFill>
            <a:srgbClr val="1E8449"/>
          </a:solidFill>
          <a:ln/>
        </p:spPr>
      </p:sp>
      <p:sp>
        <p:nvSpPr>
          <p:cNvPr id="18" name="Text 16"/>
          <p:cNvSpPr/>
          <p:nvPr/>
        </p:nvSpPr>
        <p:spPr>
          <a:xfrm>
            <a:off x="822960" y="5312664"/>
            <a:ext cx="676656" cy="676656"/>
          </a:xfrm>
          <a:prstGeom prst="rect">
            <a:avLst/>
          </a:prstGeom>
          <a:noFill/>
          <a:ln/>
        </p:spPr>
        <p:txBody>
          <a:bodyPr wrap="square" lIns="0" tIns="0" rIns="0" bIns="0" rtlCol="0" anchor="ctr"/>
          <a:lstStyle/>
          <a:p>
            <a:pPr algn="ctr" indent="0" marL="0">
              <a:buNone/>
            </a:pPr>
            <a:r>
              <a:rPr lang="en-US" sz="1900" dirty="0">
                <a:solidFill>
                  <a:srgbClr val="FFFFFF"/>
                </a:solidFill>
                <a:latin typeface="Adobe Clean ExtraBold" pitchFamily="34" charset="0"/>
                <a:ea typeface="Adobe Clean ExtraBold" pitchFamily="34" charset="-122"/>
                <a:cs typeface="Adobe Clean ExtraBold" pitchFamily="34" charset="-120"/>
              </a:rPr>
              <a:t>04</a:t>
            </a:r>
            <a:endParaRPr lang="en-US" sz="1900" dirty="0"/>
          </a:p>
        </p:txBody>
      </p:sp>
      <p:sp>
        <p:nvSpPr>
          <p:cNvPr id="19" name="Text 17"/>
          <p:cNvSpPr/>
          <p:nvPr/>
        </p:nvSpPr>
        <p:spPr>
          <a:xfrm>
            <a:off x="1755648" y="5212080"/>
            <a:ext cx="9646920" cy="877824"/>
          </a:xfrm>
          <a:prstGeom prst="rect">
            <a:avLst/>
          </a:prstGeom>
          <a:noFill/>
          <a:ln/>
        </p:spPr>
        <p:txBody>
          <a:bodyPr wrap="square" lIns="0" tIns="0" rIns="0" bIns="0" rtlCol="0" anchor="ctr"/>
          <a:lstStyle/>
          <a:p>
            <a:pPr algn="l" indent="0" marL="0">
              <a:lnSpc>
                <a:spcPct val="106000"/>
              </a:lnSpc>
              <a:buNone/>
            </a:pPr>
            <a:r>
              <a:rPr lang="en-US" sz="1700" dirty="0">
                <a:solidFill>
                  <a:srgbClr val="21304A"/>
                </a:solidFill>
                <a:latin typeface="Adobe Clean ExtraBold" pitchFamily="34" charset="0"/>
                <a:ea typeface="Adobe Clean ExtraBold" pitchFamily="34" charset="-122"/>
                <a:cs typeface="Adobe Clean ExtraBold" pitchFamily="34" charset="-120"/>
              </a:rPr>
              <a:t>14B is enough   </a:t>
            </a:r>
            <a:pPr algn="l" indent="0" marL="0">
              <a:lnSpc>
                <a:spcPct val="106000"/>
              </a:lnSpc>
              <a:buNone/>
            </a:pPr>
            <a:r>
              <a:rPr lang="en-US" sz="1250" dirty="0">
                <a:solidFill>
                  <a:srgbClr val="5A6473"/>
                </a:solidFill>
                <a:latin typeface="Adobe Clean" pitchFamily="34" charset="0"/>
                <a:ea typeface="Adobe Clean" pitchFamily="34" charset="-122"/>
                <a:cs typeface="Adobe Clean" pitchFamily="34" charset="-120"/>
              </a:rPr>
              <a:t>With the right loop and the right feedback, a 14B model solves the majority, with no bigger model or fancier method required.</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1304A"/>
        </a:solidFill>
      </p:bgPr>
    </p:bg>
    <p:spTree>
      <p:nvGrpSpPr>
        <p:cNvPr id="1" name=""/>
        <p:cNvGrpSpPr/>
        <p:nvPr/>
      </p:nvGrpSpPr>
      <p:grpSpPr>
        <a:xfrm>
          <a:off x="0" y="0"/>
          <a:ext cx="0" cy="0"/>
          <a:chOff x="0" y="0"/>
          <a:chExt cx="0" cy="0"/>
        </a:xfrm>
      </p:grpSpPr>
      <p:sp>
        <p:nvSpPr>
          <p:cNvPr id="2" name="Text 0"/>
          <p:cNvSpPr/>
          <p:nvPr/>
        </p:nvSpPr>
        <p:spPr>
          <a:xfrm>
            <a:off x="566928" y="1371600"/>
            <a:ext cx="10789920" cy="1463040"/>
          </a:xfrm>
          <a:prstGeom prst="rect">
            <a:avLst/>
          </a:prstGeom>
          <a:noFill/>
          <a:ln/>
        </p:spPr>
        <p:txBody>
          <a:bodyPr wrap="square" lIns="0" tIns="0" rIns="0" bIns="0" rtlCol="0" anchor="t"/>
          <a:lstStyle/>
          <a:p>
            <a:pPr algn="l" indent="0" marL="0">
              <a:lnSpc>
                <a:spcPct val="105000"/>
              </a:lnSpc>
              <a:buNone/>
            </a:pPr>
            <a:r>
              <a:rPr lang="en-US" sz="4000" dirty="0">
                <a:solidFill>
                  <a:srgbClr val="FFFFFF"/>
                </a:solidFill>
                <a:latin typeface="Adobe Clean ExtraBold" pitchFamily="34" charset="0"/>
                <a:ea typeface="Adobe Clean ExtraBold" pitchFamily="34" charset="-122"/>
                <a:cs typeface="Adobe Clean ExtraBold" pitchFamily="34" charset="-120"/>
              </a:rPr>
              <a:t>Information and protocol, </a:t>
            </a:r>
            <a:pPr algn="l" indent="0" marL="0">
              <a:lnSpc>
                <a:spcPct val="105000"/>
              </a:lnSpc>
              <a:buNone/>
            </a:pPr>
            <a:r>
              <a:rPr lang="en-US" sz="4000" dirty="0">
                <a:solidFill>
                  <a:srgbClr val="EB1000"/>
                </a:solidFill>
                <a:latin typeface="Adobe Clean ExtraBold" pitchFamily="34" charset="0"/>
                <a:ea typeface="Adobe Clean ExtraBold" pitchFamily="34" charset="-122"/>
                <a:cs typeface="Adobe Clean ExtraBold" pitchFamily="34" charset="-120"/>
              </a:rPr>
              <a:t>not reasoning or RL</a:t>
            </a:r>
            <a:endParaRPr lang="en-US" sz="4000" dirty="0"/>
          </a:p>
        </p:txBody>
      </p:sp>
      <p:sp>
        <p:nvSpPr>
          <p:cNvPr id="3" name="Text 1"/>
          <p:cNvSpPr/>
          <p:nvPr/>
        </p:nvSpPr>
        <p:spPr>
          <a:xfrm>
            <a:off x="566928" y="2788920"/>
            <a:ext cx="10607040" cy="640080"/>
          </a:xfrm>
          <a:prstGeom prst="rect">
            <a:avLst/>
          </a:prstGeom>
          <a:noFill/>
          <a:ln/>
        </p:spPr>
        <p:txBody>
          <a:bodyPr wrap="square" lIns="0" tIns="0" rIns="0" bIns="0" rtlCol="0" anchor="t"/>
          <a:lstStyle/>
          <a:p>
            <a:pPr algn="l" indent="0" marL="0">
              <a:lnSpc>
                <a:spcPct val="115000"/>
              </a:lnSpc>
              <a:buNone/>
            </a:pPr>
            <a:r>
              <a:rPr lang="en-US" sz="1800" dirty="0">
                <a:solidFill>
                  <a:srgbClr val="DCE3F2"/>
                </a:solidFill>
                <a:latin typeface="Adobe Clean" pitchFamily="34" charset="0"/>
                <a:ea typeface="Adobe Clean" pitchFamily="34" charset="-122"/>
                <a:cs typeface="Adobe Clean" pitchFamily="34" charset="-120"/>
              </a:rPr>
              <a:t>A 14B model, given the right loop and the right feedback, solves most held-out truss problems.</a:t>
            </a:r>
            <a:endParaRPr lang="en-US" sz="1800" dirty="0"/>
          </a:p>
        </p:txBody>
      </p:sp>
      <p:sp>
        <p:nvSpPr>
          <p:cNvPr id="4" name="Shape 2"/>
          <p:cNvSpPr/>
          <p:nvPr/>
        </p:nvSpPr>
        <p:spPr>
          <a:xfrm>
            <a:off x="566928" y="3657600"/>
            <a:ext cx="5349240" cy="1554480"/>
          </a:xfrm>
          <a:prstGeom prst="roundRect">
            <a:avLst>
              <a:gd name="adj" fmla="val 7059"/>
            </a:avLst>
          </a:prstGeom>
          <a:solidFill>
            <a:srgbClr val="2C3C58"/>
          </a:solidFill>
          <a:ln/>
        </p:spPr>
      </p:sp>
      <p:sp>
        <p:nvSpPr>
          <p:cNvPr id="5" name="Text 3"/>
          <p:cNvSpPr/>
          <p:nvPr/>
        </p:nvSpPr>
        <p:spPr>
          <a:xfrm>
            <a:off x="841248" y="3840480"/>
            <a:ext cx="4754880" cy="310896"/>
          </a:xfrm>
          <a:prstGeom prst="rect">
            <a:avLst/>
          </a:prstGeom>
          <a:noFill/>
          <a:ln/>
        </p:spPr>
        <p:txBody>
          <a:bodyPr wrap="square" lIns="0" tIns="0" rIns="0" bIns="0" rtlCol="0" anchor="t"/>
          <a:lstStyle/>
          <a:p>
            <a:pPr algn="l" indent="0" marL="0">
              <a:buNone/>
            </a:pPr>
            <a:r>
              <a:rPr lang="en-US" sz="1300" spc="100" kern="0" dirty="0">
                <a:solidFill>
                  <a:srgbClr val="CADCFC"/>
                </a:solidFill>
                <a:latin typeface="Adobe Clean ExtraBold" pitchFamily="34" charset="0"/>
                <a:ea typeface="Adobe Clean ExtraBold" pitchFamily="34" charset="-122"/>
                <a:cs typeface="Adobe Clean ExtraBold" pitchFamily="34" charset="-120"/>
              </a:rPr>
              <a:t>In flight</a:t>
            </a:r>
            <a:endParaRPr lang="en-US" sz="1300" dirty="0"/>
          </a:p>
        </p:txBody>
      </p:sp>
      <p:sp>
        <p:nvSpPr>
          <p:cNvPr id="6" name="Text 4"/>
          <p:cNvSpPr/>
          <p:nvPr/>
        </p:nvSpPr>
        <p:spPr>
          <a:xfrm>
            <a:off x="841248" y="4206240"/>
            <a:ext cx="4800600" cy="868680"/>
          </a:xfrm>
          <a:prstGeom prst="rect">
            <a:avLst/>
          </a:prstGeom>
          <a:noFill/>
          <a:ln/>
        </p:spPr>
        <p:txBody>
          <a:bodyPr wrap="square" lIns="0" tIns="0" rIns="0" bIns="0" rtlCol="0" anchor="t"/>
          <a:lstStyle/>
          <a:p>
            <a:pPr algn="l" indent="0" marL="0">
              <a:lnSpc>
                <a:spcPct val="114000"/>
              </a:lnSpc>
              <a:buNone/>
            </a:pPr>
            <a:r>
              <a:rPr lang="en-US" sz="1300" dirty="0">
                <a:solidFill>
                  <a:srgbClr val="DCE3F2"/>
                </a:solidFill>
                <a:latin typeface="Adobe Clean" pitchFamily="34" charset="0"/>
                <a:ea typeface="Adobe Clean" pitchFamily="34" charset="-122"/>
                <a:cs typeface="Adobe Clean" pitchFamily="34" charset="-120"/>
              </a:rPr>
              <a:t>A 50-problem robust eval of the champion, since the 25-problem numbers carry about ±8%. Then closing the gap to 90% and beyond with the roadmap.</a:t>
            </a:r>
            <a:endParaRPr lang="en-US" sz="1300" dirty="0"/>
          </a:p>
        </p:txBody>
      </p:sp>
      <p:sp>
        <p:nvSpPr>
          <p:cNvPr id="7" name="Shape 5"/>
          <p:cNvSpPr/>
          <p:nvPr/>
        </p:nvSpPr>
        <p:spPr>
          <a:xfrm>
            <a:off x="6144768" y="3657600"/>
            <a:ext cx="5486400" cy="1554480"/>
          </a:xfrm>
          <a:prstGeom prst="roundRect">
            <a:avLst>
              <a:gd name="adj" fmla="val 7059"/>
            </a:avLst>
          </a:prstGeom>
          <a:solidFill>
            <a:srgbClr val="2C3C58"/>
          </a:solidFill>
          <a:ln/>
        </p:spPr>
      </p:sp>
      <p:sp>
        <p:nvSpPr>
          <p:cNvPr id="8" name="Text 6"/>
          <p:cNvSpPr/>
          <p:nvPr/>
        </p:nvSpPr>
        <p:spPr>
          <a:xfrm>
            <a:off x="6419088" y="3840480"/>
            <a:ext cx="4937760" cy="310896"/>
          </a:xfrm>
          <a:prstGeom prst="rect">
            <a:avLst/>
          </a:prstGeom>
          <a:noFill/>
          <a:ln/>
        </p:spPr>
        <p:txBody>
          <a:bodyPr wrap="square" lIns="0" tIns="0" rIns="0" bIns="0" rtlCol="0" anchor="t"/>
          <a:lstStyle/>
          <a:p>
            <a:pPr algn="l" indent="0" marL="0">
              <a:buNone/>
            </a:pPr>
            <a:r>
              <a:rPr lang="en-US" sz="1300" spc="100" kern="0" dirty="0">
                <a:solidFill>
                  <a:srgbClr val="CADCFC"/>
                </a:solidFill>
                <a:latin typeface="Adobe Clean ExtraBold" pitchFamily="34" charset="0"/>
                <a:ea typeface="Adobe Clean ExtraBold" pitchFamily="34" charset="-122"/>
                <a:cs typeface="Adobe Clean ExtraBold" pitchFamily="34" charset="-120"/>
              </a:rPr>
              <a:t>Reproduce</a:t>
            </a:r>
            <a:endParaRPr lang="en-US" sz="1300" dirty="0"/>
          </a:p>
        </p:txBody>
      </p:sp>
      <p:sp>
        <p:nvSpPr>
          <p:cNvPr id="9" name="Text 7"/>
          <p:cNvSpPr/>
          <p:nvPr/>
        </p:nvSpPr>
        <p:spPr>
          <a:xfrm>
            <a:off x="6419088" y="4206240"/>
            <a:ext cx="4937760" cy="868680"/>
          </a:xfrm>
          <a:prstGeom prst="rect">
            <a:avLst/>
          </a:prstGeom>
          <a:noFill/>
          <a:ln/>
        </p:spPr>
        <p:txBody>
          <a:bodyPr wrap="square" lIns="0" tIns="0" rIns="0" bIns="0" rtlCol="0" anchor="t"/>
          <a:lstStyle/>
          <a:p>
            <a:pPr algn="l" indent="0" marL="0">
              <a:lnSpc>
                <a:spcPct val="120000"/>
              </a:lnSpc>
              <a:buNone/>
            </a:pPr>
            <a:r>
              <a:rPr lang="en-US" sz="1250" dirty="0">
                <a:solidFill>
                  <a:srgbClr val="7FE0A8"/>
                </a:solidFill>
                <a:latin typeface="Courier New" pitchFamily="34" charset="0"/>
                <a:ea typeface="Courier New" pitchFamily="34" charset="-122"/>
                <a:cs typeface="Courier New" pitchFamily="34" charset="-120"/>
              </a:rPr>
              <a:t>python scripts/make_report_figs.py
</a:t>
            </a:r>
            <a:pPr algn="l" indent="0" marL="0">
              <a:lnSpc>
                <a:spcPct val="120000"/>
              </a:lnSpc>
              <a:buNone/>
            </a:pPr>
            <a:r>
              <a:rPr lang="en-US" sz="1200" dirty="0">
                <a:solidFill>
                  <a:srgbClr val="AEB9CC"/>
                </a:solidFill>
                <a:latin typeface="Courier New" pitchFamily="34" charset="0"/>
                <a:ea typeface="Courier New" pitchFamily="34" charset="-122"/>
                <a:cs typeface="Courier New" pitchFamily="34" charset="-120"/>
              </a:rPr>
              <a:t>→ results/report/*.png
</a:t>
            </a:r>
            <a:pPr algn="l" indent="0" marL="0">
              <a:lnSpc>
                <a:spcPct val="120000"/>
              </a:lnSpc>
              <a:buNone/>
            </a:pPr>
            <a:r>
              <a:rPr lang="en-US" sz="1150" dirty="0">
                <a:solidFill>
                  <a:srgbClr val="DCE3F2"/>
                </a:solidFill>
                <a:latin typeface="Courier New" pitchFamily="34" charset="0"/>
                <a:ea typeface="Courier New" pitchFamily="34" charset="-122"/>
                <a:cs typeface="Courier New" pitchFamily="34" charset="-120"/>
              </a:rPr>
              <a:t>audit trail in docs/ablation_ledger.md</a:t>
            </a:r>
            <a:endParaRPr lang="en-US" sz="1250" dirty="0"/>
          </a:p>
        </p:txBody>
      </p:sp>
      <p:sp>
        <p:nvSpPr>
          <p:cNvPr id="10" name="Text 8"/>
          <p:cNvSpPr/>
          <p:nvPr/>
        </p:nvSpPr>
        <p:spPr>
          <a:xfrm>
            <a:off x="566928" y="5852160"/>
            <a:ext cx="10789920" cy="365760"/>
          </a:xfrm>
          <a:prstGeom prst="rect">
            <a:avLst/>
          </a:prstGeom>
          <a:noFill/>
          <a:ln/>
        </p:spPr>
        <p:txBody>
          <a:bodyPr wrap="square" lIns="0" tIns="0" rIns="0" bIns="0" rtlCol="0" anchor="ctr"/>
          <a:lstStyle/>
          <a:p>
            <a:pPr algn="l" indent="0" marL="0">
              <a:buNone/>
            </a:pPr>
            <a:r>
              <a:rPr lang="en-US" sz="1300" dirty="0">
                <a:solidFill>
                  <a:srgbClr val="FFFFFF"/>
                </a:solidFill>
                <a:latin typeface="Adobe Clean ExtraBold" pitchFamily="34" charset="0"/>
                <a:ea typeface="Adobe Clean ExtraBold" pitchFamily="34" charset="-122"/>
                <a:cs typeface="Adobe Clean ExtraBold" pitchFamily="34" charset="-120"/>
              </a:rPr>
              <a:t>github.com/WenzhuoXu/designbench_llm_finetune</a:t>
            </a:r>
            <a:endParaRPr lang="en-US" sz="1300" dirty="0"/>
          </a:p>
        </p:txBody>
      </p:sp>
      <p:sp>
        <p:nvSpPr>
          <p:cNvPr id="11" name="Text 9"/>
          <p:cNvSpPr/>
          <p:nvPr/>
        </p:nvSpPr>
        <p:spPr>
          <a:xfrm>
            <a:off x="566928" y="6263640"/>
            <a:ext cx="10789920" cy="320040"/>
          </a:xfrm>
          <a:prstGeom prst="rect">
            <a:avLst/>
          </a:prstGeom>
          <a:noFill/>
          <a:ln/>
        </p:spPr>
        <p:txBody>
          <a:bodyPr wrap="square" lIns="0" tIns="0" rIns="0" bIns="0" rtlCol="0" anchor="ctr"/>
          <a:lstStyle/>
          <a:p>
            <a:pPr algn="l" indent="0" marL="0">
              <a:buNone/>
            </a:pPr>
            <a:r>
              <a:rPr lang="en-US" sz="1200" dirty="0">
                <a:solidFill>
                  <a:srgbClr val="6E7C97"/>
                </a:solidFill>
                <a:latin typeface="Adobe Clean" pitchFamily="34" charset="0"/>
                <a:ea typeface="Adobe Clean" pitchFamily="34" charset="-122"/>
                <a:cs typeface="Adobe Clean" pitchFamily="34" charset="-120"/>
              </a:rPr>
              <a:t>Thank you · questions welcome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DesignBench SFT + GRPO, Status Report</dc:title>
  <dc:subject>PptxGenJS Presentation</dc:subject>
  <dc:creator>Wenzhuo Xu</dc:creator>
  <cp:lastModifiedBy>Wenzhuo Xu</cp:lastModifiedBy>
  <cp:revision>1</cp:revision>
  <dcterms:created xsi:type="dcterms:W3CDTF">2026-06-30T15:56:09Z</dcterms:created>
  <dcterms:modified xsi:type="dcterms:W3CDTF">2026-06-30T15:56:09Z</dcterms:modified>
</cp:coreProperties>
</file>